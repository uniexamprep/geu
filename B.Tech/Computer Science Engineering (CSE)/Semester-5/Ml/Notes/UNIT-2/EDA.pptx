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53"/>
  </p:notesMasterIdLst>
  <p:handoutMasterIdLst>
    <p:handoutMasterId r:id="rId54"/>
  </p:handoutMasterIdLst>
  <p:sldIdLst>
    <p:sldId id="312" r:id="rId5"/>
    <p:sldId id="304" r:id="rId6"/>
    <p:sldId id="282" r:id="rId7"/>
    <p:sldId id="314" r:id="rId8"/>
    <p:sldId id="323" r:id="rId9"/>
    <p:sldId id="315" r:id="rId10"/>
    <p:sldId id="324" r:id="rId11"/>
    <p:sldId id="325" r:id="rId12"/>
    <p:sldId id="326" r:id="rId13"/>
    <p:sldId id="327" r:id="rId14"/>
    <p:sldId id="317" r:id="rId15"/>
    <p:sldId id="342" r:id="rId16"/>
    <p:sldId id="343" r:id="rId17"/>
    <p:sldId id="344" r:id="rId18"/>
    <p:sldId id="318" r:id="rId19"/>
    <p:sldId id="328" r:id="rId20"/>
    <p:sldId id="329" r:id="rId21"/>
    <p:sldId id="330" r:id="rId22"/>
    <p:sldId id="332" r:id="rId23"/>
    <p:sldId id="333" r:id="rId24"/>
    <p:sldId id="337" r:id="rId25"/>
    <p:sldId id="338" r:id="rId26"/>
    <p:sldId id="335" r:id="rId27"/>
    <p:sldId id="334" r:id="rId28"/>
    <p:sldId id="345" r:id="rId29"/>
    <p:sldId id="347" r:id="rId30"/>
    <p:sldId id="348" r:id="rId31"/>
    <p:sldId id="356" r:id="rId32"/>
    <p:sldId id="349" r:id="rId33"/>
    <p:sldId id="336" r:id="rId34"/>
    <p:sldId id="350" r:id="rId35"/>
    <p:sldId id="351" r:id="rId36"/>
    <p:sldId id="321" r:id="rId37"/>
    <p:sldId id="355" r:id="rId38"/>
    <p:sldId id="352" r:id="rId39"/>
    <p:sldId id="353" r:id="rId40"/>
    <p:sldId id="354" r:id="rId41"/>
    <p:sldId id="357" r:id="rId42"/>
    <p:sldId id="358" r:id="rId43"/>
    <p:sldId id="359" r:id="rId44"/>
    <p:sldId id="360" r:id="rId45"/>
    <p:sldId id="363" r:id="rId46"/>
    <p:sldId id="364" r:id="rId47"/>
    <p:sldId id="365" r:id="rId48"/>
    <p:sldId id="362" r:id="rId49"/>
    <p:sldId id="361" r:id="rId50"/>
    <p:sldId id="339" r:id="rId51"/>
    <p:sldId id="341" r:id="rId5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it Gupta" initials="AG" lastIdx="1" clrIdx="0">
    <p:extLst>
      <p:ext uri="{19B8F6BF-5375-455C-9EA6-DF929625EA0E}">
        <p15:presenceInfo xmlns:p15="http://schemas.microsoft.com/office/powerpoint/2012/main" userId="62b52ff4f75348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C4E9"/>
    <a:srgbClr val="202C8F"/>
    <a:srgbClr val="FDFBF6"/>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63" d="100"/>
          <a:sy n="63" d="100"/>
        </p:scale>
        <p:origin x="804"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8/10/relationships/authors" Targe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9-04T16:59:46.544"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IN" dirty="0"/>
          </a:p>
        </p:txBody>
      </p:sp>
    </p:spTree>
    <p:extLst>
      <p:ext uri="{BB962C8B-B14F-4D97-AF65-F5344CB8AC3E}">
        <p14:creationId xmlns:p14="http://schemas.microsoft.com/office/powerpoint/2010/main" val="921553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EDA</a:t>
            </a:r>
            <a:br>
              <a:rPr lang="en-US" dirty="0"/>
            </a:br>
            <a:r>
              <a:rPr lang="en-US" dirty="0"/>
              <a:t>(</a:t>
            </a:r>
            <a:r>
              <a:rPr lang="en-IN" b="1" dirty="0">
                <a:effectLst/>
                <a:latin typeface="Calibri" panose="020F0502020204030204" pitchFamily="34" charset="0"/>
                <a:ea typeface="Calibri" panose="020F0502020204030204" pitchFamily="34" charset="0"/>
                <a:cs typeface="Times New Roman" panose="02020603050405020304" pitchFamily="18" charset="0"/>
              </a:rPr>
              <a:t>Exploratory Data Analysis </a:t>
            </a:r>
            <a:r>
              <a:rPr lang="en-US" dirty="0"/>
              <a:t>)</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Outlines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lnSpcReduction="10000"/>
          </a:bodyPr>
          <a:lstStyle/>
          <a:p>
            <a:r>
              <a:rPr lang="en-IN" dirty="0"/>
              <a:t>Introduction to Exploratory Data Analysis (EDA) </a:t>
            </a:r>
          </a:p>
          <a:p>
            <a:r>
              <a:rPr lang="en-IN" dirty="0"/>
              <a:t>Steps in EDA</a:t>
            </a:r>
          </a:p>
          <a:p>
            <a:r>
              <a:rPr lang="en-IN" dirty="0"/>
              <a:t>Data Types</a:t>
            </a:r>
          </a:p>
          <a:p>
            <a:r>
              <a:rPr lang="en-IN" dirty="0"/>
              <a:t>Data Transformation</a:t>
            </a:r>
          </a:p>
          <a:p>
            <a:r>
              <a:rPr lang="en-US" dirty="0"/>
              <a:t>Introduction to Missing data, handling missing data </a:t>
            </a:r>
            <a:r>
              <a:rPr lang="en-US" dirty="0" err="1"/>
              <a:t>Data</a:t>
            </a:r>
            <a:r>
              <a:rPr lang="en-US" dirty="0"/>
              <a:t> Visualization using Matplotlib, Seaborn</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534599"/>
            <a:ext cx="7965461" cy="994164"/>
          </a:xfrm>
        </p:spPr>
        <p:txBody>
          <a:bodyPr/>
          <a:lstStyle/>
          <a:p>
            <a:r>
              <a:rPr lang="en-US" dirty="0"/>
              <a:t>Introduction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206565" y="1606163"/>
            <a:ext cx="7965460" cy="4554971"/>
          </a:xfrm>
        </p:spPr>
        <p:txBody>
          <a:bodyPr>
            <a:normAutofit lnSpcReduction="10000"/>
          </a:bodyPr>
          <a:lstStyle/>
          <a:p>
            <a:pPr>
              <a:lnSpc>
                <a:spcPct val="107000"/>
              </a:lnSpc>
              <a:spcAft>
                <a:spcPts val="800"/>
              </a:spcAft>
            </a:pPr>
            <a:r>
              <a:rPr lang="en-IN" sz="2000" b="1" kern="100" dirty="0">
                <a:effectLst/>
                <a:latin typeface="Calibri" panose="020F0502020204030204" pitchFamily="34" charset="0"/>
                <a:ea typeface="Calibri" panose="020F0502020204030204" pitchFamily="34" charset="0"/>
                <a:cs typeface="Times New Roman" panose="02020603050405020304" pitchFamily="18" charset="0"/>
              </a:rPr>
              <a:t>EDA </a:t>
            </a: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is a crucial step in the data analysis process. </a:t>
            </a:r>
          </a:p>
          <a:p>
            <a:pPr>
              <a:lnSpc>
                <a:spcPct val="107000"/>
              </a:lnSpc>
              <a:spcAft>
                <a:spcPts val="800"/>
              </a:spcAf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It involves investigating datasets to summarize their main characteristics, often using visual methods.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It uses graphs and stats to find patterns and weird things in the data without guessing or proving anything.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EDA helps in understanding the data structure, detecting anomalies, discovering patterns, and checking assumptions, all of which inform further analysis.</a:t>
            </a:r>
          </a:p>
          <a:p>
            <a:pP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By checking each piece of data and how they relate, EDA helps us understand what’s in the data. As well as decide what to do next.</a:t>
            </a:r>
          </a:p>
          <a:p>
            <a:pPr>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It’s like a guide that helps us make sense of all the information we have, so we can make smart decisions.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8" y="501374"/>
            <a:ext cx="7043617" cy="629286"/>
          </a:xfrm>
        </p:spPr>
        <p:txBody>
          <a:bodyPr/>
          <a:lstStyle/>
          <a:p>
            <a:r>
              <a:rPr lang="en-US" dirty="0"/>
              <a:t>Steps in </a:t>
            </a:r>
            <a:r>
              <a:rPr lang="en-US" dirty="0" err="1"/>
              <a:t>eda</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1815148"/>
            <a:ext cx="7461432" cy="4226835"/>
          </a:xfrm>
        </p:spPr>
        <p:txBody>
          <a:bodyPr>
            <a:normAutofit lnSpcReduction="10000"/>
          </a:bodyPr>
          <a:lstStyle/>
          <a:p>
            <a:r>
              <a:rPr lang="en-US" sz="3200" dirty="0"/>
              <a:t>1- </a:t>
            </a:r>
            <a:r>
              <a:rPr lang="en-IN" b="1" dirty="0">
                <a:effectLst/>
                <a:latin typeface="Calibri" panose="020F0502020204030204" pitchFamily="34" charset="0"/>
                <a:ea typeface="Calibri" panose="020F0502020204030204" pitchFamily="34" charset="0"/>
                <a:cs typeface="Times New Roman" panose="02020603050405020304" pitchFamily="18" charset="0"/>
              </a:rPr>
              <a:t>Understand the Data Structure</a:t>
            </a:r>
          </a:p>
          <a:p>
            <a:r>
              <a:rPr lang="en-IN" b="1" dirty="0">
                <a:effectLst/>
                <a:latin typeface="Calibri" panose="020F0502020204030204" pitchFamily="34" charset="0"/>
                <a:ea typeface="Calibri" panose="020F0502020204030204" pitchFamily="34" charset="0"/>
                <a:cs typeface="Times New Roman" panose="02020603050405020304" pitchFamily="18" charset="0"/>
              </a:rPr>
              <a:t> 	- Data Collection</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Data Description</a:t>
            </a:r>
          </a:p>
          <a:p>
            <a:r>
              <a:rPr lang="en-IN" b="1" dirty="0">
                <a:latin typeface="Calibri" panose="020F0502020204030204" pitchFamily="34" charset="0"/>
                <a:cs typeface="Times New Roman" panose="02020603050405020304" pitchFamily="18" charset="0"/>
              </a:rPr>
              <a:t>2-</a:t>
            </a:r>
            <a:r>
              <a:rPr lang="en-IN" b="1" dirty="0">
                <a:effectLst/>
                <a:latin typeface="Calibri" panose="020F0502020204030204" pitchFamily="34" charset="0"/>
                <a:ea typeface="Calibri" panose="020F0502020204030204" pitchFamily="34" charset="0"/>
                <a:cs typeface="Times New Roman" panose="02020603050405020304" pitchFamily="18" charset="0"/>
              </a:rPr>
              <a:t>Data Cleaning</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Handling Missing Values</a:t>
            </a:r>
            <a:endParaRPr lang="en-IN" b="1" dirty="0">
              <a:latin typeface="Calibri" panose="020F0502020204030204" pitchFamily="34" charset="0"/>
              <a:ea typeface="Calibri" panose="020F0502020204030204" pitchFamily="34" charset="0"/>
              <a:cs typeface="Times New Roman" panose="02020603050405020304" pitchFamily="18" charset="0"/>
            </a:endParaRP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Removing Duplicates</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Data Correction</a:t>
            </a:r>
            <a:endParaRPr lang="en-IN" b="1" dirty="0">
              <a:latin typeface="Calibri" panose="020F0502020204030204" pitchFamily="34" charset="0"/>
              <a:ea typeface="Calibri" panose="020F0502020204030204" pitchFamily="34" charset="0"/>
              <a:cs typeface="Times New Roman" panose="02020603050405020304" pitchFamily="18" charset="0"/>
            </a:endParaRP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Outlier Detection</a:t>
            </a:r>
            <a:endParaRPr lang="en-IN" b="1" dirty="0">
              <a:latin typeface="Calibri" panose="020F0502020204030204" pitchFamily="34" charset="0"/>
              <a:ea typeface="Calibri" panose="020F0502020204030204" pitchFamily="34" charset="0"/>
              <a:cs typeface="Times New Roman" panose="02020603050405020304" pitchFamily="18" charset="0"/>
            </a:endParaRPr>
          </a:p>
          <a:p>
            <a:r>
              <a:rPr lang="en-IN" b="1" dirty="0">
                <a:latin typeface="Calibri" panose="020F0502020204030204" pitchFamily="34" charset="0"/>
                <a:cs typeface="Times New Roman" panose="02020603050405020304" pitchFamily="18" charset="0"/>
              </a:rPr>
              <a:t>3-</a:t>
            </a:r>
            <a:r>
              <a:rPr lang="en-IN" b="1" dirty="0">
                <a:effectLst/>
                <a:latin typeface="Calibri" panose="020F0502020204030204" pitchFamily="34" charset="0"/>
                <a:ea typeface="Calibri" panose="020F0502020204030204" pitchFamily="34" charset="0"/>
                <a:cs typeface="Times New Roman" panose="02020603050405020304" pitchFamily="18" charset="0"/>
              </a:rPr>
              <a:t>Data Transformation</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b="1" dirty="0">
                <a:effectLst/>
                <a:latin typeface="Calibri" panose="020F0502020204030204" pitchFamily="34" charset="0"/>
                <a:ea typeface="Calibri" panose="020F0502020204030204" pitchFamily="34" charset="0"/>
                <a:cs typeface="Times New Roman" panose="02020603050405020304" pitchFamily="18" charset="0"/>
              </a:rPr>
              <a:t>Feature Engineering</a:t>
            </a:r>
            <a:endParaRPr lang="en-IN" b="1" dirty="0">
              <a:latin typeface="Calibri" panose="020F0502020204030204" pitchFamily="34" charset="0"/>
              <a:ea typeface="Calibri" panose="020F0502020204030204" pitchFamily="34" charset="0"/>
              <a:cs typeface="Times New Roman" panose="02020603050405020304" pitchFamily="18" charset="0"/>
            </a:endParaRPr>
          </a:p>
          <a:p>
            <a:r>
              <a:rPr lang="en-IN" b="1" dirty="0">
                <a:effectLst/>
                <a:latin typeface="Calibri" panose="020F0502020204030204" pitchFamily="34" charset="0"/>
                <a:ea typeface="Calibri" panose="020F0502020204030204" pitchFamily="34" charset="0"/>
                <a:cs typeface="Times New Roman" panose="02020603050405020304" pitchFamily="18" charset="0"/>
              </a:rPr>
              <a:t>	-Normalization/Standardization</a:t>
            </a:r>
          </a:p>
          <a:p>
            <a:r>
              <a:rPr lang="en-IN" b="1" dirty="0">
                <a:effectLst/>
                <a:latin typeface="Calibri" panose="020F0502020204030204" pitchFamily="34" charset="0"/>
                <a:ea typeface="Calibri" panose="020F0502020204030204" pitchFamily="34" charset="0"/>
                <a:cs typeface="Times New Roman" panose="02020603050405020304" pitchFamily="18" charset="0"/>
              </a:rPr>
              <a:t>	-Encoding Categorical Variables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3171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B85EAF-137B-03DB-9B68-452C6694598F}"/>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
        <p:nvSpPr>
          <p:cNvPr id="4" name="Content Placeholder 3">
            <a:extLst>
              <a:ext uri="{FF2B5EF4-FFF2-40B4-BE49-F238E27FC236}">
                <a16:creationId xmlns:a16="http://schemas.microsoft.com/office/drawing/2014/main" id="{5CE81760-5D73-B459-7E80-A399225920B3}"/>
              </a:ext>
            </a:extLst>
          </p:cNvPr>
          <p:cNvSpPr>
            <a:spLocks noGrp="1"/>
          </p:cNvSpPr>
          <p:nvPr>
            <p:ph idx="11"/>
          </p:nvPr>
        </p:nvSpPr>
        <p:spPr>
          <a:xfrm>
            <a:off x="3643448" y="711200"/>
            <a:ext cx="7695112" cy="6146800"/>
          </a:xfrm>
        </p:spPr>
        <p:txBody>
          <a:bodyPr>
            <a:normAutofit/>
          </a:bodyPr>
          <a:lstStyle/>
          <a:p>
            <a:r>
              <a:rPr lang="en-IN" sz="2400" b="1" dirty="0">
                <a:latin typeface="Calibri" panose="020F0502020204030204" pitchFamily="34" charset="0"/>
                <a:cs typeface="Times New Roman" panose="02020603050405020304" pitchFamily="18" charset="0"/>
              </a:rPr>
              <a:t>4-</a:t>
            </a:r>
            <a:r>
              <a:rPr lang="en-IN" sz="2400" b="1" dirty="0">
                <a:effectLst/>
                <a:latin typeface="Calibri" panose="020F0502020204030204" pitchFamily="34" charset="0"/>
                <a:ea typeface="Calibri" panose="020F0502020204030204" pitchFamily="34" charset="0"/>
                <a:cs typeface="Times New Roman" panose="02020603050405020304" pitchFamily="18" charset="0"/>
              </a:rPr>
              <a:t>Data Visualization</a:t>
            </a:r>
          </a:p>
          <a:p>
            <a:r>
              <a:rPr lang="en-IN" sz="2400" b="1" dirty="0">
                <a:latin typeface="Calibri" panose="020F0502020204030204" pitchFamily="34" charset="0"/>
                <a:ea typeface="Calibri" panose="020F0502020204030204" pitchFamily="34" charset="0"/>
                <a:cs typeface="Times New Roman" panose="02020603050405020304" pitchFamily="18" charset="0"/>
              </a:rPr>
              <a:t>	-</a:t>
            </a:r>
            <a:r>
              <a:rPr lang="en-IN" sz="2400" b="1" dirty="0">
                <a:effectLst/>
                <a:latin typeface="Calibri" panose="020F0502020204030204" pitchFamily="34" charset="0"/>
                <a:ea typeface="Calibri" panose="020F0502020204030204" pitchFamily="34" charset="0"/>
                <a:cs typeface="Times New Roman" panose="02020603050405020304" pitchFamily="18" charset="0"/>
              </a:rPr>
              <a:t>Univariate Analysis</a:t>
            </a:r>
            <a:r>
              <a:rPr lang="en-IN" sz="2400" b="1" dirty="0">
                <a:latin typeface="Calibri" panose="020F0502020204030204" pitchFamily="34" charset="0"/>
                <a:ea typeface="Calibri" panose="020F0502020204030204" pitchFamily="34" charset="0"/>
                <a:cs typeface="Times New Roman" panose="02020603050405020304" pitchFamily="18" charset="0"/>
              </a:rPr>
              <a:t>-</a:t>
            </a:r>
            <a:r>
              <a:rPr lang="en-IN" sz="2400" dirty="0">
                <a:effectLst/>
                <a:latin typeface="Calibri" panose="020F0502020204030204" pitchFamily="34" charset="0"/>
                <a:ea typeface="Calibri" panose="020F0502020204030204" pitchFamily="34" charset="0"/>
                <a:cs typeface="Times New Roman" panose="02020603050405020304" pitchFamily="18" charset="0"/>
              </a:rPr>
              <a:t>histograms, box plots, and 	density plots </a:t>
            </a:r>
            <a:endParaRPr lang="en-IN" sz="2400" b="1" dirty="0">
              <a:latin typeface="Calibri" panose="020F0502020204030204" pitchFamily="34" charset="0"/>
              <a:ea typeface="Calibri" panose="020F0502020204030204" pitchFamily="34" charset="0"/>
              <a:cs typeface="Times New Roman" panose="02020603050405020304" pitchFamily="18" charset="0"/>
            </a:endParaRPr>
          </a:p>
          <a:p>
            <a:r>
              <a:rPr lang="en-IN" sz="2400" b="1" dirty="0">
                <a:effectLst/>
                <a:latin typeface="Calibri" panose="020F0502020204030204" pitchFamily="34" charset="0"/>
                <a:ea typeface="Calibri" panose="020F0502020204030204" pitchFamily="34" charset="0"/>
                <a:cs typeface="Times New Roman" panose="02020603050405020304" pitchFamily="18" charset="0"/>
              </a:rPr>
              <a:t>	-Bivariate Analysis-</a:t>
            </a:r>
            <a:r>
              <a:rPr lang="en-IN" sz="2400" dirty="0">
                <a:effectLst/>
                <a:latin typeface="Calibri" panose="020F0502020204030204" pitchFamily="34" charset="0"/>
                <a:ea typeface="Calibri" panose="020F0502020204030204" pitchFamily="34" charset="0"/>
                <a:cs typeface="Times New Roman" panose="02020603050405020304" pitchFamily="18" charset="0"/>
              </a:rPr>
              <a:t>scatter plots, correlation 	matrices, and line charts</a:t>
            </a:r>
          </a:p>
          <a:p>
            <a:r>
              <a:rPr lang="en-IN" sz="2400" b="1" dirty="0">
                <a:latin typeface="Calibri" panose="020F0502020204030204" pitchFamily="34" charset="0"/>
                <a:ea typeface="Calibri" panose="020F0502020204030204" pitchFamily="34" charset="0"/>
                <a:cs typeface="Times New Roman" panose="02020603050405020304" pitchFamily="18" charset="0"/>
              </a:rPr>
              <a:t>	-</a:t>
            </a:r>
            <a:r>
              <a:rPr lang="en-IN" sz="2400" b="1" dirty="0">
                <a:effectLst/>
                <a:latin typeface="Calibri" panose="020F0502020204030204" pitchFamily="34" charset="0"/>
                <a:ea typeface="Calibri" panose="020F0502020204030204" pitchFamily="34" charset="0"/>
                <a:cs typeface="Times New Roman" panose="02020603050405020304" pitchFamily="18" charset="0"/>
              </a:rPr>
              <a:t>Multivariate -</a:t>
            </a:r>
            <a:r>
              <a:rPr lang="en-IN" sz="2400" dirty="0">
                <a:latin typeface="Calibri" panose="020F0502020204030204" pitchFamily="34" charset="0"/>
                <a:cs typeface="Times New Roman" panose="02020603050405020304" pitchFamily="18" charset="0"/>
              </a:rPr>
              <a:t>Analysis-pair plots and heat 	maps</a:t>
            </a:r>
          </a:p>
          <a:p>
            <a:r>
              <a:rPr lang="en-IN" sz="2400" b="1" dirty="0">
                <a:latin typeface="Calibri" panose="020F0502020204030204" pitchFamily="34" charset="0"/>
                <a:cs typeface="Times New Roman" panose="02020603050405020304" pitchFamily="18" charset="0"/>
              </a:rPr>
              <a:t>5-</a:t>
            </a:r>
            <a:r>
              <a:rPr lang="en-IN" sz="2400" b="1" dirty="0">
                <a:effectLst/>
                <a:latin typeface="Calibri" panose="020F0502020204030204" pitchFamily="34" charset="0"/>
                <a:ea typeface="Calibri" panose="020F0502020204030204" pitchFamily="34" charset="0"/>
                <a:cs typeface="Times New Roman" panose="02020603050405020304" pitchFamily="18" charset="0"/>
              </a:rPr>
              <a:t>Data Summarization-</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r>
              <a:rPr lang="en-IN" b="1" dirty="0">
                <a:latin typeface="Calibri" panose="020F0502020204030204" pitchFamily="34" charset="0"/>
                <a:cs typeface="Times New Roman" panose="02020603050405020304" pitchFamily="18" charset="0"/>
              </a:rPr>
              <a:t>Descriptive Statistics- </a:t>
            </a:r>
            <a:r>
              <a:rPr lang="en-IN" dirty="0">
                <a:latin typeface="Calibri" panose="020F0502020204030204" pitchFamily="34" charset="0"/>
                <a:cs typeface="Times New Roman" panose="02020603050405020304" pitchFamily="18" charset="0"/>
              </a:rPr>
              <a:t>mean, mode, median</a:t>
            </a:r>
          </a:p>
          <a:p>
            <a:r>
              <a:rPr lang="en-IN" dirty="0">
                <a:latin typeface="Calibri" panose="020F0502020204030204" pitchFamily="34" charset="0"/>
                <a:cs typeface="Times New Roman" panose="02020603050405020304" pitchFamily="18" charset="0"/>
              </a:rPr>
              <a:t>	</a:t>
            </a:r>
            <a:r>
              <a:rPr lang="en-IN" b="1" dirty="0">
                <a:latin typeface="Calibri" panose="020F0502020204030204" pitchFamily="34" charset="0"/>
                <a:cs typeface="Times New Roman" panose="02020603050405020304" pitchFamily="18" charset="0"/>
              </a:rPr>
              <a:t> Correlation Analysis- </a:t>
            </a:r>
            <a:r>
              <a:rPr lang="en-IN" dirty="0">
                <a:latin typeface="Calibri" panose="020F0502020204030204" pitchFamily="34" charset="0"/>
                <a:cs typeface="Times New Roman" panose="02020603050405020304" pitchFamily="18" charset="0"/>
              </a:rPr>
              <a:t>correlation, covariance</a:t>
            </a:r>
          </a:p>
          <a:p>
            <a:r>
              <a:rPr lang="en-IN" b="1" dirty="0">
                <a:latin typeface="Calibri" panose="020F0502020204030204" pitchFamily="34" charset="0"/>
                <a:cs typeface="Times New Roman" panose="02020603050405020304" pitchFamily="18" charset="0"/>
              </a:rPr>
              <a:t>	 Distribution Analysis- </a:t>
            </a:r>
            <a:r>
              <a:rPr lang="en-IN" dirty="0">
                <a:latin typeface="Calibri" panose="020F0502020204030204" pitchFamily="34" charset="0"/>
                <a:cs typeface="Times New Roman" panose="02020603050405020304" pitchFamily="18" charset="0"/>
              </a:rPr>
              <a:t>normal distribution</a:t>
            </a:r>
          </a:p>
          <a:p>
            <a:r>
              <a:rPr lang="en-IN" sz="2400" b="1" dirty="0">
                <a:latin typeface="Calibri" panose="020F0502020204030204" pitchFamily="34" charset="0"/>
                <a:cs typeface="Times New Roman" panose="02020603050405020304" pitchFamily="18" charset="0"/>
              </a:rPr>
              <a:t>6-</a:t>
            </a:r>
            <a:r>
              <a:rPr lang="en-IN" sz="2400" b="1" dirty="0">
                <a:effectLst/>
                <a:latin typeface="Calibri" panose="020F0502020204030204" pitchFamily="34" charset="0"/>
                <a:ea typeface="Calibri" panose="020F0502020204030204" pitchFamily="34" charset="0"/>
                <a:cs typeface="Times New Roman" panose="02020603050405020304" pitchFamily="18" charset="0"/>
              </a:rPr>
              <a:t>Data Interpretation</a:t>
            </a:r>
          </a:p>
          <a:p>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r>
              <a:rPr lang="en-IN" dirty="0">
                <a:latin typeface="Calibri" panose="020F0502020204030204" pitchFamily="34" charset="0"/>
                <a:cs typeface="Times New Roman" panose="02020603050405020304" pitchFamily="18" charset="0"/>
              </a:rPr>
              <a:t>Pattern Recognition</a:t>
            </a:r>
          </a:p>
          <a:p>
            <a:r>
              <a:rPr lang="en-IN" dirty="0">
                <a:latin typeface="Calibri" panose="020F0502020204030204" pitchFamily="34" charset="0"/>
                <a:cs typeface="Times New Roman" panose="02020603050405020304" pitchFamily="18" charset="0"/>
              </a:rPr>
              <a:t>	 Hypothesis Testing</a:t>
            </a:r>
          </a:p>
          <a:p>
            <a:r>
              <a:rPr lang="en-IN" sz="2400" b="1" dirty="0">
                <a:latin typeface="Calibri" panose="020F0502020204030204" pitchFamily="34" charset="0"/>
                <a:cs typeface="Times New Roman" panose="02020603050405020304" pitchFamily="18" charset="0"/>
              </a:rPr>
              <a:t>7-</a:t>
            </a:r>
            <a:r>
              <a:rPr lang="en-IN" sz="2400" b="1" dirty="0">
                <a:effectLst/>
                <a:latin typeface="Calibri" panose="020F0502020204030204" pitchFamily="34" charset="0"/>
                <a:ea typeface="Calibri" panose="020F0502020204030204" pitchFamily="34" charset="0"/>
                <a:cs typeface="Times New Roman" panose="02020603050405020304" pitchFamily="18" charset="0"/>
              </a:rPr>
              <a:t>Report Findings-</a:t>
            </a:r>
            <a:r>
              <a:rPr lang="en-IN" dirty="0">
                <a:latin typeface="Calibri" panose="020F0502020204030204" pitchFamily="34" charset="0"/>
                <a:cs typeface="Times New Roman" panose="02020603050405020304" pitchFamily="18" charset="0"/>
              </a:rPr>
              <a:t>Summarize insights and findings 	from the EDA process.</a:t>
            </a:r>
          </a:p>
          <a:p>
            <a:endParaRPr lang="en-IN" dirty="0"/>
          </a:p>
        </p:txBody>
      </p:sp>
    </p:spTree>
    <p:extLst>
      <p:ext uri="{BB962C8B-B14F-4D97-AF65-F5344CB8AC3E}">
        <p14:creationId xmlns:p14="http://schemas.microsoft.com/office/powerpoint/2010/main" val="722968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555992"/>
            <a:ext cx="7796464" cy="557285"/>
          </a:xfrm>
        </p:spPr>
        <p:txBody>
          <a:bodyPr/>
          <a:lstStyle/>
          <a:p>
            <a:r>
              <a:rPr lang="en-US" dirty="0"/>
              <a:t>Data Types</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021840"/>
            <a:ext cx="3283119" cy="4001526"/>
          </a:xfrm>
        </p:spPr>
        <p:style>
          <a:lnRef idx="2">
            <a:schemeClr val="accent1">
              <a:shade val="15000"/>
            </a:schemeClr>
          </a:lnRef>
          <a:fillRef idx="1">
            <a:schemeClr val="accent1"/>
          </a:fillRef>
          <a:effectRef idx="0">
            <a:schemeClr val="accent1"/>
          </a:effectRef>
          <a:fontRef idx="minor">
            <a:schemeClr val="lt1"/>
          </a:fontRef>
        </p:style>
        <p:txBody>
          <a:bodyPr>
            <a:normAutofit/>
          </a:bodyPr>
          <a:lstStyle/>
          <a:p>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1.Numerical Data- </a:t>
            </a:r>
            <a:endParaRPr lang="en-IN" sz="2400" dirty="0">
              <a:ln w="0"/>
              <a:solidFill>
                <a:schemeClr val="tx1"/>
              </a:solidFill>
              <a:effectLst>
                <a:outerShdw blurRad="38100" dist="19050" dir="2700000" algn="tl" rotWithShape="0">
                  <a:schemeClr val="dk1">
                    <a:alpha val="40000"/>
                  </a:schemeClr>
                </a:outerShdw>
              </a:effectLst>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800" kern="1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Continuous </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8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	Discrete</a:t>
            </a:r>
            <a:endParaRPr lang="en-IN" sz="4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Times New Roman" panose="02020603050405020304" pitchFamily="18" charset="0"/>
              </a:rPr>
              <a:t>2.Categorical Data</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Times New Roman" panose="02020603050405020304" pitchFamily="18" charset="0"/>
              </a:rPr>
              <a:t>Nominal:</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cs typeface="Times New Roman" panose="02020603050405020304" pitchFamily="18" charset="0"/>
              </a:rPr>
              <a:t>ordinal</a:t>
            </a:r>
          </a:p>
          <a:p>
            <a:endParaRPr lang="en-US" dirty="0"/>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a:off x="4782159" y="2021839"/>
            <a:ext cx="3284951" cy="4001526"/>
          </a:xfrm>
        </p:spPr>
        <p:style>
          <a:lnRef idx="2">
            <a:schemeClr val="accent1">
              <a:shade val="15000"/>
            </a:schemeClr>
          </a:lnRef>
          <a:fillRef idx="1">
            <a:schemeClr val="accent1"/>
          </a:fillRef>
          <a:effectRef idx="0">
            <a:schemeClr val="accent1"/>
          </a:effectRef>
          <a:fontRef idx="minor">
            <a:schemeClr val="lt1"/>
          </a:fontRef>
        </p:style>
        <p:txBody>
          <a:bodyPr>
            <a:normAutofit/>
          </a:bodyPr>
          <a:lstStyle/>
          <a:p>
            <a:r>
              <a:rPr lang="en-IN" sz="2400" kern="1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3.Binary Data</a:t>
            </a:r>
          </a:p>
          <a:p>
            <a:endParaRPr lang="en-IN" sz="2400" kern="1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4.Text Data</a:t>
            </a:r>
          </a:p>
          <a:p>
            <a:endPar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5.Time Series Data</a:t>
            </a:r>
          </a:p>
          <a:p>
            <a:endPar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endParaRPr>
          </a:p>
          <a:p>
            <a:r>
              <a:rPr lang="en-IN" sz="240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Calibri" panose="020F0502020204030204" pitchFamily="34" charset="0"/>
                <a:cs typeface="Times New Roman" panose="02020603050405020304" pitchFamily="18" charset="0"/>
              </a:rPr>
              <a:t>Date/Time Data</a:t>
            </a:r>
            <a:endParaRPr lang="en-US" sz="2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6859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8CEE6-D955-EC89-B433-BB725AB5B8A7}"/>
              </a:ext>
            </a:extLst>
          </p:cNvPr>
          <p:cNvSpPr>
            <a:spLocks noGrp="1"/>
          </p:cNvSpPr>
          <p:nvPr>
            <p:ph type="ctrTitle"/>
          </p:nvPr>
        </p:nvSpPr>
        <p:spPr/>
        <p:txBody>
          <a:bodyPr/>
          <a:lstStyle/>
          <a:p>
            <a:r>
              <a:rPr lang="en-IN" dirty="0"/>
              <a:t>Data Transformation</a:t>
            </a:r>
          </a:p>
        </p:txBody>
      </p:sp>
    </p:spTree>
    <p:extLst>
      <p:ext uri="{BB962C8B-B14F-4D97-AF65-F5344CB8AC3E}">
        <p14:creationId xmlns:p14="http://schemas.microsoft.com/office/powerpoint/2010/main" val="3172925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A86A4-4B08-EF5F-6545-996FBDE8B24F}"/>
              </a:ext>
            </a:extLst>
          </p:cNvPr>
          <p:cNvSpPr>
            <a:spLocks noGrp="1"/>
          </p:cNvSpPr>
          <p:nvPr>
            <p:ph type="title"/>
          </p:nvPr>
        </p:nvSpPr>
        <p:spPr/>
        <p:txBody>
          <a:bodyPr/>
          <a:lstStyle/>
          <a:p>
            <a:r>
              <a:rPr lang="en-IN" dirty="0"/>
              <a:t>Data Transformation</a:t>
            </a:r>
          </a:p>
        </p:txBody>
      </p:sp>
      <p:sp>
        <p:nvSpPr>
          <p:cNvPr id="3" name="Content Placeholder 2">
            <a:extLst>
              <a:ext uri="{FF2B5EF4-FFF2-40B4-BE49-F238E27FC236}">
                <a16:creationId xmlns:a16="http://schemas.microsoft.com/office/drawing/2014/main" id="{9303BB9E-F04B-CE5B-ED33-4CBE56017BCF}"/>
              </a:ext>
            </a:extLst>
          </p:cNvPr>
          <p:cNvSpPr>
            <a:spLocks noGrp="1"/>
          </p:cNvSpPr>
          <p:nvPr>
            <p:ph sz="half" idx="2"/>
          </p:nvPr>
        </p:nvSpPr>
        <p:spPr/>
        <p:txBody>
          <a:bodyPr>
            <a:normAutofit/>
          </a:bodyPr>
          <a:lstStyle/>
          <a:p>
            <a:r>
              <a:rPr lang="en-US" sz="2400" dirty="0"/>
              <a:t>Data transformation is a crucial step in the Exploratory Data Analysis (EDA) process. </a:t>
            </a:r>
          </a:p>
          <a:p>
            <a:r>
              <a:rPr lang="en-US" sz="2400" dirty="0"/>
              <a:t>It involves converting data into a suitable format or structure to improve its quality and usability. </a:t>
            </a:r>
          </a:p>
          <a:p>
            <a:r>
              <a:rPr lang="en-US" sz="2400" dirty="0"/>
              <a:t>This can help to uncover hidden patterns, identify anomalies, and ensure that the data is ready for modeling. </a:t>
            </a:r>
          </a:p>
        </p:txBody>
      </p:sp>
      <p:sp>
        <p:nvSpPr>
          <p:cNvPr id="4" name="Slide Number Placeholder 3">
            <a:extLst>
              <a:ext uri="{FF2B5EF4-FFF2-40B4-BE49-F238E27FC236}">
                <a16:creationId xmlns:a16="http://schemas.microsoft.com/office/drawing/2014/main" id="{0F41490F-B8D7-BB91-CCB6-C2A33BA2BFD4}"/>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4043158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47FB5-2BF2-1136-1BAF-9D56FDAB3FD8}"/>
              </a:ext>
            </a:extLst>
          </p:cNvPr>
          <p:cNvSpPr>
            <a:spLocks noGrp="1"/>
          </p:cNvSpPr>
          <p:nvPr>
            <p:ph type="title"/>
          </p:nvPr>
        </p:nvSpPr>
        <p:spPr>
          <a:xfrm>
            <a:off x="3460565" y="782320"/>
            <a:ext cx="7965461" cy="1269118"/>
          </a:xfrm>
        </p:spPr>
        <p:txBody>
          <a:bodyPr/>
          <a:lstStyle/>
          <a:p>
            <a:r>
              <a:rPr lang="en-IN" dirty="0"/>
              <a:t>Benefits of Data Transformation</a:t>
            </a:r>
          </a:p>
        </p:txBody>
      </p:sp>
      <p:sp>
        <p:nvSpPr>
          <p:cNvPr id="3" name="Content Placeholder 2">
            <a:extLst>
              <a:ext uri="{FF2B5EF4-FFF2-40B4-BE49-F238E27FC236}">
                <a16:creationId xmlns:a16="http://schemas.microsoft.com/office/drawing/2014/main" id="{FFDCA28B-3C60-3E84-14C7-5830405214F1}"/>
              </a:ext>
            </a:extLst>
          </p:cNvPr>
          <p:cNvSpPr>
            <a:spLocks noGrp="1"/>
          </p:cNvSpPr>
          <p:nvPr>
            <p:ph sz="half" idx="2"/>
          </p:nvPr>
        </p:nvSpPr>
        <p:spPr/>
        <p:txBody>
          <a:bodyPr/>
          <a:lstStyle/>
          <a:p>
            <a:r>
              <a:rPr lang="en-IN" sz="2400" b="1" dirty="0"/>
              <a:t>Improved Model Performance</a:t>
            </a:r>
          </a:p>
          <a:p>
            <a:r>
              <a:rPr lang="en-IN" sz="2400" b="1" dirty="0"/>
              <a:t>Enhanced Data Visualizations</a:t>
            </a:r>
          </a:p>
          <a:p>
            <a:r>
              <a:rPr lang="en-IN" sz="2400" b="1" dirty="0"/>
              <a:t>Handling Outliers</a:t>
            </a:r>
          </a:p>
          <a:p>
            <a:r>
              <a:rPr lang="en-IN" sz="2400" b="1" dirty="0"/>
              <a:t>Better Convergence-</a:t>
            </a:r>
            <a:r>
              <a:rPr lang="en-IN" sz="2400" dirty="0"/>
              <a:t>Faster Training, Stability, better 				Performance</a:t>
            </a:r>
            <a:endParaRPr lang="en-IN" sz="2400" b="1" dirty="0"/>
          </a:p>
          <a:p>
            <a:r>
              <a:rPr lang="en-IN" sz="2400" b="1" dirty="0"/>
              <a:t>Dimensionality Reduction</a:t>
            </a:r>
          </a:p>
          <a:p>
            <a:r>
              <a:rPr lang="en-US" sz="2400" b="1" dirty="0"/>
              <a:t>Better Insights from Feature Engineering</a:t>
            </a:r>
          </a:p>
          <a:p>
            <a:endParaRPr lang="en-IN" dirty="0"/>
          </a:p>
        </p:txBody>
      </p:sp>
      <p:sp>
        <p:nvSpPr>
          <p:cNvPr id="4" name="Slide Number Placeholder 3">
            <a:extLst>
              <a:ext uri="{FF2B5EF4-FFF2-40B4-BE49-F238E27FC236}">
                <a16:creationId xmlns:a16="http://schemas.microsoft.com/office/drawing/2014/main" id="{7BD50430-0863-EE3B-0A16-3161142AFCE0}"/>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063000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6996A-7148-30A9-9D9C-CE6B48632407}"/>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AB07D0E4-F868-052E-63B4-4B5ED1219391}"/>
              </a:ext>
            </a:extLst>
          </p:cNvPr>
          <p:cNvSpPr>
            <a:spLocks noGrp="1"/>
          </p:cNvSpPr>
          <p:nvPr>
            <p:ph sz="half" idx="2"/>
          </p:nvPr>
        </p:nvSpPr>
        <p:spPr/>
        <p:txBody>
          <a:bodyPr>
            <a:normAutofit/>
          </a:bodyPr>
          <a:lstStyle/>
          <a:p>
            <a:r>
              <a:rPr lang="en-IN" sz="2400" b="1" dirty="0"/>
              <a:t>Information Loss</a:t>
            </a:r>
          </a:p>
          <a:p>
            <a:r>
              <a:rPr lang="en-IN" sz="2400" b="1" dirty="0"/>
              <a:t>Risk of Overfitting</a:t>
            </a:r>
          </a:p>
          <a:p>
            <a:r>
              <a:rPr lang="en-IN" sz="2400" b="1" dirty="0"/>
              <a:t>Data Leakage</a:t>
            </a:r>
          </a:p>
          <a:p>
            <a:r>
              <a:rPr lang="en-IN" sz="2400" b="1" dirty="0"/>
              <a:t>Increased Complexity</a:t>
            </a:r>
          </a:p>
          <a:p>
            <a:r>
              <a:rPr lang="en-IN" sz="2400" b="1" dirty="0"/>
              <a:t>Assumption Violation</a:t>
            </a:r>
          </a:p>
        </p:txBody>
      </p:sp>
      <p:sp>
        <p:nvSpPr>
          <p:cNvPr id="4" name="Slide Number Placeholder 3">
            <a:extLst>
              <a:ext uri="{FF2B5EF4-FFF2-40B4-BE49-F238E27FC236}">
                <a16:creationId xmlns:a16="http://schemas.microsoft.com/office/drawing/2014/main" id="{D02168DA-DE58-B414-2957-A3C362F6AC5E}"/>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4174472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IN" dirty="0"/>
              <a:t>Transformation Techniques</a:t>
            </a:r>
            <a:endParaRPr lang="en-US" dirty="0"/>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3282950" cy="4143375"/>
          </a:xfrm>
        </p:spPr>
        <p:txBody>
          <a:bodyPr>
            <a:normAutofit lnSpcReduction="10000"/>
          </a:bodyPr>
          <a:lstStyle/>
          <a:p>
            <a:r>
              <a:rPr lang="en-IN" sz="2400" b="1" dirty="0"/>
              <a:t>Normalization and Standardization</a:t>
            </a:r>
          </a:p>
          <a:p>
            <a:r>
              <a:rPr lang="en-IN" sz="2400" b="1" dirty="0"/>
              <a:t>Log Transformation</a:t>
            </a:r>
          </a:p>
          <a:p>
            <a:r>
              <a:rPr lang="en-IN" sz="2400" dirty="0"/>
              <a:t>3. </a:t>
            </a:r>
            <a:r>
              <a:rPr lang="en-IN" sz="2400" b="1" dirty="0"/>
              <a:t>Box-Cox Transformation</a:t>
            </a:r>
          </a:p>
          <a:p>
            <a:r>
              <a:rPr lang="en-US" sz="2400" b="1" dirty="0"/>
              <a:t>Square Root and Cube Root Transformations</a:t>
            </a:r>
            <a:endParaRPr lang="en-IN" sz="2400" b="1" dirty="0"/>
          </a:p>
          <a:p>
            <a:r>
              <a:rPr lang="en-IN" sz="2400" dirty="0"/>
              <a:t> </a:t>
            </a:r>
            <a:r>
              <a:rPr lang="en-IN" sz="2400" b="1" dirty="0"/>
              <a:t>Categorical Encoding</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3"/>
            <a:ext cx="3763963" cy="4143375"/>
          </a:xfrm>
        </p:spPr>
        <p:txBody>
          <a:bodyPr>
            <a:normAutofit/>
          </a:bodyPr>
          <a:lstStyle/>
          <a:p>
            <a:r>
              <a:rPr lang="en-IN" dirty="0"/>
              <a:t>6</a:t>
            </a:r>
            <a:r>
              <a:rPr lang="en-IN" sz="2400" dirty="0"/>
              <a:t>. </a:t>
            </a:r>
            <a:r>
              <a:rPr lang="en-IN" sz="2400" b="1" dirty="0"/>
              <a:t>Binning or Discretization</a:t>
            </a:r>
            <a:endParaRPr lang="en-US" sz="2400" dirty="0"/>
          </a:p>
          <a:p>
            <a:endParaRPr lang="en-IN" sz="2400" dirty="0"/>
          </a:p>
          <a:p>
            <a:r>
              <a:rPr lang="en-IN" sz="2400" dirty="0"/>
              <a:t>7. </a:t>
            </a:r>
            <a:r>
              <a:rPr lang="en-IN" sz="2400" b="1" dirty="0"/>
              <a:t>Handling Missing Values</a:t>
            </a:r>
          </a:p>
          <a:p>
            <a:r>
              <a:rPr lang="en-IN" sz="2400" dirty="0"/>
              <a:t>8. </a:t>
            </a:r>
            <a:r>
              <a:rPr lang="en-IN" sz="2400" b="1" dirty="0"/>
              <a:t>Scaling</a:t>
            </a:r>
          </a:p>
          <a:p>
            <a:r>
              <a:rPr lang="en-IN" sz="2400" dirty="0"/>
              <a:t>9. </a:t>
            </a:r>
            <a:r>
              <a:rPr lang="en-IN" sz="2400" b="1" dirty="0"/>
              <a:t>Feature Engineering</a:t>
            </a:r>
          </a:p>
          <a:p>
            <a:r>
              <a:rPr lang="en-IN" sz="2400" dirty="0"/>
              <a:t>10. </a:t>
            </a:r>
            <a:r>
              <a:rPr lang="en-IN" sz="2400" b="1" dirty="0"/>
              <a:t>Dimensionality Reduction</a:t>
            </a:r>
            <a:endParaRPr lang="en-US" sz="2400"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57F28-B0CC-1CB1-7B5B-36BDEB6F8EC7}"/>
              </a:ext>
            </a:extLst>
          </p:cNvPr>
          <p:cNvSpPr>
            <a:spLocks noGrp="1"/>
          </p:cNvSpPr>
          <p:nvPr>
            <p:ph type="title"/>
          </p:nvPr>
        </p:nvSpPr>
        <p:spPr>
          <a:xfrm>
            <a:off x="594360" y="108081"/>
            <a:ext cx="11186160" cy="1531357"/>
          </a:xfrm>
        </p:spPr>
        <p:txBody>
          <a:bodyPr/>
          <a:lstStyle/>
          <a:p>
            <a:r>
              <a:rPr lang="en-IN" sz="3600" b="1" dirty="0"/>
              <a:t>Normalization and Standardization</a:t>
            </a:r>
            <a:endParaRPr lang="en-IN" dirty="0"/>
          </a:p>
        </p:txBody>
      </p:sp>
      <p:sp>
        <p:nvSpPr>
          <p:cNvPr id="3" name="Content Placeholder 2">
            <a:extLst>
              <a:ext uri="{FF2B5EF4-FFF2-40B4-BE49-F238E27FC236}">
                <a16:creationId xmlns:a16="http://schemas.microsoft.com/office/drawing/2014/main" id="{7F29480C-A6C5-1753-DC1A-2020409CF6CB}"/>
              </a:ext>
            </a:extLst>
          </p:cNvPr>
          <p:cNvSpPr>
            <a:spLocks noGrp="1"/>
          </p:cNvSpPr>
          <p:nvPr>
            <p:ph idx="1"/>
          </p:nvPr>
        </p:nvSpPr>
        <p:spPr>
          <a:xfrm>
            <a:off x="985520" y="1869440"/>
            <a:ext cx="10220960" cy="3881120"/>
          </a:xfrm>
        </p:spPr>
        <p:txBody>
          <a:bodyPr>
            <a:normAutofit/>
          </a:bodyPr>
          <a:lstStyle/>
          <a:p>
            <a:pPr marL="342900" indent="-342900" algn="just">
              <a:buFont typeface="Arial" panose="020B0604020202020204" pitchFamily="34" charset="0"/>
              <a:buChar char="•"/>
            </a:pPr>
            <a:r>
              <a:rPr lang="en-US" dirty="0"/>
              <a:t>Are two common techniques in machine learning for scaling or transforming features, especially when working with data that vary significantly in magnitude or units.</a:t>
            </a:r>
          </a:p>
          <a:p>
            <a:pPr marL="342900" indent="-342900" algn="just">
              <a:buFont typeface="Arial" panose="020B0604020202020204" pitchFamily="34" charset="0"/>
              <a:buChar char="•"/>
            </a:pPr>
            <a:r>
              <a:rPr lang="en-US" dirty="0"/>
              <a:t>Proper scaling often improves model performance, particularly in algorithms that are sensitive to feature magnitudes, such as gradient-based models and distance-based models.</a:t>
            </a:r>
            <a:endParaRPr lang="en-IN" dirty="0"/>
          </a:p>
        </p:txBody>
      </p:sp>
      <p:sp>
        <p:nvSpPr>
          <p:cNvPr id="4" name="Slide Number Placeholder 3">
            <a:extLst>
              <a:ext uri="{FF2B5EF4-FFF2-40B4-BE49-F238E27FC236}">
                <a16:creationId xmlns:a16="http://schemas.microsoft.com/office/drawing/2014/main" id="{48B7BDFE-91CF-B1D8-26E9-A6A56804836B}"/>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4291031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90F0-E2B7-DA00-7077-BDC4CB2A0C26}"/>
              </a:ext>
            </a:extLst>
          </p:cNvPr>
          <p:cNvSpPr>
            <a:spLocks noGrp="1"/>
          </p:cNvSpPr>
          <p:nvPr>
            <p:ph type="title"/>
          </p:nvPr>
        </p:nvSpPr>
        <p:spPr>
          <a:xfrm>
            <a:off x="2926770" y="63109"/>
            <a:ext cx="7965461" cy="994164"/>
          </a:xfrm>
        </p:spPr>
        <p:txBody>
          <a:bodyPr/>
          <a:lstStyle/>
          <a:p>
            <a:r>
              <a:rPr lang="en-IN" b="1" dirty="0"/>
              <a:t>Normalization</a:t>
            </a:r>
            <a:endParaRPr lang="en-IN" dirty="0"/>
          </a:p>
        </p:txBody>
      </p:sp>
      <p:sp>
        <p:nvSpPr>
          <p:cNvPr id="3" name="Content Placeholder 2">
            <a:extLst>
              <a:ext uri="{FF2B5EF4-FFF2-40B4-BE49-F238E27FC236}">
                <a16:creationId xmlns:a16="http://schemas.microsoft.com/office/drawing/2014/main" id="{07A61B11-9BCC-52AF-23B8-900095ABC963}"/>
              </a:ext>
            </a:extLst>
          </p:cNvPr>
          <p:cNvSpPr>
            <a:spLocks noGrp="1"/>
          </p:cNvSpPr>
          <p:nvPr>
            <p:ph sz="half" idx="2"/>
          </p:nvPr>
        </p:nvSpPr>
        <p:spPr>
          <a:xfrm>
            <a:off x="2926771" y="1316746"/>
            <a:ext cx="7965460" cy="4872039"/>
          </a:xfrm>
        </p:spPr>
        <p:txBody>
          <a:bodyPr>
            <a:normAutofit/>
          </a:bodyPr>
          <a:lstStyle/>
          <a:p>
            <a:r>
              <a:rPr lang="en-IN" sz="2400" dirty="0"/>
              <a:t>Normalization typically refers to scaling the features to a specific range, usually [0, 1] or [-1, 1]. </a:t>
            </a:r>
          </a:p>
          <a:p>
            <a:r>
              <a:rPr lang="en-IN" sz="2400" dirty="0"/>
              <a:t>This ensures that the values of all features lie within a uniform range, preserving the relationships among data points while changing their scale.</a:t>
            </a:r>
          </a:p>
          <a:p>
            <a:r>
              <a:rPr lang="en-IN" sz="2400" b="1" dirty="0"/>
              <a:t>Formula:</a:t>
            </a:r>
          </a:p>
          <a:p>
            <a:r>
              <a:rPr lang="en-IN" sz="2400" dirty="0"/>
              <a:t>               </a:t>
            </a:r>
            <a:r>
              <a:rPr lang="en-IN" sz="2400" dirty="0" err="1"/>
              <a:t>Xnorm</a:t>
            </a:r>
            <a:r>
              <a:rPr lang="en-IN" sz="2400" dirty="0"/>
              <a:t>=  X−</a:t>
            </a:r>
            <a:r>
              <a:rPr lang="en-IN" sz="2400" dirty="0" err="1"/>
              <a:t>Xmin</a:t>
            </a:r>
            <a:r>
              <a:rPr lang="en-IN" sz="2400" dirty="0"/>
              <a:t>/ </a:t>
            </a:r>
            <a:r>
              <a:rPr lang="en-IN" sz="2400" dirty="0" err="1"/>
              <a:t>Xmax−Xmin</a:t>
            </a:r>
            <a:endParaRPr lang="en-IN" sz="2400" dirty="0"/>
          </a:p>
          <a:p>
            <a:r>
              <a:rPr lang="en-IN" sz="2400" dirty="0"/>
              <a:t>Where:</a:t>
            </a:r>
          </a:p>
          <a:p>
            <a:pPr>
              <a:buFont typeface="Arial" panose="020B0604020202020204" pitchFamily="34" charset="0"/>
              <a:buChar char="•"/>
            </a:pPr>
            <a:r>
              <a:rPr lang="en-IN" sz="2400" dirty="0"/>
              <a:t>X  is the original feature value,</a:t>
            </a:r>
          </a:p>
          <a:p>
            <a:pPr>
              <a:buFont typeface="Arial" panose="020B0604020202020204" pitchFamily="34" charset="0"/>
              <a:buChar char="•"/>
            </a:pPr>
            <a:r>
              <a:rPr lang="en-IN" sz="2400" dirty="0" err="1"/>
              <a:t>Xmin</a:t>
            </a:r>
            <a:r>
              <a:rPr lang="en-IN" sz="2400" dirty="0"/>
              <a:t>​ and </a:t>
            </a:r>
            <a:r>
              <a:rPr lang="en-IN" sz="2400" dirty="0" err="1"/>
              <a:t>Xmax</a:t>
            </a:r>
            <a:r>
              <a:rPr lang="en-IN" sz="2400" dirty="0"/>
              <a:t> are the minimum and maximum values of the feature.</a:t>
            </a:r>
          </a:p>
        </p:txBody>
      </p:sp>
      <p:sp>
        <p:nvSpPr>
          <p:cNvPr id="4" name="Slide Number Placeholder 3">
            <a:extLst>
              <a:ext uri="{FF2B5EF4-FFF2-40B4-BE49-F238E27FC236}">
                <a16:creationId xmlns:a16="http://schemas.microsoft.com/office/drawing/2014/main" id="{B6EB540F-109A-BE8C-052F-DCD116FD2D82}"/>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524299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3B254-55C6-1DE0-D8A0-D84C92A23AB0}"/>
              </a:ext>
            </a:extLst>
          </p:cNvPr>
          <p:cNvSpPr>
            <a:spLocks noGrp="1"/>
          </p:cNvSpPr>
          <p:nvPr>
            <p:ph type="title"/>
          </p:nvPr>
        </p:nvSpPr>
        <p:spPr>
          <a:xfrm>
            <a:off x="3044005" y="43424"/>
            <a:ext cx="7965461" cy="994164"/>
          </a:xfrm>
        </p:spPr>
        <p:txBody>
          <a:bodyPr/>
          <a:lstStyle/>
          <a:p>
            <a:r>
              <a:rPr lang="en-US" b="1" dirty="0"/>
              <a:t>Standardization</a:t>
            </a:r>
            <a:endParaRPr lang="en-IN" dirty="0"/>
          </a:p>
        </p:txBody>
      </p:sp>
      <p:sp>
        <p:nvSpPr>
          <p:cNvPr id="3" name="Content Placeholder 2">
            <a:extLst>
              <a:ext uri="{FF2B5EF4-FFF2-40B4-BE49-F238E27FC236}">
                <a16:creationId xmlns:a16="http://schemas.microsoft.com/office/drawing/2014/main" id="{2E7DDEB7-C1D0-A663-46BC-C8D2A1BB5532}"/>
              </a:ext>
            </a:extLst>
          </p:cNvPr>
          <p:cNvSpPr>
            <a:spLocks noGrp="1"/>
          </p:cNvSpPr>
          <p:nvPr>
            <p:ph sz="half" idx="2"/>
          </p:nvPr>
        </p:nvSpPr>
        <p:spPr>
          <a:xfrm>
            <a:off x="3460565" y="1037588"/>
            <a:ext cx="7965460" cy="4763139"/>
          </a:xfrm>
        </p:spPr>
        <p:txBody>
          <a:bodyPr/>
          <a:lstStyle/>
          <a:p>
            <a:r>
              <a:rPr lang="en-US" sz="2400" dirty="0"/>
              <a:t>Standardization involves transforming the features to have a </a:t>
            </a:r>
            <a:r>
              <a:rPr lang="en-US" sz="2400" b="1" dirty="0"/>
              <a:t>mean of 0 and a standard deviation of 1</a:t>
            </a:r>
            <a:r>
              <a:rPr lang="en-US" sz="2400" dirty="0"/>
              <a:t>. This process shifts the distribution of the data so that it is centered around 0, with unit variance. It is particularly useful when features have different units or are distributed on vastly different scales.</a:t>
            </a:r>
          </a:p>
          <a:p>
            <a:r>
              <a:rPr lang="en-US" sz="2400" b="1" dirty="0"/>
              <a:t>Formula:</a:t>
            </a:r>
          </a:p>
          <a:p>
            <a:r>
              <a:rPr lang="en-US" sz="2400" dirty="0"/>
              <a:t>           	 </a:t>
            </a:r>
            <a:r>
              <a:rPr lang="en-US" sz="2400" dirty="0" err="1"/>
              <a:t>Xstd</a:t>
            </a:r>
            <a:r>
              <a:rPr lang="en-US" sz="2400" dirty="0"/>
              <a:t>= X−μ/σ​</a:t>
            </a:r>
          </a:p>
          <a:p>
            <a:r>
              <a:rPr lang="en-US" sz="2400" dirty="0"/>
              <a:t>Where:</a:t>
            </a:r>
          </a:p>
          <a:p>
            <a:pPr>
              <a:buFont typeface="Arial" panose="020B0604020202020204" pitchFamily="34" charset="0"/>
              <a:buChar char="•"/>
            </a:pPr>
            <a:r>
              <a:rPr lang="en-US" sz="2400" dirty="0"/>
              <a:t>μ is the mean of the feature,</a:t>
            </a:r>
          </a:p>
          <a:p>
            <a:pPr>
              <a:buFont typeface="Arial" panose="020B0604020202020204" pitchFamily="34" charset="0"/>
              <a:buChar char="•"/>
            </a:pPr>
            <a:r>
              <a:rPr lang="en-US" sz="2400" dirty="0"/>
              <a:t>σ is the standard deviation of the feature.</a:t>
            </a:r>
          </a:p>
          <a:p>
            <a:endParaRPr lang="en-IN" dirty="0"/>
          </a:p>
        </p:txBody>
      </p:sp>
      <p:sp>
        <p:nvSpPr>
          <p:cNvPr id="4" name="Slide Number Placeholder 3">
            <a:extLst>
              <a:ext uri="{FF2B5EF4-FFF2-40B4-BE49-F238E27FC236}">
                <a16:creationId xmlns:a16="http://schemas.microsoft.com/office/drawing/2014/main" id="{684084EB-391C-1839-8A3D-91C196C68DF8}"/>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1273813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1057274"/>
            <a:ext cx="7843837" cy="1012782"/>
          </a:xfrm>
        </p:spPr>
        <p:txBody>
          <a:bodyPr/>
          <a:lstStyle/>
          <a:p>
            <a:r>
              <a:rPr lang="en-IN" dirty="0"/>
              <a:t>Discretization and binning</a:t>
            </a:r>
            <a:endParaRPr lang="en-US"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399" y="2331791"/>
            <a:ext cx="7843837" cy="3721817"/>
          </a:xfrm>
        </p:spPr>
        <p:txBody>
          <a:bodyPr/>
          <a:lstStyle/>
          <a:p>
            <a:pPr marL="342900" indent="-342900" algn="just">
              <a:buFont typeface="Arial" panose="020B0604020202020204" pitchFamily="34" charset="0"/>
              <a:buChar char="•"/>
            </a:pPr>
            <a:r>
              <a:rPr lang="en-US" b="1" dirty="0"/>
              <a:t>Binning</a:t>
            </a:r>
            <a:r>
              <a:rPr lang="en-US" dirty="0"/>
              <a:t> (or discretization) is the process of converting continuous data into discrete bins or categories.</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 It is often used in data analysis and preprocessing to simplify the data, reduce the effects of small observation errors, and make patterns more visible.</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dirty="0"/>
              <a:t> Binning can also help in handling skewed data and outliers, improving the performance of some machine learning models.</a:t>
            </a:r>
          </a:p>
        </p:txBody>
      </p:sp>
      <p:pic>
        <p:nvPicPr>
          <p:cNvPr id="7" name="Picture Placeholder 6" descr="A person wearing glasses and a blue shirt">
            <a:extLst>
              <a:ext uri="{FF2B5EF4-FFF2-40B4-BE49-F238E27FC236}">
                <a16:creationId xmlns:a16="http://schemas.microsoft.com/office/drawing/2014/main" id="{C570EB79-053B-0283-9D2D-6266701EEDDD}"/>
              </a:ext>
            </a:extLst>
          </p:cNvPr>
          <p:cNvPicPr>
            <a:picLocks noGrp="1" noChangeAspect="1"/>
          </p:cNvPicPr>
          <p:nvPr>
            <p:ph type="pic" sz="quarter" idx="14"/>
          </p:nvPr>
        </p:nvPicPr>
        <p:blipFill rotWithShape="1">
          <a:blip r:embed="rId3">
            <a:duotone>
              <a:prstClr val="black"/>
              <a:schemeClr val="accent4">
                <a:tint val="45000"/>
                <a:satMod val="400000"/>
              </a:schemeClr>
            </a:duotone>
          </a:blip>
          <a:srcRect l="19088" r="19088"/>
          <a:stretch/>
        </p:blipFill>
        <p:spPr>
          <a:xfrm>
            <a:off x="8989454" y="3405189"/>
            <a:ext cx="3202546" cy="3452811"/>
          </a:xfrm>
        </p:spPr>
      </p:pic>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B48D5-8E2A-2767-F3A8-5CEC6FA12A61}"/>
              </a:ext>
            </a:extLst>
          </p:cNvPr>
          <p:cNvSpPr>
            <a:spLocks noGrp="1"/>
          </p:cNvSpPr>
          <p:nvPr>
            <p:ph type="title"/>
          </p:nvPr>
        </p:nvSpPr>
        <p:spPr>
          <a:xfrm>
            <a:off x="765973" y="298001"/>
            <a:ext cx="7843837" cy="1012782"/>
          </a:xfrm>
        </p:spPr>
        <p:txBody>
          <a:bodyPr/>
          <a:lstStyle/>
          <a:p>
            <a:r>
              <a:rPr lang="en-IN" dirty="0"/>
              <a:t>Types of Binning</a:t>
            </a:r>
          </a:p>
        </p:txBody>
      </p:sp>
      <p:sp>
        <p:nvSpPr>
          <p:cNvPr id="3" name="Content Placeholder 2">
            <a:extLst>
              <a:ext uri="{FF2B5EF4-FFF2-40B4-BE49-F238E27FC236}">
                <a16:creationId xmlns:a16="http://schemas.microsoft.com/office/drawing/2014/main" id="{3C8A448D-553B-C05F-1918-2009C4536BE2}"/>
              </a:ext>
            </a:extLst>
          </p:cNvPr>
          <p:cNvSpPr>
            <a:spLocks noGrp="1"/>
          </p:cNvSpPr>
          <p:nvPr>
            <p:ph idx="13"/>
          </p:nvPr>
        </p:nvSpPr>
        <p:spPr>
          <a:xfrm>
            <a:off x="914400" y="1605281"/>
            <a:ext cx="8075054" cy="4448328"/>
          </a:xfrm>
        </p:spPr>
        <p:txBody>
          <a:bodyPr>
            <a:normAutofit/>
          </a:bodyPr>
          <a:lstStyle/>
          <a:p>
            <a:pPr marL="457200" indent="-457200">
              <a:buAutoNum type="arabicPeriod"/>
            </a:pPr>
            <a:r>
              <a:rPr lang="en-IN" dirty="0"/>
              <a:t>Fixed-width Binning (Equal-width Binning)-</a:t>
            </a:r>
          </a:p>
          <a:p>
            <a:r>
              <a:rPr lang="en-US" dirty="0">
                <a:solidFill>
                  <a:srgbClr val="00B0F0"/>
                </a:solidFill>
              </a:rPr>
              <a:t>Divides the range of data into intervals (bins) of equal size.</a:t>
            </a:r>
          </a:p>
          <a:p>
            <a:endParaRPr lang="en-US" sz="2000" dirty="0">
              <a:solidFill>
                <a:srgbClr val="00B0F0"/>
              </a:solidFill>
            </a:endParaRPr>
          </a:p>
          <a:p>
            <a:r>
              <a:rPr lang="en-US" sz="2000" dirty="0">
                <a:solidFill>
                  <a:srgbClr val="00B0F0"/>
                </a:solidFill>
              </a:rPr>
              <a:t>Example: If you have a continuous range of data from 0 to 100 and you decide to use 5 bins, each bin would have a width of 20 (0-20, 20-40, 40-60, 60-80, 80-100).</a:t>
            </a:r>
            <a:endParaRPr lang="en-IN" sz="2000" dirty="0">
              <a:solidFill>
                <a:srgbClr val="00B0F0"/>
              </a:solidFill>
            </a:endParaRPr>
          </a:p>
          <a:p>
            <a:endParaRPr lang="en-IN" dirty="0"/>
          </a:p>
          <a:p>
            <a:r>
              <a:rPr lang="en-IN" dirty="0"/>
              <a:t>2. Quantile Binning (Equal-frequency Binning)-</a:t>
            </a:r>
          </a:p>
          <a:p>
            <a:r>
              <a:rPr lang="en-US" dirty="0">
                <a:solidFill>
                  <a:srgbClr val="00B0F0"/>
                </a:solidFill>
              </a:rPr>
              <a:t>Divides the data into bins so that each bin contains an equal number of data points.</a:t>
            </a:r>
          </a:p>
          <a:p>
            <a:endParaRPr lang="en-US" sz="2000" dirty="0">
              <a:solidFill>
                <a:srgbClr val="00B0F0"/>
              </a:solidFill>
            </a:endParaRPr>
          </a:p>
          <a:p>
            <a:r>
              <a:rPr lang="en-US" sz="2000" dirty="0">
                <a:solidFill>
                  <a:srgbClr val="00B0F0"/>
                </a:solidFill>
              </a:rPr>
              <a:t>Example: For a dataset of 100 values, if you create 4 bins using quantile binning, each bin will have 25 values</a:t>
            </a:r>
          </a:p>
        </p:txBody>
      </p:sp>
      <p:sp>
        <p:nvSpPr>
          <p:cNvPr id="4" name="Picture Placeholder 3">
            <a:extLst>
              <a:ext uri="{FF2B5EF4-FFF2-40B4-BE49-F238E27FC236}">
                <a16:creationId xmlns:a16="http://schemas.microsoft.com/office/drawing/2014/main" id="{CA132E68-0115-0E81-3D4C-20967FC14E6C}"/>
              </a:ext>
            </a:extLst>
          </p:cNvPr>
          <p:cNvSpPr>
            <a:spLocks noGrp="1"/>
          </p:cNvSpPr>
          <p:nvPr>
            <p:ph type="pic" sz="quarter" idx="14"/>
          </p:nvPr>
        </p:nvSpPr>
        <p:spPr/>
      </p:sp>
      <p:sp>
        <p:nvSpPr>
          <p:cNvPr id="5" name="Slide Number Placeholder 4">
            <a:extLst>
              <a:ext uri="{FF2B5EF4-FFF2-40B4-BE49-F238E27FC236}">
                <a16:creationId xmlns:a16="http://schemas.microsoft.com/office/drawing/2014/main" id="{50CE0AA3-F8E8-96B6-F702-8B541F089DA0}"/>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619575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65E30-884A-355F-479A-36C8D5E6A0E2}"/>
              </a:ext>
            </a:extLst>
          </p:cNvPr>
          <p:cNvSpPr>
            <a:spLocks noGrp="1"/>
          </p:cNvSpPr>
          <p:nvPr>
            <p:ph idx="13"/>
          </p:nvPr>
        </p:nvSpPr>
        <p:spPr>
          <a:xfrm>
            <a:off x="914400" y="928689"/>
            <a:ext cx="6903076" cy="5124920"/>
          </a:xfrm>
        </p:spPr>
        <p:txBody>
          <a:bodyPr>
            <a:normAutofit/>
          </a:bodyPr>
          <a:lstStyle/>
          <a:p>
            <a:r>
              <a:rPr lang="en-IN" dirty="0"/>
              <a:t>3.Custom Binning-</a:t>
            </a:r>
          </a:p>
          <a:p>
            <a:r>
              <a:rPr lang="en-US" dirty="0">
                <a:solidFill>
                  <a:srgbClr val="00B0F0"/>
                </a:solidFill>
              </a:rPr>
              <a:t>The user defines the bin edges based on domain knowledge or specific requirements.</a:t>
            </a:r>
            <a:endParaRPr lang="en-US" sz="2000" dirty="0">
              <a:solidFill>
                <a:srgbClr val="00B0F0"/>
              </a:solidFill>
            </a:endParaRPr>
          </a:p>
          <a:p>
            <a:endParaRPr lang="en-US" sz="2000" dirty="0">
              <a:solidFill>
                <a:srgbClr val="00B0F0"/>
              </a:solidFill>
            </a:endParaRPr>
          </a:p>
          <a:p>
            <a:r>
              <a:rPr lang="en-US" sz="2000" dirty="0">
                <a:solidFill>
                  <a:srgbClr val="00B0F0"/>
                </a:solidFill>
              </a:rPr>
              <a:t>Example: Age categories like 0-18 (child), 19-35 (young adult), 36-60 (middle-aged), 61+ (senior).</a:t>
            </a:r>
          </a:p>
          <a:p>
            <a:endParaRPr lang="en-IN" dirty="0"/>
          </a:p>
          <a:p>
            <a:r>
              <a:rPr lang="en-IN" dirty="0"/>
              <a:t>4. K-Means Binning-</a:t>
            </a:r>
          </a:p>
          <a:p>
            <a:r>
              <a:rPr lang="en-US" dirty="0">
                <a:solidFill>
                  <a:srgbClr val="00B0F0"/>
                </a:solidFill>
              </a:rPr>
              <a:t>Uses clustering techniques, like K-Means, to create bins where data points in each bin are similar.</a:t>
            </a:r>
          </a:p>
          <a:p>
            <a:endParaRPr lang="en-US" sz="2000" dirty="0">
              <a:solidFill>
                <a:srgbClr val="00B0F0"/>
              </a:solidFill>
            </a:endParaRPr>
          </a:p>
          <a:p>
            <a:r>
              <a:rPr lang="en-US" sz="2000" dirty="0">
                <a:solidFill>
                  <a:srgbClr val="00B0F0"/>
                </a:solidFill>
              </a:rPr>
              <a:t>This method is less common but can be useful for creating bins with similar properties.</a:t>
            </a:r>
            <a:endParaRPr lang="en-IN" sz="2000" dirty="0">
              <a:solidFill>
                <a:srgbClr val="00B0F0"/>
              </a:solidFill>
            </a:endParaRPr>
          </a:p>
          <a:p>
            <a:endParaRPr lang="en-IN" dirty="0"/>
          </a:p>
        </p:txBody>
      </p:sp>
      <p:sp>
        <p:nvSpPr>
          <p:cNvPr id="4" name="Picture Placeholder 3">
            <a:extLst>
              <a:ext uri="{FF2B5EF4-FFF2-40B4-BE49-F238E27FC236}">
                <a16:creationId xmlns:a16="http://schemas.microsoft.com/office/drawing/2014/main" id="{B4774A34-4B92-E26B-0339-A881083E663B}"/>
              </a:ext>
            </a:extLst>
          </p:cNvPr>
          <p:cNvSpPr>
            <a:spLocks noGrp="1"/>
          </p:cNvSpPr>
          <p:nvPr>
            <p:ph type="pic" sz="quarter" idx="14"/>
          </p:nvPr>
        </p:nvSpPr>
        <p:spPr/>
      </p:sp>
      <p:sp>
        <p:nvSpPr>
          <p:cNvPr id="5" name="Slide Number Placeholder 4">
            <a:extLst>
              <a:ext uri="{FF2B5EF4-FFF2-40B4-BE49-F238E27FC236}">
                <a16:creationId xmlns:a16="http://schemas.microsoft.com/office/drawing/2014/main" id="{923261CC-EE2C-3E20-5013-FDAA2BE1F087}"/>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688119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04F192-9B47-5935-6764-D6F94058B477}"/>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
        <p:nvSpPr>
          <p:cNvPr id="4" name="Content Placeholder 3">
            <a:extLst>
              <a:ext uri="{FF2B5EF4-FFF2-40B4-BE49-F238E27FC236}">
                <a16:creationId xmlns:a16="http://schemas.microsoft.com/office/drawing/2014/main" id="{191F7205-D556-71F9-C7C0-BC7C50367A46}"/>
              </a:ext>
            </a:extLst>
          </p:cNvPr>
          <p:cNvSpPr>
            <a:spLocks noGrp="1"/>
          </p:cNvSpPr>
          <p:nvPr>
            <p:ph sz="half" idx="2"/>
          </p:nvPr>
        </p:nvSpPr>
        <p:spPr>
          <a:xfrm>
            <a:off x="1148080" y="928689"/>
            <a:ext cx="3283119" cy="5094676"/>
          </a:xfrm>
        </p:spPr>
        <p:txBody>
          <a:bodyPr/>
          <a:lstStyle/>
          <a:p>
            <a:r>
              <a:rPr lang="en-IN" sz="2800" dirty="0"/>
              <a:t>Advantages of Binning</a:t>
            </a:r>
          </a:p>
          <a:p>
            <a:endParaRPr lang="en-IN" sz="2400" dirty="0"/>
          </a:p>
          <a:p>
            <a:pPr marL="342900" indent="-342900">
              <a:buFont typeface="Arial" panose="020B0604020202020204" pitchFamily="34" charset="0"/>
              <a:buChar char="•"/>
            </a:pPr>
            <a:r>
              <a:rPr lang="en-IN" sz="2400" dirty="0">
                <a:solidFill>
                  <a:srgbClr val="00B0F0"/>
                </a:solidFill>
              </a:rPr>
              <a:t>Simplification</a:t>
            </a:r>
          </a:p>
          <a:p>
            <a:pPr marL="342900" indent="-342900">
              <a:buFont typeface="Arial" panose="020B0604020202020204" pitchFamily="34" charset="0"/>
              <a:buChar char="•"/>
            </a:pPr>
            <a:r>
              <a:rPr lang="en-IN" sz="2400" dirty="0">
                <a:solidFill>
                  <a:srgbClr val="00B0F0"/>
                </a:solidFill>
              </a:rPr>
              <a:t>Handling Outliers</a:t>
            </a:r>
          </a:p>
          <a:p>
            <a:pPr marL="342900" indent="-342900">
              <a:buFont typeface="Arial" panose="020B0604020202020204" pitchFamily="34" charset="0"/>
              <a:buChar char="•"/>
            </a:pPr>
            <a:r>
              <a:rPr lang="en-IN" sz="2400" dirty="0">
                <a:solidFill>
                  <a:srgbClr val="00B0F0"/>
                </a:solidFill>
              </a:rPr>
              <a:t>Improved Model Interpretability</a:t>
            </a:r>
          </a:p>
          <a:p>
            <a:pPr marL="342900" indent="-342900">
              <a:buFont typeface="Arial" panose="020B0604020202020204" pitchFamily="34" charset="0"/>
              <a:buChar char="•"/>
            </a:pPr>
            <a:r>
              <a:rPr lang="en-IN" sz="2400" dirty="0">
                <a:solidFill>
                  <a:srgbClr val="00B0F0"/>
                </a:solidFill>
              </a:rPr>
              <a:t>Data Normalization</a:t>
            </a:r>
          </a:p>
        </p:txBody>
      </p:sp>
      <p:sp>
        <p:nvSpPr>
          <p:cNvPr id="5" name="Content Placeholder 4">
            <a:extLst>
              <a:ext uri="{FF2B5EF4-FFF2-40B4-BE49-F238E27FC236}">
                <a16:creationId xmlns:a16="http://schemas.microsoft.com/office/drawing/2014/main" id="{CB8D82FB-7A35-91CB-AB5A-5AE5594FAA28}"/>
              </a:ext>
            </a:extLst>
          </p:cNvPr>
          <p:cNvSpPr>
            <a:spLocks noGrp="1"/>
          </p:cNvSpPr>
          <p:nvPr>
            <p:ph sz="quarter" idx="4"/>
          </p:nvPr>
        </p:nvSpPr>
        <p:spPr>
          <a:xfrm>
            <a:off x="4782159" y="928688"/>
            <a:ext cx="3284951" cy="5094677"/>
          </a:xfrm>
        </p:spPr>
        <p:txBody>
          <a:bodyPr/>
          <a:lstStyle/>
          <a:p>
            <a:r>
              <a:rPr lang="en-IN" sz="2800" dirty="0"/>
              <a:t>Disadvantages of Binning</a:t>
            </a:r>
          </a:p>
          <a:p>
            <a:endParaRPr lang="en-IN" sz="2400" dirty="0"/>
          </a:p>
          <a:p>
            <a:pPr marL="342900" indent="-342900">
              <a:buFont typeface="Arial" panose="020B0604020202020204" pitchFamily="34" charset="0"/>
              <a:buChar char="•"/>
            </a:pPr>
            <a:r>
              <a:rPr lang="en-IN" sz="2400" dirty="0">
                <a:solidFill>
                  <a:srgbClr val="00B0F0"/>
                </a:solidFill>
              </a:rPr>
              <a:t>Loss of Information</a:t>
            </a:r>
          </a:p>
          <a:p>
            <a:pPr marL="342900" indent="-342900">
              <a:buFont typeface="Arial" panose="020B0604020202020204" pitchFamily="34" charset="0"/>
              <a:buChar char="•"/>
            </a:pPr>
            <a:r>
              <a:rPr lang="en-IN" sz="2400" dirty="0">
                <a:solidFill>
                  <a:srgbClr val="00B0F0"/>
                </a:solidFill>
              </a:rPr>
              <a:t>Choice of Bins</a:t>
            </a:r>
          </a:p>
          <a:p>
            <a:pPr marL="342900" indent="-342900">
              <a:buFont typeface="Arial" panose="020B0604020202020204" pitchFamily="34" charset="0"/>
              <a:buChar char="•"/>
            </a:pPr>
            <a:r>
              <a:rPr lang="en-IN" sz="2400" dirty="0">
                <a:solidFill>
                  <a:srgbClr val="00B0F0"/>
                </a:solidFill>
              </a:rPr>
              <a:t>Introduces Bias</a:t>
            </a:r>
          </a:p>
        </p:txBody>
      </p:sp>
    </p:spTree>
    <p:extLst>
      <p:ext uri="{BB962C8B-B14F-4D97-AF65-F5344CB8AC3E}">
        <p14:creationId xmlns:p14="http://schemas.microsoft.com/office/powerpoint/2010/main" val="3552796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E37391-C09E-F715-2A0D-AA8CECB1AFFD}"/>
              </a:ext>
            </a:extLst>
          </p:cNvPr>
          <p:cNvSpPr>
            <a:spLocks noGrp="1"/>
          </p:cNvSpPr>
          <p:nvPr>
            <p:ph type="sldNum" sz="quarter" idx="10"/>
          </p:nvPr>
        </p:nvSpPr>
        <p:spPr/>
        <p:txBody>
          <a:bodyPr/>
          <a:lstStyle/>
          <a:p>
            <a:fld id="{48F63A3B-78C7-47BE-AE5E-E10140E04643}" type="slidenum">
              <a:rPr lang="en-US" smtClean="0"/>
              <a:pPr/>
              <a:t>19</a:t>
            </a:fld>
            <a:endParaRPr lang="en-US" dirty="0"/>
          </a:p>
        </p:txBody>
      </p:sp>
      <p:pic>
        <p:nvPicPr>
          <p:cNvPr id="7" name="Picture 6">
            <a:extLst>
              <a:ext uri="{FF2B5EF4-FFF2-40B4-BE49-F238E27FC236}">
                <a16:creationId xmlns:a16="http://schemas.microsoft.com/office/drawing/2014/main" id="{B0AD9FE3-3923-F4A5-0E1A-3CAF9046B67A}"/>
              </a:ext>
            </a:extLst>
          </p:cNvPr>
          <p:cNvPicPr>
            <a:picLocks noChangeAspect="1"/>
          </p:cNvPicPr>
          <p:nvPr/>
        </p:nvPicPr>
        <p:blipFill rotWithShape="1">
          <a:blip r:embed="rId2"/>
          <a:srcRect l="6684" t="27682" r="44075" b="19508"/>
          <a:stretch/>
        </p:blipFill>
        <p:spPr bwMode="auto">
          <a:xfrm>
            <a:off x="2924095" y="335280"/>
            <a:ext cx="8841185" cy="62788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47584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9B0F-C010-06DD-CB57-E001354E3F34}"/>
              </a:ext>
            </a:extLst>
          </p:cNvPr>
          <p:cNvSpPr>
            <a:spLocks noGrp="1"/>
          </p:cNvSpPr>
          <p:nvPr>
            <p:ph type="title"/>
          </p:nvPr>
        </p:nvSpPr>
        <p:spPr/>
        <p:txBody>
          <a:bodyPr/>
          <a:lstStyle/>
          <a:p>
            <a:r>
              <a:rPr lang="en-US" dirty="0"/>
              <a:t>output</a:t>
            </a:r>
            <a:endParaRPr lang="en-IN" dirty="0"/>
          </a:p>
        </p:txBody>
      </p:sp>
      <p:sp>
        <p:nvSpPr>
          <p:cNvPr id="4" name="Slide Number Placeholder 3">
            <a:extLst>
              <a:ext uri="{FF2B5EF4-FFF2-40B4-BE49-F238E27FC236}">
                <a16:creationId xmlns:a16="http://schemas.microsoft.com/office/drawing/2014/main" id="{4AA46316-FF9F-C547-FE57-094BFF2240CE}"/>
              </a:ext>
            </a:extLst>
          </p:cNvPr>
          <p:cNvSpPr>
            <a:spLocks noGrp="1"/>
          </p:cNvSpPr>
          <p:nvPr>
            <p:ph type="sldNum" sz="quarter" idx="10"/>
          </p:nvPr>
        </p:nvSpPr>
        <p:spPr/>
        <p:txBody>
          <a:bodyPr/>
          <a:lstStyle/>
          <a:p>
            <a:fld id="{48F63A3B-78C7-47BE-AE5E-E10140E04643}" type="slidenum">
              <a:rPr lang="en-US" smtClean="0"/>
              <a:pPr/>
              <a:t>20</a:t>
            </a:fld>
            <a:endParaRPr lang="en-US" dirty="0"/>
          </a:p>
        </p:txBody>
      </p:sp>
      <p:pic>
        <p:nvPicPr>
          <p:cNvPr id="5" name="Content Placeholder 4">
            <a:extLst>
              <a:ext uri="{FF2B5EF4-FFF2-40B4-BE49-F238E27FC236}">
                <a16:creationId xmlns:a16="http://schemas.microsoft.com/office/drawing/2014/main" id="{1569D2C0-DAA2-06ED-A515-6C16F5BCF480}"/>
              </a:ext>
            </a:extLst>
          </p:cNvPr>
          <p:cNvPicPr>
            <a:picLocks noGrp="1" noChangeAspect="1"/>
          </p:cNvPicPr>
          <p:nvPr>
            <p:ph sz="half" idx="2"/>
          </p:nvPr>
        </p:nvPicPr>
        <p:blipFill rotWithShape="1">
          <a:blip r:embed="rId2"/>
          <a:srcRect l="5162" t="51149" r="51352" b="15306"/>
          <a:stretch/>
        </p:blipFill>
        <p:spPr bwMode="auto">
          <a:xfrm>
            <a:off x="3466634" y="2326707"/>
            <a:ext cx="7952720" cy="34507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30057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B0A5-4559-2E3A-699D-0DD587085EFB}"/>
              </a:ext>
            </a:extLst>
          </p:cNvPr>
          <p:cNvSpPr>
            <a:spLocks noGrp="1"/>
          </p:cNvSpPr>
          <p:nvPr>
            <p:ph type="ctrTitle"/>
          </p:nvPr>
        </p:nvSpPr>
        <p:spPr/>
        <p:txBody>
          <a:bodyPr/>
          <a:lstStyle/>
          <a:p>
            <a:r>
              <a:rPr lang="en-US" dirty="0"/>
              <a:t>Introduction to Missing data, handling missing data </a:t>
            </a:r>
            <a:endParaRPr lang="en-IN" dirty="0"/>
          </a:p>
        </p:txBody>
      </p:sp>
    </p:spTree>
    <p:extLst>
      <p:ext uri="{BB962C8B-B14F-4D97-AF65-F5344CB8AC3E}">
        <p14:creationId xmlns:p14="http://schemas.microsoft.com/office/powerpoint/2010/main" val="2761385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2AB14-49F4-532B-DA8D-F71414EB4951}"/>
              </a:ext>
            </a:extLst>
          </p:cNvPr>
          <p:cNvSpPr>
            <a:spLocks noGrp="1"/>
          </p:cNvSpPr>
          <p:nvPr>
            <p:ph type="title"/>
          </p:nvPr>
        </p:nvSpPr>
        <p:spPr>
          <a:xfrm>
            <a:off x="1137919" y="291595"/>
            <a:ext cx="9444037" cy="1531357"/>
          </a:xfrm>
        </p:spPr>
        <p:txBody>
          <a:bodyPr/>
          <a:lstStyle/>
          <a:p>
            <a:r>
              <a:rPr lang="en-US" b="1" dirty="0"/>
              <a:t>Introduction to Missing Data</a:t>
            </a:r>
            <a:endParaRPr lang="en-IN" dirty="0"/>
          </a:p>
        </p:txBody>
      </p:sp>
      <p:sp>
        <p:nvSpPr>
          <p:cNvPr id="3" name="Content Placeholder 2">
            <a:extLst>
              <a:ext uri="{FF2B5EF4-FFF2-40B4-BE49-F238E27FC236}">
                <a16:creationId xmlns:a16="http://schemas.microsoft.com/office/drawing/2014/main" id="{D556975A-38C8-337D-F679-CD9D6417DC2F}"/>
              </a:ext>
            </a:extLst>
          </p:cNvPr>
          <p:cNvSpPr>
            <a:spLocks noGrp="1"/>
          </p:cNvSpPr>
          <p:nvPr>
            <p:ph idx="1"/>
          </p:nvPr>
        </p:nvSpPr>
        <p:spPr>
          <a:xfrm>
            <a:off x="914400" y="1988556"/>
            <a:ext cx="10617200" cy="4330964"/>
          </a:xfrm>
        </p:spPr>
        <p:txBody>
          <a:bodyPr>
            <a:normAutofit/>
          </a:bodyPr>
          <a:lstStyle/>
          <a:p>
            <a:pPr marL="342900" indent="-342900">
              <a:buFont typeface="Arial" panose="020B0604020202020204" pitchFamily="34" charset="0"/>
              <a:buChar char="•"/>
            </a:pPr>
            <a:r>
              <a:rPr lang="en-US" b="1" dirty="0"/>
              <a:t>Missing data</a:t>
            </a:r>
            <a:r>
              <a:rPr lang="en-US" dirty="0"/>
              <a:t> is a common issue in data analysis, where certain values or observations are absent from a dataset. </a:t>
            </a:r>
          </a:p>
          <a:p>
            <a:pPr marL="342900" indent="-342900">
              <a:buFont typeface="Arial" panose="020B0604020202020204" pitchFamily="34" charset="0"/>
              <a:buChar char="•"/>
            </a:pPr>
            <a:r>
              <a:rPr lang="en-US" dirty="0"/>
              <a:t>This can happen for various reasons, such as human error, data entry problems, or sensor malfunctions.</a:t>
            </a:r>
          </a:p>
          <a:p>
            <a:pPr marL="342900" indent="-342900">
              <a:buFont typeface="Arial" panose="020B0604020202020204" pitchFamily="34" charset="0"/>
              <a:buChar char="•"/>
            </a:pPr>
            <a:r>
              <a:rPr lang="en-US" dirty="0"/>
              <a:t> Missing data can significantly affect the quality of the analysis and the performance of machine learning models. </a:t>
            </a:r>
          </a:p>
        </p:txBody>
      </p:sp>
      <p:sp>
        <p:nvSpPr>
          <p:cNvPr id="4" name="Slide Number Placeholder 3">
            <a:extLst>
              <a:ext uri="{FF2B5EF4-FFF2-40B4-BE49-F238E27FC236}">
                <a16:creationId xmlns:a16="http://schemas.microsoft.com/office/drawing/2014/main" id="{973F9C8F-9EBA-353C-06FC-44D109DC70A9}"/>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2419870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B437-1ED5-35CD-A842-725D69B14CDF}"/>
              </a:ext>
            </a:extLst>
          </p:cNvPr>
          <p:cNvSpPr>
            <a:spLocks noGrp="1"/>
          </p:cNvSpPr>
          <p:nvPr>
            <p:ph type="title"/>
          </p:nvPr>
        </p:nvSpPr>
        <p:spPr>
          <a:xfrm>
            <a:off x="914400" y="457199"/>
            <a:ext cx="6583680" cy="1531357"/>
          </a:xfrm>
        </p:spPr>
        <p:txBody>
          <a:bodyPr/>
          <a:lstStyle/>
          <a:p>
            <a:r>
              <a:rPr lang="en-US" altLang="en-US" dirty="0">
                <a:solidFill>
                  <a:srgbClr val="202C8F"/>
                </a:solidFill>
                <a:cs typeface="Arial" panose="020B0604020202020204" pitchFamily="34" charset="0"/>
              </a:rPr>
              <a:t>Identifying</a:t>
            </a:r>
            <a:r>
              <a:rPr lang="en-US" altLang="en-US" dirty="0">
                <a:cs typeface="Arial" panose="020B0604020202020204" pitchFamily="34" charset="0"/>
              </a:rPr>
              <a:t> Missing Data</a:t>
            </a:r>
            <a:r>
              <a:rPr kumimoji="0" lang="en-US" altLang="en-US" sz="3600" b="1" i="0" u="none" strike="noStrike" cap="none" normalizeH="0" baseline="0" dirty="0">
                <a:ln>
                  <a:noFill/>
                </a:ln>
                <a:solidFill>
                  <a:schemeClr val="tx1"/>
                </a:solidFill>
                <a:effectLst/>
                <a:latin typeface="Arial" panose="020B0604020202020204" pitchFamily="34" charset="0"/>
              </a:rPr>
              <a:t>:</a:t>
            </a:r>
            <a:endParaRPr lang="en-IN" dirty="0"/>
          </a:p>
        </p:txBody>
      </p:sp>
      <p:sp>
        <p:nvSpPr>
          <p:cNvPr id="4" name="Slide Number Placeholder 3">
            <a:extLst>
              <a:ext uri="{FF2B5EF4-FFF2-40B4-BE49-F238E27FC236}">
                <a16:creationId xmlns:a16="http://schemas.microsoft.com/office/drawing/2014/main" id="{9A60FAF1-755F-FC11-5E3D-FCF658201AE5}"/>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
        <p:nvSpPr>
          <p:cNvPr id="5" name="Rectangle 1">
            <a:extLst>
              <a:ext uri="{FF2B5EF4-FFF2-40B4-BE49-F238E27FC236}">
                <a16:creationId xmlns:a16="http://schemas.microsoft.com/office/drawing/2014/main" id="{199B2C01-C3A1-CC16-B657-370AAC2F9B7B}"/>
              </a:ext>
            </a:extLst>
          </p:cNvPr>
          <p:cNvSpPr>
            <a:spLocks noGrp="1" noChangeArrowheads="1"/>
          </p:cNvSpPr>
          <p:nvPr>
            <p:ph idx="1"/>
          </p:nvPr>
        </p:nvSpPr>
        <p:spPr bwMode="auto">
          <a:xfrm>
            <a:off x="914401" y="2545490"/>
            <a:ext cx="688427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rgbClr val="202C8F"/>
                </a:solidFill>
                <a:effectLst/>
                <a:latin typeface="Arial" panose="020B0604020202020204" pitchFamily="34" charset="0"/>
              </a:rPr>
              <a:t>Visualization</a:t>
            </a:r>
            <a:r>
              <a:rPr kumimoji="0" lang="en-US" altLang="en-US" sz="3200" b="1" i="0" u="none" strike="noStrike" cap="none" normalizeH="0" baseline="0" dirty="0">
                <a:ln>
                  <a:noFill/>
                </a:ln>
                <a:solidFill>
                  <a:srgbClr val="002060"/>
                </a:solidFill>
                <a:effectLst/>
                <a:latin typeface="Arial" panose="020B0604020202020204" pitchFamily="34" charset="0"/>
              </a:rPr>
              <a:t>:</a:t>
            </a:r>
            <a:r>
              <a:rPr kumimoji="0" lang="en-US" altLang="en-US" sz="2800" b="0" i="0" u="none" strike="noStrike" cap="none" normalizeH="0" baseline="0" dirty="0">
                <a:ln>
                  <a:noFill/>
                </a:ln>
                <a:solidFill>
                  <a:schemeClr val="tx1"/>
                </a:solidFill>
                <a:effectLst/>
                <a:latin typeface="Arial" panose="020B0604020202020204" pitchFamily="34" charset="0"/>
              </a:rPr>
              <a:t> </a:t>
            </a:r>
            <a:r>
              <a:rPr lang="en-US" altLang="en-US" sz="2800" b="1" dirty="0"/>
              <a:t>Use heatmaps, bar plots, or matrix plots to visualize the distribution and pattern of missing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FontTx/>
              <a:buChar char="•"/>
            </a:pPr>
            <a:r>
              <a:rPr kumimoji="0" lang="en-US" altLang="en-US" sz="3200" b="1" i="0" u="none" strike="noStrike" cap="none" normalizeH="0" baseline="0" dirty="0">
                <a:ln>
                  <a:noFill/>
                </a:ln>
                <a:solidFill>
                  <a:srgbClr val="202C8F"/>
                </a:solidFill>
                <a:effectLst/>
                <a:latin typeface="Arial" panose="020B0604020202020204" pitchFamily="34" charset="0"/>
              </a:rPr>
              <a:t>Summary Statistics</a:t>
            </a:r>
            <a:r>
              <a:rPr kumimoji="0" lang="en-US" altLang="en-US" sz="2800" b="1" i="0" u="none" strike="noStrike" cap="none" normalizeH="0" baseline="0" dirty="0">
                <a:ln>
                  <a:noFill/>
                </a:ln>
                <a:solidFill>
                  <a:schemeClr val="tx1"/>
                </a:solidFill>
                <a:effectLst/>
                <a:latin typeface="Arial" panose="020B0604020202020204" pitchFamily="34" charset="0"/>
              </a:rPr>
              <a:t>:</a:t>
            </a:r>
            <a:r>
              <a:rPr kumimoji="0" lang="en-US" altLang="en-US" sz="2800" b="0" i="0" u="none" strike="noStrike" cap="none" normalizeH="0" baseline="0" dirty="0">
                <a:ln>
                  <a:noFill/>
                </a:ln>
                <a:solidFill>
                  <a:schemeClr val="tx1"/>
                </a:solidFill>
                <a:effectLst/>
                <a:latin typeface="Arial" panose="020B0604020202020204" pitchFamily="34" charset="0"/>
              </a:rPr>
              <a:t> </a:t>
            </a:r>
            <a:r>
              <a:rPr lang="en-US" altLang="en-US" sz="2800" b="1" dirty="0"/>
              <a:t>Use functions like .</a:t>
            </a:r>
            <a:r>
              <a:rPr lang="en-US" altLang="en-US" sz="2800" b="1" dirty="0" err="1"/>
              <a:t>isnull</a:t>
            </a:r>
            <a:r>
              <a:rPr lang="en-US" altLang="en-US" sz="2800" b="1" dirty="0"/>
              <a:t>().sum() in pandas to count missing values per column.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1797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920F7-8B5A-AF51-5BA9-6B953745DF7C}"/>
              </a:ext>
            </a:extLst>
          </p:cNvPr>
          <p:cNvSpPr>
            <a:spLocks noGrp="1"/>
          </p:cNvSpPr>
          <p:nvPr>
            <p:ph type="title"/>
          </p:nvPr>
        </p:nvSpPr>
        <p:spPr/>
        <p:txBody>
          <a:bodyPr/>
          <a:lstStyle/>
          <a:p>
            <a:r>
              <a:rPr lang="en-IN" dirty="0"/>
              <a:t>Handling Missing Data:</a:t>
            </a:r>
          </a:p>
        </p:txBody>
      </p:sp>
      <p:sp>
        <p:nvSpPr>
          <p:cNvPr id="3" name="Content Placeholder 2">
            <a:extLst>
              <a:ext uri="{FF2B5EF4-FFF2-40B4-BE49-F238E27FC236}">
                <a16:creationId xmlns:a16="http://schemas.microsoft.com/office/drawing/2014/main" id="{A1BBE53A-6DAC-F3D9-9C8D-D3B8B9D32AE6}"/>
              </a:ext>
            </a:extLst>
          </p:cNvPr>
          <p:cNvSpPr>
            <a:spLocks noGrp="1"/>
          </p:cNvSpPr>
          <p:nvPr>
            <p:ph sz="half" idx="2"/>
          </p:nvPr>
        </p:nvSpPr>
        <p:spPr>
          <a:xfrm>
            <a:off x="3639241" y="2892593"/>
            <a:ext cx="7965460" cy="3497698"/>
          </a:xfrm>
        </p:spPr>
        <p:txBody>
          <a:bodyPr/>
          <a:lstStyle/>
          <a:p>
            <a:r>
              <a:rPr lang="en-IN" sz="3200" b="1" dirty="0"/>
              <a:t>Removing Missing Data:</a:t>
            </a:r>
          </a:p>
          <a:p>
            <a:endParaRPr lang="en-US" sz="2000" b="1" dirty="0"/>
          </a:p>
          <a:p>
            <a:r>
              <a:rPr lang="en-US" sz="2000" b="1" dirty="0"/>
              <a:t>Dropping Rows:</a:t>
            </a:r>
            <a:r>
              <a:rPr lang="en-US" sz="2000" dirty="0"/>
              <a:t> Remove rows with missing data if the proportion of missing data is small.</a:t>
            </a:r>
          </a:p>
          <a:p>
            <a:endParaRPr lang="en-US" sz="2000" dirty="0"/>
          </a:p>
          <a:p>
            <a:r>
              <a:rPr lang="en-US" sz="2000" b="1" dirty="0"/>
              <a:t>Dropping Columns:</a:t>
            </a:r>
            <a:r>
              <a:rPr lang="en-US" sz="2000" dirty="0"/>
              <a:t> Remove columns with a high proportion of missing values, especially if they are not critical to the analysis.</a:t>
            </a:r>
          </a:p>
          <a:p>
            <a:r>
              <a:rPr lang="en-US" sz="2000" dirty="0"/>
              <a:t>Example- </a:t>
            </a:r>
            <a:r>
              <a:rPr lang="en-US" sz="2000" dirty="0" err="1"/>
              <a:t>df.dropna</a:t>
            </a:r>
            <a:r>
              <a:rPr lang="en-US" sz="2000" dirty="0"/>
              <a:t>()</a:t>
            </a:r>
          </a:p>
          <a:p>
            <a:endParaRPr lang="en-US" sz="2000"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7229166B-4DA3-5967-C05A-FDB6F84A461D}"/>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345458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F5C126-8396-BF91-AF1D-F3823455AE05}"/>
              </a:ext>
            </a:extLst>
          </p:cNvPr>
          <p:cNvSpPr>
            <a:spLocks noGrp="1"/>
          </p:cNvSpPr>
          <p:nvPr>
            <p:ph type="sldNum" sz="quarter" idx="12"/>
          </p:nvPr>
        </p:nvSpPr>
        <p:spPr/>
        <p:txBody>
          <a:bodyPr/>
          <a:lstStyle/>
          <a:p>
            <a:fld id="{48F63A3B-78C7-47BE-AE5E-E10140E04643}" type="slidenum">
              <a:rPr lang="en-US" smtClean="0"/>
              <a:pPr/>
              <a:t>25</a:t>
            </a:fld>
            <a:endParaRPr lang="en-US" dirty="0"/>
          </a:p>
        </p:txBody>
      </p:sp>
      <p:sp>
        <p:nvSpPr>
          <p:cNvPr id="4" name="TextBox 3">
            <a:extLst>
              <a:ext uri="{FF2B5EF4-FFF2-40B4-BE49-F238E27FC236}">
                <a16:creationId xmlns:a16="http://schemas.microsoft.com/office/drawing/2014/main" id="{249D1523-6DF3-3203-486D-1E524083A1A5}"/>
              </a:ext>
            </a:extLst>
          </p:cNvPr>
          <p:cNvSpPr txBox="1"/>
          <p:nvPr/>
        </p:nvSpPr>
        <p:spPr>
          <a:xfrm>
            <a:off x="1838960" y="457200"/>
            <a:ext cx="8412480" cy="6124754"/>
          </a:xfrm>
          <a:prstGeom prst="rect">
            <a:avLst/>
          </a:prstGeom>
          <a:noFill/>
        </p:spPr>
        <p:txBody>
          <a:bodyPr wrap="square">
            <a:spAutoFit/>
          </a:bodyPr>
          <a:lstStyle/>
          <a:p>
            <a:r>
              <a:rPr lang="en-IN" sz="2800" dirty="0">
                <a:solidFill>
                  <a:schemeClr val="accent6"/>
                </a:solidFill>
              </a:rPr>
              <a:t>import pandas as pd</a:t>
            </a:r>
          </a:p>
          <a:p>
            <a:r>
              <a:rPr lang="en-IN" sz="2800" dirty="0">
                <a:solidFill>
                  <a:schemeClr val="accent6"/>
                </a:solidFill>
              </a:rPr>
              <a:t>import </a:t>
            </a:r>
            <a:r>
              <a:rPr lang="en-IN" sz="2800" dirty="0" err="1">
                <a:solidFill>
                  <a:schemeClr val="accent6"/>
                </a:solidFill>
              </a:rPr>
              <a:t>numpy</a:t>
            </a:r>
            <a:r>
              <a:rPr lang="en-IN" sz="2800" dirty="0">
                <a:solidFill>
                  <a:schemeClr val="accent6"/>
                </a:solidFill>
              </a:rPr>
              <a:t> as np</a:t>
            </a:r>
          </a:p>
          <a:p>
            <a:r>
              <a:rPr lang="en-IN" sz="2800" dirty="0">
                <a:solidFill>
                  <a:schemeClr val="accent6"/>
                </a:solidFill>
              </a:rPr>
              <a:t>from </a:t>
            </a:r>
            <a:r>
              <a:rPr lang="en-IN" sz="2800" dirty="0" err="1">
                <a:solidFill>
                  <a:schemeClr val="accent6"/>
                </a:solidFill>
              </a:rPr>
              <a:t>sklearn.impute</a:t>
            </a:r>
            <a:r>
              <a:rPr lang="en-IN" sz="2800" dirty="0">
                <a:solidFill>
                  <a:schemeClr val="accent6"/>
                </a:solidFill>
              </a:rPr>
              <a:t> import </a:t>
            </a:r>
            <a:r>
              <a:rPr lang="en-IN" sz="2800" dirty="0" err="1">
                <a:solidFill>
                  <a:schemeClr val="accent6"/>
                </a:solidFill>
              </a:rPr>
              <a:t>SimpleImputer</a:t>
            </a:r>
            <a:endParaRPr lang="en-IN" sz="2800" dirty="0">
              <a:solidFill>
                <a:schemeClr val="accent6"/>
              </a:solidFill>
            </a:endParaRPr>
          </a:p>
          <a:p>
            <a:br>
              <a:rPr lang="en-IN" sz="2800" dirty="0">
                <a:solidFill>
                  <a:schemeClr val="accent6"/>
                </a:solidFill>
              </a:rPr>
            </a:br>
            <a:r>
              <a:rPr lang="en-IN" sz="2800" dirty="0">
                <a:solidFill>
                  <a:schemeClr val="accent6"/>
                </a:solidFill>
              </a:rPr>
              <a:t># Create a sample </a:t>
            </a:r>
            <a:r>
              <a:rPr lang="en-IN" sz="2800" dirty="0" err="1">
                <a:solidFill>
                  <a:schemeClr val="accent6"/>
                </a:solidFill>
              </a:rPr>
              <a:t>DataFrame</a:t>
            </a:r>
            <a:r>
              <a:rPr lang="en-IN" sz="2800" dirty="0">
                <a:solidFill>
                  <a:schemeClr val="accent6"/>
                </a:solidFill>
              </a:rPr>
              <a:t> with missing values</a:t>
            </a:r>
          </a:p>
          <a:p>
            <a:r>
              <a:rPr lang="en-IN" sz="2800" dirty="0">
                <a:solidFill>
                  <a:schemeClr val="accent6"/>
                </a:solidFill>
              </a:rPr>
              <a:t>data = {'Name': ['Alice', 'Bob', 'Charlie', 'David', 'Eve'],</a:t>
            </a:r>
          </a:p>
          <a:p>
            <a:r>
              <a:rPr lang="en-IN" sz="2800" dirty="0">
                <a:solidFill>
                  <a:schemeClr val="accent6"/>
                </a:solidFill>
              </a:rPr>
              <a:t>            'Age': [24, </a:t>
            </a:r>
            <a:r>
              <a:rPr lang="en-IN" sz="2800" dirty="0" err="1">
                <a:solidFill>
                  <a:schemeClr val="accent6"/>
                </a:solidFill>
              </a:rPr>
              <a:t>np.nan</a:t>
            </a:r>
            <a:r>
              <a:rPr lang="en-IN" sz="2800" dirty="0">
                <a:solidFill>
                  <a:schemeClr val="accent6"/>
                </a:solidFill>
              </a:rPr>
              <a:t>, 22, 30, </a:t>
            </a:r>
            <a:r>
              <a:rPr lang="en-IN" sz="2800" dirty="0" err="1">
                <a:solidFill>
                  <a:schemeClr val="accent6"/>
                </a:solidFill>
              </a:rPr>
              <a:t>np.nan</a:t>
            </a:r>
            <a:r>
              <a:rPr lang="en-IN" sz="2800" dirty="0">
                <a:solidFill>
                  <a:schemeClr val="accent6"/>
                </a:solidFill>
              </a:rPr>
              <a:t>],</a:t>
            </a:r>
          </a:p>
          <a:p>
            <a:r>
              <a:rPr lang="en-IN" sz="2800" dirty="0">
                <a:solidFill>
                  <a:schemeClr val="accent6"/>
                </a:solidFill>
              </a:rPr>
              <a:t>            'Salary': [50000, 54000, </a:t>
            </a:r>
            <a:r>
              <a:rPr lang="en-IN" sz="2800" dirty="0" err="1">
                <a:solidFill>
                  <a:schemeClr val="accent6"/>
                </a:solidFill>
              </a:rPr>
              <a:t>np.nan</a:t>
            </a:r>
            <a:r>
              <a:rPr lang="en-IN" sz="2800" dirty="0">
                <a:solidFill>
                  <a:schemeClr val="accent6"/>
                </a:solidFill>
              </a:rPr>
              <a:t>, 60000, 59000]}</a:t>
            </a:r>
          </a:p>
          <a:p>
            <a:br>
              <a:rPr lang="en-IN" sz="2800" dirty="0">
                <a:solidFill>
                  <a:schemeClr val="accent6"/>
                </a:solidFill>
              </a:rPr>
            </a:br>
            <a:r>
              <a:rPr lang="en-IN" sz="2800" dirty="0" err="1">
                <a:solidFill>
                  <a:schemeClr val="accent6"/>
                </a:solidFill>
              </a:rPr>
              <a:t>df</a:t>
            </a:r>
            <a:r>
              <a:rPr lang="en-IN" sz="2800" dirty="0">
                <a:solidFill>
                  <a:schemeClr val="accent6"/>
                </a:solidFill>
              </a:rPr>
              <a:t> = </a:t>
            </a:r>
            <a:r>
              <a:rPr lang="en-IN" sz="2800" dirty="0" err="1">
                <a:solidFill>
                  <a:schemeClr val="accent6"/>
                </a:solidFill>
              </a:rPr>
              <a:t>pd.DataFrame</a:t>
            </a:r>
            <a:r>
              <a:rPr lang="en-IN" sz="2800" dirty="0">
                <a:solidFill>
                  <a:schemeClr val="accent6"/>
                </a:solidFill>
              </a:rPr>
              <a:t>(data)</a:t>
            </a:r>
          </a:p>
          <a:p>
            <a:br>
              <a:rPr lang="en-IN" sz="2800" dirty="0">
                <a:solidFill>
                  <a:schemeClr val="accent6"/>
                </a:solidFill>
              </a:rPr>
            </a:br>
            <a:r>
              <a:rPr lang="en-IN" sz="2800" dirty="0">
                <a:solidFill>
                  <a:schemeClr val="accent6"/>
                </a:solidFill>
              </a:rPr>
              <a:t># Show the data with missing values</a:t>
            </a:r>
          </a:p>
          <a:p>
            <a:r>
              <a:rPr lang="en-IN" sz="2800" dirty="0">
                <a:solidFill>
                  <a:schemeClr val="accent6"/>
                </a:solidFill>
              </a:rPr>
              <a:t>print("Original Data:")</a:t>
            </a:r>
          </a:p>
          <a:p>
            <a:r>
              <a:rPr lang="en-IN" sz="2800" dirty="0">
                <a:solidFill>
                  <a:schemeClr val="accent6"/>
                </a:solidFill>
              </a:rPr>
              <a:t>print(</a:t>
            </a:r>
            <a:r>
              <a:rPr lang="en-IN" sz="2800" dirty="0" err="1">
                <a:solidFill>
                  <a:schemeClr val="accent6"/>
                </a:solidFill>
              </a:rPr>
              <a:t>df</a:t>
            </a:r>
            <a:r>
              <a:rPr lang="en-IN" sz="2800" dirty="0">
                <a:solidFill>
                  <a:schemeClr val="accent6"/>
                </a:solidFill>
              </a:rPr>
              <a:t>)</a:t>
            </a:r>
          </a:p>
        </p:txBody>
      </p:sp>
    </p:spTree>
    <p:extLst>
      <p:ext uri="{BB962C8B-B14F-4D97-AF65-F5344CB8AC3E}">
        <p14:creationId xmlns:p14="http://schemas.microsoft.com/office/powerpoint/2010/main" val="3201811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7C03-FF51-FAC2-4260-316413EF3633}"/>
              </a:ext>
            </a:extLst>
          </p:cNvPr>
          <p:cNvSpPr>
            <a:spLocks noGrp="1"/>
          </p:cNvSpPr>
          <p:nvPr>
            <p:ph type="title"/>
          </p:nvPr>
        </p:nvSpPr>
        <p:spPr/>
        <p:txBody>
          <a:bodyPr/>
          <a:lstStyle/>
          <a:p>
            <a:r>
              <a:rPr lang="en-US" dirty="0"/>
              <a:t>Output</a:t>
            </a:r>
            <a:endParaRPr lang="en-IN" dirty="0"/>
          </a:p>
        </p:txBody>
      </p:sp>
      <p:sp>
        <p:nvSpPr>
          <p:cNvPr id="4" name="Slide Number Placeholder 3">
            <a:extLst>
              <a:ext uri="{FF2B5EF4-FFF2-40B4-BE49-F238E27FC236}">
                <a16:creationId xmlns:a16="http://schemas.microsoft.com/office/drawing/2014/main" id="{6E62E8DB-8E3A-F048-21FB-A435CCB09386}"/>
              </a:ext>
            </a:extLst>
          </p:cNvPr>
          <p:cNvSpPr>
            <a:spLocks noGrp="1"/>
          </p:cNvSpPr>
          <p:nvPr>
            <p:ph type="sldNum" sz="quarter" idx="10"/>
          </p:nvPr>
        </p:nvSpPr>
        <p:spPr/>
        <p:txBody>
          <a:bodyPr/>
          <a:lstStyle/>
          <a:p>
            <a:fld id="{48F63A3B-78C7-47BE-AE5E-E10140E04643}" type="slidenum">
              <a:rPr lang="en-US" smtClean="0"/>
              <a:pPr/>
              <a:t>26</a:t>
            </a:fld>
            <a:endParaRPr lang="en-US" dirty="0"/>
          </a:p>
        </p:txBody>
      </p:sp>
      <p:pic>
        <p:nvPicPr>
          <p:cNvPr id="5" name="Content Placeholder 4">
            <a:extLst>
              <a:ext uri="{FF2B5EF4-FFF2-40B4-BE49-F238E27FC236}">
                <a16:creationId xmlns:a16="http://schemas.microsoft.com/office/drawing/2014/main" id="{02354DF4-61A6-AA3B-5821-46A5EEFB71B2}"/>
              </a:ext>
            </a:extLst>
          </p:cNvPr>
          <p:cNvPicPr>
            <a:picLocks noGrp="1" noChangeAspect="1"/>
          </p:cNvPicPr>
          <p:nvPr>
            <p:ph sz="quarter" idx="4"/>
          </p:nvPr>
        </p:nvPicPr>
        <p:blipFill rotWithShape="1">
          <a:blip r:embed="rId2"/>
          <a:srcRect l="6684" t="34329" r="71129" b="45701"/>
          <a:stretch/>
        </p:blipFill>
        <p:spPr bwMode="auto">
          <a:xfrm>
            <a:off x="1981201" y="2638602"/>
            <a:ext cx="6755878" cy="342045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60161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25C2FB-2F1A-BD72-DB1F-B8F29E3F016A}"/>
              </a:ext>
            </a:extLst>
          </p:cNvPr>
          <p:cNvSpPr>
            <a:spLocks noGrp="1"/>
          </p:cNvSpPr>
          <p:nvPr>
            <p:ph type="sldNum" sz="quarter" idx="12"/>
          </p:nvPr>
        </p:nvSpPr>
        <p:spPr/>
        <p:txBody>
          <a:bodyPr/>
          <a:lstStyle/>
          <a:p>
            <a:fld id="{48F63A3B-78C7-47BE-AE5E-E10140E04643}" type="slidenum">
              <a:rPr lang="en-US" smtClean="0"/>
              <a:pPr/>
              <a:t>27</a:t>
            </a:fld>
            <a:endParaRPr lang="en-US" dirty="0"/>
          </a:p>
        </p:txBody>
      </p:sp>
      <p:sp>
        <p:nvSpPr>
          <p:cNvPr id="4" name="TextBox 3">
            <a:extLst>
              <a:ext uri="{FF2B5EF4-FFF2-40B4-BE49-F238E27FC236}">
                <a16:creationId xmlns:a16="http://schemas.microsoft.com/office/drawing/2014/main" id="{475A2EA9-3EDB-657D-3F5D-9B52E6B4D084}"/>
              </a:ext>
            </a:extLst>
          </p:cNvPr>
          <p:cNvSpPr txBox="1"/>
          <p:nvPr/>
        </p:nvSpPr>
        <p:spPr>
          <a:xfrm>
            <a:off x="2621280" y="579120"/>
            <a:ext cx="8636000" cy="3939540"/>
          </a:xfrm>
          <a:prstGeom prst="rect">
            <a:avLst/>
          </a:prstGeom>
          <a:noFill/>
        </p:spPr>
        <p:txBody>
          <a:bodyPr wrap="square">
            <a:spAutoFit/>
          </a:bodyPr>
          <a:lstStyle/>
          <a:p>
            <a:r>
              <a:rPr lang="en-IN" sz="2800" dirty="0">
                <a:solidFill>
                  <a:schemeClr val="accent6"/>
                </a:solidFill>
              </a:rPr>
              <a:t># Option 1: Drop rows with missing values</a:t>
            </a:r>
          </a:p>
          <a:p>
            <a:endParaRPr lang="en-IN" sz="2800" dirty="0">
              <a:solidFill>
                <a:schemeClr val="accent6"/>
              </a:solidFill>
            </a:endParaRPr>
          </a:p>
          <a:p>
            <a:r>
              <a:rPr lang="en-IN" sz="2800" dirty="0" err="1">
                <a:solidFill>
                  <a:schemeClr val="accent6"/>
                </a:solidFill>
              </a:rPr>
              <a:t>df_dropped</a:t>
            </a:r>
            <a:r>
              <a:rPr lang="en-IN" sz="2800" dirty="0">
                <a:solidFill>
                  <a:schemeClr val="accent6"/>
                </a:solidFill>
              </a:rPr>
              <a:t> = </a:t>
            </a:r>
            <a:r>
              <a:rPr lang="en-IN" sz="2800" dirty="0" err="1">
                <a:solidFill>
                  <a:schemeClr val="accent6"/>
                </a:solidFill>
              </a:rPr>
              <a:t>df.dropna</a:t>
            </a:r>
            <a:r>
              <a:rPr lang="en-IN" sz="2800" dirty="0">
                <a:solidFill>
                  <a:schemeClr val="accent6"/>
                </a:solidFill>
              </a:rPr>
              <a:t>()</a:t>
            </a:r>
          </a:p>
          <a:p>
            <a:endParaRPr lang="en-IN" sz="2800" dirty="0">
              <a:solidFill>
                <a:schemeClr val="accent6"/>
              </a:solidFill>
            </a:endParaRPr>
          </a:p>
          <a:p>
            <a:r>
              <a:rPr lang="en-IN" sz="2800" dirty="0">
                <a:solidFill>
                  <a:schemeClr val="accent6"/>
                </a:solidFill>
              </a:rPr>
              <a:t>print("\</a:t>
            </a:r>
            <a:r>
              <a:rPr lang="en-IN" sz="2800" dirty="0" err="1">
                <a:solidFill>
                  <a:schemeClr val="accent6"/>
                </a:solidFill>
              </a:rPr>
              <a:t>nAfter</a:t>
            </a:r>
            <a:r>
              <a:rPr lang="en-IN" sz="2800" dirty="0">
                <a:solidFill>
                  <a:schemeClr val="accent6"/>
                </a:solidFill>
              </a:rPr>
              <a:t> Dropping Rows with Missing Values:")</a:t>
            </a:r>
          </a:p>
          <a:p>
            <a:endParaRPr lang="en-IN" sz="2800" dirty="0">
              <a:solidFill>
                <a:schemeClr val="accent6"/>
              </a:solidFill>
            </a:endParaRPr>
          </a:p>
          <a:p>
            <a:r>
              <a:rPr lang="en-IN" sz="2800" dirty="0">
                <a:solidFill>
                  <a:schemeClr val="accent6"/>
                </a:solidFill>
              </a:rPr>
              <a:t>print(</a:t>
            </a:r>
            <a:r>
              <a:rPr lang="en-IN" sz="2800" dirty="0" err="1">
                <a:solidFill>
                  <a:schemeClr val="accent6"/>
                </a:solidFill>
              </a:rPr>
              <a:t>df_dropped</a:t>
            </a:r>
            <a:r>
              <a:rPr lang="en-IN" sz="2800" dirty="0">
                <a:solidFill>
                  <a:schemeClr val="accent6"/>
                </a:solidFill>
              </a:rPr>
              <a:t>)</a:t>
            </a:r>
          </a:p>
          <a:p>
            <a:br>
              <a:rPr lang="en-IN" b="0" dirty="0">
                <a:solidFill>
                  <a:srgbClr val="000000"/>
                </a:solidFill>
                <a:effectLst/>
                <a:latin typeface="Courier New" panose="02070309020205020404" pitchFamily="49" charset="0"/>
              </a:rPr>
            </a:br>
            <a:endParaRPr lang="en-IN" b="0" dirty="0">
              <a:solidFill>
                <a:srgbClr val="000000"/>
              </a:solidFill>
              <a:effectLst/>
              <a:latin typeface="Courier New" panose="02070309020205020404" pitchFamily="49" charset="0"/>
            </a:endParaRPr>
          </a:p>
          <a:p>
            <a:r>
              <a:rPr lang="en-IN" dirty="0">
                <a:solidFill>
                  <a:srgbClr val="000000"/>
                </a:solidFill>
                <a:latin typeface="Courier New" panose="02070309020205020404" pitchFamily="49" charset="0"/>
              </a:rPr>
              <a:t>OUTPUT</a:t>
            </a:r>
            <a:endParaRPr lang="en-IN" b="0" dirty="0">
              <a:solidFill>
                <a:srgbClr val="000000"/>
              </a:solidFill>
              <a:effectLst/>
              <a:latin typeface="Courier New" panose="02070309020205020404" pitchFamily="49" charset="0"/>
            </a:endParaRPr>
          </a:p>
        </p:txBody>
      </p:sp>
      <p:pic>
        <p:nvPicPr>
          <p:cNvPr id="7" name="Picture 6">
            <a:extLst>
              <a:ext uri="{FF2B5EF4-FFF2-40B4-BE49-F238E27FC236}">
                <a16:creationId xmlns:a16="http://schemas.microsoft.com/office/drawing/2014/main" id="{4A7A187D-5745-719D-18B5-E96933CC7C9C}"/>
              </a:ext>
            </a:extLst>
          </p:cNvPr>
          <p:cNvPicPr>
            <a:picLocks noChangeAspect="1"/>
          </p:cNvPicPr>
          <p:nvPr/>
        </p:nvPicPr>
        <p:blipFill rotWithShape="1">
          <a:blip r:embed="rId2"/>
          <a:srcRect l="7334" t="40271" r="63888" b="45040"/>
          <a:stretch/>
        </p:blipFill>
        <p:spPr bwMode="auto">
          <a:xfrm>
            <a:off x="2165526" y="4444862"/>
            <a:ext cx="6671262" cy="19152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47422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2FBE-625F-7F52-823D-863A735920D7}"/>
              </a:ext>
            </a:extLst>
          </p:cNvPr>
          <p:cNvSpPr>
            <a:spLocks noGrp="1"/>
          </p:cNvSpPr>
          <p:nvPr>
            <p:ph type="title"/>
          </p:nvPr>
        </p:nvSpPr>
        <p:spPr/>
        <p:txBody>
          <a:bodyPr/>
          <a:lstStyle/>
          <a:p>
            <a:r>
              <a:rPr lang="en-US" dirty="0"/>
              <a:t>Drop column</a:t>
            </a:r>
            <a:endParaRPr lang="en-IN" dirty="0"/>
          </a:p>
        </p:txBody>
      </p:sp>
      <p:sp>
        <p:nvSpPr>
          <p:cNvPr id="3" name="Slide Number Placeholder 2">
            <a:extLst>
              <a:ext uri="{FF2B5EF4-FFF2-40B4-BE49-F238E27FC236}">
                <a16:creationId xmlns:a16="http://schemas.microsoft.com/office/drawing/2014/main" id="{46EB6509-30F8-1641-8DCD-89D9D16B104B}"/>
              </a:ext>
            </a:extLst>
          </p:cNvPr>
          <p:cNvSpPr>
            <a:spLocks noGrp="1"/>
          </p:cNvSpPr>
          <p:nvPr>
            <p:ph type="sldNum" sz="quarter" idx="12"/>
          </p:nvPr>
        </p:nvSpPr>
        <p:spPr/>
        <p:txBody>
          <a:bodyPr/>
          <a:lstStyle/>
          <a:p>
            <a:fld id="{48F63A3B-78C7-47BE-AE5E-E10140E04643}" type="slidenum">
              <a:rPr lang="en-US" smtClean="0"/>
              <a:pPr/>
              <a:t>28</a:t>
            </a:fld>
            <a:endParaRPr lang="en-US" dirty="0"/>
          </a:p>
        </p:txBody>
      </p:sp>
      <p:sp>
        <p:nvSpPr>
          <p:cNvPr id="5" name="TextBox 4">
            <a:extLst>
              <a:ext uri="{FF2B5EF4-FFF2-40B4-BE49-F238E27FC236}">
                <a16:creationId xmlns:a16="http://schemas.microsoft.com/office/drawing/2014/main" id="{272BD5FF-935C-F0EA-E644-5DD17629E26C}"/>
              </a:ext>
            </a:extLst>
          </p:cNvPr>
          <p:cNvSpPr txBox="1"/>
          <p:nvPr/>
        </p:nvSpPr>
        <p:spPr>
          <a:xfrm>
            <a:off x="2658872" y="2496701"/>
            <a:ext cx="7426960" cy="1384995"/>
          </a:xfrm>
          <a:prstGeom prst="rect">
            <a:avLst/>
          </a:prstGeom>
          <a:noFill/>
        </p:spPr>
        <p:txBody>
          <a:bodyPr wrap="square">
            <a:spAutoFit/>
          </a:bodyPr>
          <a:lstStyle/>
          <a:p>
            <a:r>
              <a:rPr lang="en-US" dirty="0"/>
              <a:t># </a:t>
            </a:r>
            <a:r>
              <a:rPr lang="en-US" sz="2800" dirty="0">
                <a:solidFill>
                  <a:schemeClr val="accent6"/>
                </a:solidFill>
              </a:rPr>
              <a:t>Drop the 'Salary' column </a:t>
            </a:r>
          </a:p>
          <a:p>
            <a:r>
              <a:rPr lang="en-US" sz="2800" dirty="0" err="1">
                <a:solidFill>
                  <a:schemeClr val="accent6"/>
                </a:solidFill>
              </a:rPr>
              <a:t>df_dropped</a:t>
            </a:r>
            <a:r>
              <a:rPr lang="en-US" sz="2800" dirty="0">
                <a:solidFill>
                  <a:schemeClr val="accent6"/>
                </a:solidFill>
              </a:rPr>
              <a:t> = </a:t>
            </a:r>
            <a:r>
              <a:rPr lang="en-US" sz="2800" dirty="0" err="1">
                <a:solidFill>
                  <a:schemeClr val="accent6"/>
                </a:solidFill>
              </a:rPr>
              <a:t>df.drop</a:t>
            </a:r>
            <a:r>
              <a:rPr lang="en-US" sz="2800" dirty="0">
                <a:solidFill>
                  <a:schemeClr val="accent6"/>
                </a:solidFill>
              </a:rPr>
              <a:t>('Salary', axis=1)</a:t>
            </a:r>
          </a:p>
          <a:p>
            <a:r>
              <a:rPr lang="en-IN" sz="2800" dirty="0">
                <a:solidFill>
                  <a:schemeClr val="accent6"/>
                </a:solidFill>
              </a:rPr>
              <a:t>print(</a:t>
            </a:r>
            <a:r>
              <a:rPr lang="en-IN" sz="2800" dirty="0" err="1">
                <a:solidFill>
                  <a:schemeClr val="accent6"/>
                </a:solidFill>
              </a:rPr>
              <a:t>df_dropped</a:t>
            </a:r>
            <a:r>
              <a:rPr lang="en-IN" sz="2800" dirty="0">
                <a:solidFill>
                  <a:schemeClr val="accent6"/>
                </a:solidFill>
              </a:rPr>
              <a:t>)</a:t>
            </a:r>
          </a:p>
        </p:txBody>
      </p:sp>
      <p:pic>
        <p:nvPicPr>
          <p:cNvPr id="6" name="Content Placeholder 4">
            <a:extLst>
              <a:ext uri="{FF2B5EF4-FFF2-40B4-BE49-F238E27FC236}">
                <a16:creationId xmlns:a16="http://schemas.microsoft.com/office/drawing/2014/main" id="{0167F983-11E5-E9BF-D3BD-21F8B2CB0A59}"/>
              </a:ext>
            </a:extLst>
          </p:cNvPr>
          <p:cNvPicPr>
            <a:picLocks noChangeAspect="1"/>
          </p:cNvPicPr>
          <p:nvPr/>
        </p:nvPicPr>
        <p:blipFill rotWithShape="1">
          <a:blip r:embed="rId2"/>
          <a:srcRect l="6684" t="38192" r="79319" b="45701"/>
          <a:stretch/>
        </p:blipFill>
        <p:spPr bwMode="auto">
          <a:xfrm>
            <a:off x="6583681" y="3869172"/>
            <a:ext cx="4261944" cy="275880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48010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9E3BF5-C855-6552-FD7D-5FB7B4E04AB4}"/>
              </a:ext>
            </a:extLst>
          </p:cNvPr>
          <p:cNvSpPr>
            <a:spLocks noGrp="1"/>
          </p:cNvSpPr>
          <p:nvPr>
            <p:ph type="sldNum" sz="quarter" idx="12"/>
          </p:nvPr>
        </p:nvSpPr>
        <p:spPr/>
        <p:txBody>
          <a:bodyPr/>
          <a:lstStyle/>
          <a:p>
            <a:fld id="{48F63A3B-78C7-47BE-AE5E-E10140E04643}" type="slidenum">
              <a:rPr lang="en-US" smtClean="0"/>
              <a:pPr/>
              <a:t>29</a:t>
            </a:fld>
            <a:endParaRPr lang="en-US" dirty="0"/>
          </a:p>
        </p:txBody>
      </p:sp>
      <p:sp>
        <p:nvSpPr>
          <p:cNvPr id="4" name="TextBox 3">
            <a:extLst>
              <a:ext uri="{FF2B5EF4-FFF2-40B4-BE49-F238E27FC236}">
                <a16:creationId xmlns:a16="http://schemas.microsoft.com/office/drawing/2014/main" id="{7CDC5955-9555-3787-7C3D-743A652DB48B}"/>
              </a:ext>
            </a:extLst>
          </p:cNvPr>
          <p:cNvSpPr txBox="1"/>
          <p:nvPr/>
        </p:nvSpPr>
        <p:spPr>
          <a:xfrm>
            <a:off x="985520" y="271701"/>
            <a:ext cx="11206480" cy="5109091"/>
          </a:xfrm>
          <a:prstGeom prst="rect">
            <a:avLst/>
          </a:prstGeom>
          <a:noFill/>
        </p:spPr>
        <p:txBody>
          <a:bodyPr wrap="square">
            <a:spAutoFit/>
          </a:bodyPr>
          <a:lstStyle/>
          <a:p>
            <a:br>
              <a:rPr lang="en-IN" b="0" dirty="0">
                <a:solidFill>
                  <a:srgbClr val="000000"/>
                </a:solidFill>
                <a:effectLst/>
                <a:latin typeface="Courier New" panose="02070309020205020404" pitchFamily="49" charset="0"/>
              </a:rPr>
            </a:br>
            <a:r>
              <a:rPr lang="en-IN" sz="2800" dirty="0">
                <a:solidFill>
                  <a:srgbClr val="00B0F0"/>
                </a:solidFill>
              </a:rPr>
              <a:t># Option 2: Fill missing values with a specific value (e.g., mean, median)</a:t>
            </a:r>
          </a:p>
          <a:p>
            <a:r>
              <a:rPr lang="en-IN" sz="2800" dirty="0">
                <a:solidFill>
                  <a:srgbClr val="00B0F0"/>
                </a:solidFill>
              </a:rPr>
              <a:t># Filling missing 'Age' with the mean value</a:t>
            </a:r>
          </a:p>
          <a:p>
            <a:endParaRPr lang="en-IN" sz="2800" dirty="0">
              <a:solidFill>
                <a:schemeClr val="accent6"/>
              </a:solidFill>
            </a:endParaRPr>
          </a:p>
          <a:p>
            <a:r>
              <a:rPr lang="en-IN" sz="2800" dirty="0" err="1">
                <a:solidFill>
                  <a:schemeClr val="accent6"/>
                </a:solidFill>
              </a:rPr>
              <a:t>df</a:t>
            </a:r>
            <a:r>
              <a:rPr lang="en-IN" sz="2800" dirty="0">
                <a:solidFill>
                  <a:schemeClr val="accent6"/>
                </a:solidFill>
              </a:rPr>
              <a:t>['</a:t>
            </a:r>
            <a:r>
              <a:rPr lang="en-IN" sz="2800" dirty="0" err="1">
                <a:solidFill>
                  <a:schemeClr val="accent6"/>
                </a:solidFill>
              </a:rPr>
              <a:t>Age_filled</a:t>
            </a:r>
            <a:r>
              <a:rPr lang="en-IN" sz="2800" dirty="0">
                <a:solidFill>
                  <a:schemeClr val="accent6"/>
                </a:solidFill>
              </a:rPr>
              <a:t>'] = </a:t>
            </a:r>
            <a:r>
              <a:rPr lang="en-IN" sz="2800" dirty="0" err="1">
                <a:solidFill>
                  <a:schemeClr val="accent6"/>
                </a:solidFill>
              </a:rPr>
              <a:t>df</a:t>
            </a:r>
            <a:r>
              <a:rPr lang="en-IN" sz="2800" dirty="0">
                <a:solidFill>
                  <a:schemeClr val="accent6"/>
                </a:solidFill>
              </a:rPr>
              <a:t>['Age'].</a:t>
            </a:r>
            <a:r>
              <a:rPr lang="en-IN" sz="2800" dirty="0" err="1">
                <a:solidFill>
                  <a:schemeClr val="accent6"/>
                </a:solidFill>
              </a:rPr>
              <a:t>fillna</a:t>
            </a:r>
            <a:r>
              <a:rPr lang="en-IN" sz="2800" dirty="0">
                <a:solidFill>
                  <a:schemeClr val="accent6"/>
                </a:solidFill>
              </a:rPr>
              <a:t>(</a:t>
            </a:r>
            <a:r>
              <a:rPr lang="en-IN" sz="2800" dirty="0" err="1">
                <a:solidFill>
                  <a:schemeClr val="accent6"/>
                </a:solidFill>
              </a:rPr>
              <a:t>df</a:t>
            </a:r>
            <a:r>
              <a:rPr lang="en-IN" sz="2800" dirty="0">
                <a:solidFill>
                  <a:schemeClr val="accent6"/>
                </a:solidFill>
              </a:rPr>
              <a:t>['Age'].mean())</a:t>
            </a:r>
          </a:p>
          <a:p>
            <a:endParaRPr lang="en-IN" sz="2800" dirty="0">
              <a:solidFill>
                <a:schemeClr val="accent6"/>
              </a:solidFill>
            </a:endParaRPr>
          </a:p>
          <a:p>
            <a:r>
              <a:rPr lang="en-IN" sz="2800" dirty="0">
                <a:solidFill>
                  <a:srgbClr val="00B0F0"/>
                </a:solidFill>
              </a:rPr>
              <a:t># Filling missing 'Salary' with the median value</a:t>
            </a:r>
          </a:p>
          <a:p>
            <a:endParaRPr lang="en-IN" sz="2800" dirty="0">
              <a:solidFill>
                <a:schemeClr val="accent6"/>
              </a:solidFill>
            </a:endParaRPr>
          </a:p>
          <a:p>
            <a:r>
              <a:rPr lang="en-IN" sz="2800" dirty="0" err="1">
                <a:solidFill>
                  <a:schemeClr val="accent6"/>
                </a:solidFill>
              </a:rPr>
              <a:t>df</a:t>
            </a:r>
            <a:r>
              <a:rPr lang="en-IN" sz="2800" dirty="0">
                <a:solidFill>
                  <a:schemeClr val="accent6"/>
                </a:solidFill>
              </a:rPr>
              <a:t>['</a:t>
            </a:r>
            <a:r>
              <a:rPr lang="en-IN" sz="2800" dirty="0" err="1">
                <a:solidFill>
                  <a:schemeClr val="accent6"/>
                </a:solidFill>
              </a:rPr>
              <a:t>Salary_filled</a:t>
            </a:r>
            <a:r>
              <a:rPr lang="en-IN" sz="2800" dirty="0">
                <a:solidFill>
                  <a:schemeClr val="accent6"/>
                </a:solidFill>
              </a:rPr>
              <a:t>'] = </a:t>
            </a:r>
            <a:r>
              <a:rPr lang="en-IN" sz="2800" dirty="0" err="1">
                <a:solidFill>
                  <a:schemeClr val="accent6"/>
                </a:solidFill>
              </a:rPr>
              <a:t>df</a:t>
            </a:r>
            <a:r>
              <a:rPr lang="en-IN" sz="2800" dirty="0">
                <a:solidFill>
                  <a:schemeClr val="accent6"/>
                </a:solidFill>
              </a:rPr>
              <a:t>['Salary'].</a:t>
            </a:r>
            <a:r>
              <a:rPr lang="en-IN" sz="2800" dirty="0" err="1">
                <a:solidFill>
                  <a:schemeClr val="accent6"/>
                </a:solidFill>
              </a:rPr>
              <a:t>fillna</a:t>
            </a:r>
            <a:r>
              <a:rPr lang="en-IN" sz="2800" dirty="0">
                <a:solidFill>
                  <a:schemeClr val="accent6"/>
                </a:solidFill>
              </a:rPr>
              <a:t>(</a:t>
            </a:r>
            <a:r>
              <a:rPr lang="en-IN" sz="2800" dirty="0" err="1">
                <a:solidFill>
                  <a:schemeClr val="accent6"/>
                </a:solidFill>
              </a:rPr>
              <a:t>df</a:t>
            </a:r>
            <a:r>
              <a:rPr lang="en-IN" sz="2800" dirty="0">
                <a:solidFill>
                  <a:schemeClr val="accent6"/>
                </a:solidFill>
              </a:rPr>
              <a:t>['Salary'].median())</a:t>
            </a:r>
          </a:p>
          <a:p>
            <a:br>
              <a:rPr lang="en-IN" sz="2800" dirty="0">
                <a:solidFill>
                  <a:schemeClr val="accent6"/>
                </a:solidFill>
              </a:rPr>
            </a:br>
            <a:r>
              <a:rPr lang="en-IN" sz="2800" dirty="0">
                <a:solidFill>
                  <a:schemeClr val="accent6"/>
                </a:solidFill>
              </a:rPr>
              <a:t>print("\</a:t>
            </a:r>
            <a:r>
              <a:rPr lang="en-IN" sz="2800" dirty="0" err="1">
                <a:solidFill>
                  <a:schemeClr val="accent6"/>
                </a:solidFill>
              </a:rPr>
              <a:t>nAfter</a:t>
            </a:r>
            <a:r>
              <a:rPr lang="en-IN" sz="2800" dirty="0">
                <a:solidFill>
                  <a:schemeClr val="accent6"/>
                </a:solidFill>
              </a:rPr>
              <a:t> Filling Missing Values:")</a:t>
            </a:r>
          </a:p>
          <a:p>
            <a:r>
              <a:rPr lang="en-IN" sz="2800" dirty="0">
                <a:solidFill>
                  <a:schemeClr val="accent6"/>
                </a:solidFill>
              </a:rPr>
              <a:t>print(</a:t>
            </a:r>
            <a:r>
              <a:rPr lang="en-IN" sz="2800" dirty="0" err="1">
                <a:solidFill>
                  <a:schemeClr val="accent6"/>
                </a:solidFill>
              </a:rPr>
              <a:t>df</a:t>
            </a:r>
            <a:r>
              <a:rPr lang="en-IN" sz="2800" dirty="0">
                <a:solidFill>
                  <a:schemeClr val="accent6"/>
                </a:solidFill>
              </a:rPr>
              <a:t>)</a:t>
            </a:r>
          </a:p>
        </p:txBody>
      </p:sp>
      <p:pic>
        <p:nvPicPr>
          <p:cNvPr id="5" name="Picture 4">
            <a:extLst>
              <a:ext uri="{FF2B5EF4-FFF2-40B4-BE49-F238E27FC236}">
                <a16:creationId xmlns:a16="http://schemas.microsoft.com/office/drawing/2014/main" id="{5BDE9F8F-4CA2-3F17-8247-B85190C1713A}"/>
              </a:ext>
            </a:extLst>
          </p:cNvPr>
          <p:cNvPicPr>
            <a:picLocks noChangeAspect="1"/>
          </p:cNvPicPr>
          <p:nvPr/>
        </p:nvPicPr>
        <p:blipFill rotWithShape="1">
          <a:blip r:embed="rId2"/>
          <a:srcRect l="7705" t="53639" r="49963" b="24905"/>
          <a:stretch/>
        </p:blipFill>
        <p:spPr bwMode="auto">
          <a:xfrm>
            <a:off x="4413113" y="4846320"/>
            <a:ext cx="7880487" cy="22466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32109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C713C-BB4B-A496-9BA5-368264769DD5}"/>
              </a:ext>
            </a:extLst>
          </p:cNvPr>
          <p:cNvSpPr>
            <a:spLocks noGrp="1"/>
          </p:cNvSpPr>
          <p:nvPr>
            <p:ph type="title"/>
          </p:nvPr>
        </p:nvSpPr>
        <p:spPr>
          <a:xfrm>
            <a:off x="1093075" y="457199"/>
            <a:ext cx="6583680" cy="1531357"/>
          </a:xfrm>
        </p:spPr>
        <p:txBody>
          <a:bodyPr/>
          <a:lstStyle/>
          <a:p>
            <a:r>
              <a:rPr lang="en-US" altLang="en-US" dirty="0">
                <a:cs typeface="Arial" panose="020B0604020202020204" pitchFamily="34" charset="0"/>
              </a:rPr>
              <a:t>Imputation:</a:t>
            </a:r>
            <a:endParaRPr lang="en-IN" dirty="0">
              <a:cs typeface="Arial" panose="020B0604020202020204" pitchFamily="34" charset="0"/>
            </a:endParaRPr>
          </a:p>
        </p:txBody>
      </p:sp>
      <p:sp>
        <p:nvSpPr>
          <p:cNvPr id="4" name="Slide Number Placeholder 3">
            <a:extLst>
              <a:ext uri="{FF2B5EF4-FFF2-40B4-BE49-F238E27FC236}">
                <a16:creationId xmlns:a16="http://schemas.microsoft.com/office/drawing/2014/main" id="{1837263A-E9D7-5B35-1D29-E9351849FE7B}"/>
              </a:ext>
            </a:extLst>
          </p:cNvPr>
          <p:cNvSpPr>
            <a:spLocks noGrp="1"/>
          </p:cNvSpPr>
          <p:nvPr>
            <p:ph type="sldNum" sz="quarter" idx="10"/>
          </p:nvPr>
        </p:nvSpPr>
        <p:spPr/>
        <p:txBody>
          <a:bodyPr/>
          <a:lstStyle/>
          <a:p>
            <a:fld id="{48F63A3B-78C7-47BE-AE5E-E10140E04643}" type="slidenum">
              <a:rPr lang="en-US" smtClean="0"/>
              <a:pPr/>
              <a:t>30</a:t>
            </a:fld>
            <a:endParaRPr lang="en-US" dirty="0"/>
          </a:p>
        </p:txBody>
      </p:sp>
      <p:sp>
        <p:nvSpPr>
          <p:cNvPr id="5" name="Rectangle 1">
            <a:extLst>
              <a:ext uri="{FF2B5EF4-FFF2-40B4-BE49-F238E27FC236}">
                <a16:creationId xmlns:a16="http://schemas.microsoft.com/office/drawing/2014/main" id="{D10393F0-F66D-4219-E03B-AA2AD3CB14A8}"/>
              </a:ext>
            </a:extLst>
          </p:cNvPr>
          <p:cNvSpPr>
            <a:spLocks noGrp="1" noChangeArrowheads="1"/>
          </p:cNvSpPr>
          <p:nvPr>
            <p:ph idx="1"/>
          </p:nvPr>
        </p:nvSpPr>
        <p:spPr bwMode="auto">
          <a:xfrm>
            <a:off x="914400" y="2160767"/>
            <a:ext cx="8282152"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Mean/Median/Mode Imputation</a:t>
            </a:r>
            <a:r>
              <a:rPr lang="en-US" altLang="en-US" sz="2000" dirty="0"/>
              <a:t>: Replace missing values with the mean, median, or mode of the column. This is simple but can introduce bias.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Forward/Backward Fill</a:t>
            </a:r>
            <a:r>
              <a:rPr lang="en-US" altLang="en-US" sz="2000" dirty="0"/>
              <a:t>: Fill missing values using the previous (forward fill) or next (backward fill) values. This is useful for time-series data.</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Interpolation</a:t>
            </a:r>
            <a:r>
              <a:rPr lang="en-US" altLang="en-US" sz="2000" dirty="0"/>
              <a:t>: Estimate missing values by interpolating between existing values.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t>Example: 	</a:t>
            </a:r>
            <a:r>
              <a:rPr lang="en-US" altLang="en-US" sz="2000" dirty="0" err="1"/>
              <a:t>df.fillna</a:t>
            </a:r>
            <a:r>
              <a:rPr lang="en-US" altLang="en-US" sz="2000" dirty="0"/>
              <a:t>(</a:t>
            </a:r>
            <a:r>
              <a:rPr lang="en-US" altLang="en-US" sz="2000" dirty="0" err="1"/>
              <a:t>df.mean</a:t>
            </a:r>
            <a:r>
              <a:rPr lang="en-US" altLang="en-US" sz="2000" dirty="0"/>
              <a:t>())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t>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t>in pandas to fill missing values with the mean.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25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8FADC3-22A4-3201-219D-7105952374DB}"/>
              </a:ext>
            </a:extLst>
          </p:cNvPr>
          <p:cNvSpPr>
            <a:spLocks noGrp="1"/>
          </p:cNvSpPr>
          <p:nvPr>
            <p:ph type="sldNum" sz="quarter" idx="12"/>
          </p:nvPr>
        </p:nvSpPr>
        <p:spPr/>
        <p:txBody>
          <a:bodyPr/>
          <a:lstStyle/>
          <a:p>
            <a:fld id="{48F63A3B-78C7-47BE-AE5E-E10140E04643}" type="slidenum">
              <a:rPr lang="en-US" smtClean="0"/>
              <a:pPr/>
              <a:t>31</a:t>
            </a:fld>
            <a:endParaRPr lang="en-US" dirty="0"/>
          </a:p>
        </p:txBody>
      </p:sp>
      <p:pic>
        <p:nvPicPr>
          <p:cNvPr id="3" name="Picture 2">
            <a:extLst>
              <a:ext uri="{FF2B5EF4-FFF2-40B4-BE49-F238E27FC236}">
                <a16:creationId xmlns:a16="http://schemas.microsoft.com/office/drawing/2014/main" id="{8E02EFE5-2467-5597-5BEE-7F8F5E88849B}"/>
              </a:ext>
            </a:extLst>
          </p:cNvPr>
          <p:cNvPicPr>
            <a:picLocks noChangeAspect="1"/>
          </p:cNvPicPr>
          <p:nvPr/>
        </p:nvPicPr>
        <p:blipFill rotWithShape="1">
          <a:blip r:embed="rId2"/>
          <a:srcRect l="8448" t="53804" r="36966" b="11372"/>
          <a:stretch/>
        </p:blipFill>
        <p:spPr bwMode="auto">
          <a:xfrm>
            <a:off x="765973" y="701702"/>
            <a:ext cx="11634870" cy="417509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286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75DC76-84B9-99FC-DEEC-BB1F7A8D8F4A}"/>
              </a:ext>
            </a:extLst>
          </p:cNvPr>
          <p:cNvSpPr>
            <a:spLocks noGrp="1"/>
          </p:cNvSpPr>
          <p:nvPr>
            <p:ph type="sldNum" sz="quarter" idx="12"/>
          </p:nvPr>
        </p:nvSpPr>
        <p:spPr/>
        <p:txBody>
          <a:bodyPr/>
          <a:lstStyle/>
          <a:p>
            <a:fld id="{48F63A3B-78C7-47BE-AE5E-E10140E04643}" type="slidenum">
              <a:rPr lang="en-US" smtClean="0"/>
              <a:pPr/>
              <a:t>32</a:t>
            </a:fld>
            <a:endParaRPr lang="en-US" dirty="0"/>
          </a:p>
        </p:txBody>
      </p:sp>
      <p:pic>
        <p:nvPicPr>
          <p:cNvPr id="3" name="Picture 2">
            <a:extLst>
              <a:ext uri="{FF2B5EF4-FFF2-40B4-BE49-F238E27FC236}">
                <a16:creationId xmlns:a16="http://schemas.microsoft.com/office/drawing/2014/main" id="{67F7E718-D050-DE1D-619B-A9ADE3EBF6FB}"/>
              </a:ext>
            </a:extLst>
          </p:cNvPr>
          <p:cNvPicPr>
            <a:picLocks noChangeAspect="1"/>
          </p:cNvPicPr>
          <p:nvPr/>
        </p:nvPicPr>
        <p:blipFill rotWithShape="1">
          <a:blip r:embed="rId2"/>
          <a:srcRect l="6405" t="36145" r="42815" b="21934"/>
          <a:stretch/>
        </p:blipFill>
        <p:spPr bwMode="auto">
          <a:xfrm>
            <a:off x="571300" y="863600"/>
            <a:ext cx="8511320" cy="39522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04139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928688"/>
            <a:ext cx="9875463" cy="1128332"/>
          </a:xfrm>
        </p:spPr>
        <p:txBody>
          <a:bodyPr/>
          <a:lstStyle/>
          <a:p>
            <a:r>
              <a:rPr lang="en-US" dirty="0"/>
              <a:t>Data Visualization using Matplotlib, Seaborn</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2303028"/>
            <a:ext cx="5829147" cy="3961593"/>
          </a:xfrm>
        </p:spPr>
        <p:txBody>
          <a:bodyPr>
            <a:normAutofit/>
          </a:bodyPr>
          <a:lstStyle/>
          <a:p>
            <a:r>
              <a:rPr lang="en-US" dirty="0"/>
              <a:t>Line plot</a:t>
            </a:r>
          </a:p>
          <a:p>
            <a:r>
              <a:rPr lang="en-US" dirty="0"/>
              <a:t>Scatter Plot</a:t>
            </a:r>
          </a:p>
          <a:p>
            <a:r>
              <a:rPr lang="en-US" dirty="0"/>
              <a:t>Heat Map</a:t>
            </a:r>
          </a:p>
          <a:p>
            <a:r>
              <a:rPr lang="en-US" dirty="0"/>
              <a:t>Box plot</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30799-0A36-5BC4-6940-072790ACC53A}"/>
              </a:ext>
            </a:extLst>
          </p:cNvPr>
          <p:cNvSpPr>
            <a:spLocks noGrp="1"/>
          </p:cNvSpPr>
          <p:nvPr>
            <p:ph type="title"/>
          </p:nvPr>
        </p:nvSpPr>
        <p:spPr>
          <a:xfrm>
            <a:off x="882396" y="1727200"/>
            <a:ext cx="10671048" cy="2875280"/>
          </a:xfrm>
        </p:spPr>
        <p:txBody>
          <a:bodyPr/>
          <a:lstStyle/>
          <a:p>
            <a:r>
              <a:rPr lang="en-US" dirty="0"/>
              <a:t>Normalization </a:t>
            </a:r>
            <a:br>
              <a:rPr lang="en-US" dirty="0"/>
            </a:br>
            <a:r>
              <a:rPr lang="en-US" dirty="0"/>
              <a:t>and </a:t>
            </a:r>
            <a:br>
              <a:rPr lang="en-US" dirty="0"/>
            </a:br>
            <a:r>
              <a:rPr lang="en-US" dirty="0"/>
              <a:t>standardization</a:t>
            </a:r>
            <a:endParaRPr lang="en-IN" dirty="0"/>
          </a:p>
        </p:txBody>
      </p:sp>
      <p:sp>
        <p:nvSpPr>
          <p:cNvPr id="3" name="Slide Number Placeholder 2">
            <a:extLst>
              <a:ext uri="{FF2B5EF4-FFF2-40B4-BE49-F238E27FC236}">
                <a16:creationId xmlns:a16="http://schemas.microsoft.com/office/drawing/2014/main" id="{000AE1FF-1509-0E17-DC88-16F77C469DF8}"/>
              </a:ext>
            </a:extLst>
          </p:cNvPr>
          <p:cNvSpPr>
            <a:spLocks noGrp="1"/>
          </p:cNvSpPr>
          <p:nvPr>
            <p:ph type="sldNum" sz="quarter" idx="12"/>
          </p:nvPr>
        </p:nvSpPr>
        <p:spPr/>
        <p:txBody>
          <a:bodyPr/>
          <a:lstStyle/>
          <a:p>
            <a:fld id="{48F63A3B-78C7-47BE-AE5E-E10140E04643}" type="slidenum">
              <a:rPr lang="en-US" smtClean="0"/>
              <a:pPr/>
              <a:t>34</a:t>
            </a:fld>
            <a:endParaRPr lang="en-US" dirty="0"/>
          </a:p>
        </p:txBody>
      </p:sp>
    </p:spTree>
    <p:extLst>
      <p:ext uri="{BB962C8B-B14F-4D97-AF65-F5344CB8AC3E}">
        <p14:creationId xmlns:p14="http://schemas.microsoft.com/office/powerpoint/2010/main" val="3315759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011046-9B0E-FC4E-40AF-6DC129545745}"/>
              </a:ext>
            </a:extLst>
          </p:cNvPr>
          <p:cNvSpPr>
            <a:spLocks noGrp="1"/>
          </p:cNvSpPr>
          <p:nvPr>
            <p:ph type="sldNum" sz="quarter" idx="12"/>
          </p:nvPr>
        </p:nvSpPr>
        <p:spPr/>
        <p:txBody>
          <a:bodyPr/>
          <a:lstStyle/>
          <a:p>
            <a:fld id="{48F63A3B-78C7-47BE-AE5E-E10140E04643}" type="slidenum">
              <a:rPr lang="en-US" smtClean="0"/>
              <a:pPr/>
              <a:t>35</a:t>
            </a:fld>
            <a:endParaRPr lang="en-US" dirty="0"/>
          </a:p>
        </p:txBody>
      </p:sp>
      <p:sp>
        <p:nvSpPr>
          <p:cNvPr id="4" name="TextBox 3">
            <a:extLst>
              <a:ext uri="{FF2B5EF4-FFF2-40B4-BE49-F238E27FC236}">
                <a16:creationId xmlns:a16="http://schemas.microsoft.com/office/drawing/2014/main" id="{04EFC8D4-56D9-276E-84BA-D723174CB190}"/>
              </a:ext>
            </a:extLst>
          </p:cNvPr>
          <p:cNvSpPr txBox="1"/>
          <p:nvPr/>
        </p:nvSpPr>
        <p:spPr>
          <a:xfrm>
            <a:off x="765973" y="268417"/>
            <a:ext cx="10897707" cy="5693866"/>
          </a:xfrm>
          <a:prstGeom prst="rect">
            <a:avLst/>
          </a:prstGeom>
          <a:noFill/>
        </p:spPr>
        <p:txBody>
          <a:bodyPr wrap="square">
            <a:spAutoFit/>
          </a:bodyPr>
          <a:lstStyle/>
          <a:p>
            <a:r>
              <a:rPr lang="en-IN" sz="2800" dirty="0">
                <a:solidFill>
                  <a:schemeClr val="accent6"/>
                </a:solidFill>
              </a:rPr>
              <a:t>import pandas as pd</a:t>
            </a:r>
          </a:p>
          <a:p>
            <a:r>
              <a:rPr lang="en-IN" sz="2800" dirty="0">
                <a:solidFill>
                  <a:schemeClr val="accent6"/>
                </a:solidFill>
              </a:rPr>
              <a:t>import </a:t>
            </a:r>
            <a:r>
              <a:rPr lang="en-IN" sz="2800" dirty="0" err="1">
                <a:solidFill>
                  <a:schemeClr val="accent6"/>
                </a:solidFill>
              </a:rPr>
              <a:t>numpy</a:t>
            </a:r>
            <a:r>
              <a:rPr lang="en-IN" sz="2800" dirty="0">
                <a:solidFill>
                  <a:schemeClr val="accent6"/>
                </a:solidFill>
              </a:rPr>
              <a:t> as np</a:t>
            </a:r>
          </a:p>
          <a:p>
            <a:r>
              <a:rPr lang="en-IN" sz="2800" dirty="0">
                <a:solidFill>
                  <a:schemeClr val="accent6"/>
                </a:solidFill>
              </a:rPr>
              <a:t>from </a:t>
            </a:r>
            <a:r>
              <a:rPr lang="en-IN" sz="2800" dirty="0" err="1">
                <a:solidFill>
                  <a:schemeClr val="accent6"/>
                </a:solidFill>
              </a:rPr>
              <a:t>sklearn.preprocessing</a:t>
            </a:r>
            <a:r>
              <a:rPr lang="en-IN" sz="2800" dirty="0">
                <a:solidFill>
                  <a:schemeClr val="accent6"/>
                </a:solidFill>
              </a:rPr>
              <a:t> import </a:t>
            </a:r>
            <a:r>
              <a:rPr lang="en-IN" sz="2800" dirty="0" err="1">
                <a:solidFill>
                  <a:schemeClr val="accent6"/>
                </a:solidFill>
              </a:rPr>
              <a:t>MinMaxScaler</a:t>
            </a:r>
            <a:r>
              <a:rPr lang="en-IN" sz="2800" dirty="0">
                <a:solidFill>
                  <a:schemeClr val="accent6"/>
                </a:solidFill>
              </a:rPr>
              <a:t>, </a:t>
            </a:r>
            <a:r>
              <a:rPr lang="en-IN" sz="2800" dirty="0" err="1">
                <a:solidFill>
                  <a:schemeClr val="accent6"/>
                </a:solidFill>
              </a:rPr>
              <a:t>StandardScaler</a:t>
            </a:r>
            <a:endParaRPr lang="en-IN" sz="2800" dirty="0">
              <a:solidFill>
                <a:schemeClr val="accent6"/>
              </a:solidFill>
            </a:endParaRPr>
          </a:p>
          <a:p>
            <a:endParaRPr lang="en-IN" sz="2800" dirty="0">
              <a:solidFill>
                <a:schemeClr val="accent6"/>
              </a:solidFill>
            </a:endParaRPr>
          </a:p>
          <a:p>
            <a:r>
              <a:rPr lang="en-IN" sz="2800" dirty="0">
                <a:solidFill>
                  <a:schemeClr val="accent6"/>
                </a:solidFill>
              </a:rPr>
              <a:t># Sample dataset</a:t>
            </a:r>
          </a:p>
          <a:p>
            <a:r>
              <a:rPr lang="en-IN" sz="2800" dirty="0">
                <a:solidFill>
                  <a:schemeClr val="accent6"/>
                </a:solidFill>
              </a:rPr>
              <a:t>data = {'Age': [25, 30, 22, 35, 28],</a:t>
            </a:r>
          </a:p>
          <a:p>
            <a:r>
              <a:rPr lang="en-IN" sz="2800" dirty="0">
                <a:solidFill>
                  <a:schemeClr val="accent6"/>
                </a:solidFill>
              </a:rPr>
              <a:t>        'Salary': [50000, 60000, 52000, 80000, 55000]}</a:t>
            </a:r>
          </a:p>
          <a:p>
            <a:endParaRPr lang="en-IN" sz="2800" dirty="0">
              <a:solidFill>
                <a:schemeClr val="accent6"/>
              </a:solidFill>
            </a:endParaRPr>
          </a:p>
          <a:p>
            <a:r>
              <a:rPr lang="en-IN" sz="2800" dirty="0" err="1">
                <a:solidFill>
                  <a:schemeClr val="accent6"/>
                </a:solidFill>
              </a:rPr>
              <a:t>df</a:t>
            </a:r>
            <a:r>
              <a:rPr lang="en-IN" sz="2800" dirty="0">
                <a:solidFill>
                  <a:schemeClr val="accent6"/>
                </a:solidFill>
              </a:rPr>
              <a:t> = </a:t>
            </a:r>
            <a:r>
              <a:rPr lang="en-IN" sz="2800" dirty="0" err="1">
                <a:solidFill>
                  <a:schemeClr val="accent6"/>
                </a:solidFill>
              </a:rPr>
              <a:t>pd.DataFrame</a:t>
            </a:r>
            <a:r>
              <a:rPr lang="en-IN" sz="2800" dirty="0">
                <a:solidFill>
                  <a:schemeClr val="accent6"/>
                </a:solidFill>
              </a:rPr>
              <a:t>(data)</a:t>
            </a:r>
          </a:p>
          <a:p>
            <a:endParaRPr lang="en-IN" sz="2800" dirty="0">
              <a:solidFill>
                <a:schemeClr val="accent6"/>
              </a:solidFill>
            </a:endParaRPr>
          </a:p>
          <a:p>
            <a:r>
              <a:rPr lang="en-IN" sz="2800" dirty="0">
                <a:solidFill>
                  <a:schemeClr val="accent6"/>
                </a:solidFill>
              </a:rPr>
              <a:t># Display original data</a:t>
            </a:r>
          </a:p>
          <a:p>
            <a:r>
              <a:rPr lang="en-IN" sz="2800" dirty="0">
                <a:solidFill>
                  <a:schemeClr val="accent6"/>
                </a:solidFill>
              </a:rPr>
              <a:t>print("Original Data:")</a:t>
            </a:r>
          </a:p>
          <a:p>
            <a:r>
              <a:rPr lang="en-IN" sz="2800" dirty="0">
                <a:solidFill>
                  <a:schemeClr val="accent6"/>
                </a:solidFill>
              </a:rPr>
              <a:t>print(</a:t>
            </a:r>
            <a:r>
              <a:rPr lang="en-IN" sz="2800" dirty="0" err="1">
                <a:solidFill>
                  <a:schemeClr val="accent6"/>
                </a:solidFill>
              </a:rPr>
              <a:t>df</a:t>
            </a:r>
            <a:r>
              <a:rPr lang="en-IN" sz="2800" dirty="0">
                <a:solidFill>
                  <a:schemeClr val="accent6"/>
                </a:solidFill>
              </a:rPr>
              <a:t>)</a:t>
            </a:r>
          </a:p>
        </p:txBody>
      </p:sp>
      <p:sp>
        <p:nvSpPr>
          <p:cNvPr id="6" name="TextBox 5">
            <a:extLst>
              <a:ext uri="{FF2B5EF4-FFF2-40B4-BE49-F238E27FC236}">
                <a16:creationId xmlns:a16="http://schemas.microsoft.com/office/drawing/2014/main" id="{78B5385D-6C57-543C-9B20-B884D6A9C415}"/>
              </a:ext>
            </a:extLst>
          </p:cNvPr>
          <p:cNvSpPr txBox="1"/>
          <p:nvPr/>
        </p:nvSpPr>
        <p:spPr>
          <a:xfrm>
            <a:off x="6824426" y="4299357"/>
            <a:ext cx="2827574" cy="2308324"/>
          </a:xfrm>
          <a:prstGeom prst="rect">
            <a:avLst/>
          </a:prstGeom>
          <a:noFill/>
        </p:spPr>
        <p:txBody>
          <a:bodyPr wrap="square">
            <a:spAutoFit/>
          </a:bodyPr>
          <a:lstStyle/>
          <a:p>
            <a:r>
              <a:rPr lang="en-IN" dirty="0"/>
              <a:t> </a:t>
            </a:r>
            <a:r>
              <a:rPr lang="en-IN" dirty="0">
                <a:solidFill>
                  <a:srgbClr val="00B0F0"/>
                </a:solidFill>
              </a:rPr>
              <a:t>OUTPUT</a:t>
            </a:r>
          </a:p>
          <a:p>
            <a:endParaRPr lang="en-IN" dirty="0">
              <a:solidFill>
                <a:srgbClr val="00B0F0"/>
              </a:solidFill>
            </a:endParaRPr>
          </a:p>
          <a:p>
            <a:r>
              <a:rPr lang="en-IN" dirty="0">
                <a:solidFill>
                  <a:srgbClr val="00B0F0"/>
                </a:solidFill>
              </a:rPr>
              <a:t>Age  Salary</a:t>
            </a:r>
          </a:p>
          <a:p>
            <a:r>
              <a:rPr lang="en-IN" dirty="0">
                <a:solidFill>
                  <a:srgbClr val="00B0F0"/>
                </a:solidFill>
              </a:rPr>
              <a:t>0   25   50000</a:t>
            </a:r>
          </a:p>
          <a:p>
            <a:r>
              <a:rPr lang="en-IN" dirty="0">
                <a:solidFill>
                  <a:srgbClr val="00B0F0"/>
                </a:solidFill>
              </a:rPr>
              <a:t>1   30   60000</a:t>
            </a:r>
          </a:p>
          <a:p>
            <a:r>
              <a:rPr lang="en-IN" dirty="0">
                <a:solidFill>
                  <a:srgbClr val="00B0F0"/>
                </a:solidFill>
              </a:rPr>
              <a:t>2   22   52000</a:t>
            </a:r>
          </a:p>
          <a:p>
            <a:r>
              <a:rPr lang="en-IN" dirty="0">
                <a:solidFill>
                  <a:srgbClr val="00B0F0"/>
                </a:solidFill>
              </a:rPr>
              <a:t>3   35   80000</a:t>
            </a:r>
          </a:p>
          <a:p>
            <a:r>
              <a:rPr lang="en-IN" dirty="0">
                <a:solidFill>
                  <a:srgbClr val="00B0F0"/>
                </a:solidFill>
              </a:rPr>
              <a:t>4   28   55000</a:t>
            </a:r>
          </a:p>
        </p:txBody>
      </p:sp>
    </p:spTree>
    <p:extLst>
      <p:ext uri="{BB962C8B-B14F-4D97-AF65-F5344CB8AC3E}">
        <p14:creationId xmlns:p14="http://schemas.microsoft.com/office/powerpoint/2010/main" val="3005531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84B7E9-200D-A6FF-975C-0C172A6618A0}"/>
              </a:ext>
            </a:extLst>
          </p:cNvPr>
          <p:cNvSpPr>
            <a:spLocks noGrp="1"/>
          </p:cNvSpPr>
          <p:nvPr>
            <p:ph type="sldNum" sz="quarter" idx="12"/>
          </p:nvPr>
        </p:nvSpPr>
        <p:spPr/>
        <p:txBody>
          <a:bodyPr/>
          <a:lstStyle/>
          <a:p>
            <a:fld id="{48F63A3B-78C7-47BE-AE5E-E10140E04643}" type="slidenum">
              <a:rPr lang="en-US" smtClean="0"/>
              <a:pPr/>
              <a:t>36</a:t>
            </a:fld>
            <a:endParaRPr lang="en-US" dirty="0"/>
          </a:p>
        </p:txBody>
      </p:sp>
      <p:sp>
        <p:nvSpPr>
          <p:cNvPr id="4" name="TextBox 3">
            <a:extLst>
              <a:ext uri="{FF2B5EF4-FFF2-40B4-BE49-F238E27FC236}">
                <a16:creationId xmlns:a16="http://schemas.microsoft.com/office/drawing/2014/main" id="{D7460798-AFA8-FE50-57DB-8A1BF2042CA0}"/>
              </a:ext>
            </a:extLst>
          </p:cNvPr>
          <p:cNvSpPr txBox="1"/>
          <p:nvPr/>
        </p:nvSpPr>
        <p:spPr>
          <a:xfrm>
            <a:off x="650240" y="889844"/>
            <a:ext cx="11612880" cy="6124754"/>
          </a:xfrm>
          <a:prstGeom prst="rect">
            <a:avLst/>
          </a:prstGeom>
          <a:noFill/>
        </p:spPr>
        <p:txBody>
          <a:bodyPr wrap="square">
            <a:spAutoFit/>
          </a:bodyPr>
          <a:lstStyle/>
          <a:p>
            <a:endParaRPr lang="en-IN" sz="2800" dirty="0">
              <a:solidFill>
                <a:schemeClr val="accent6"/>
              </a:solidFill>
            </a:endParaRPr>
          </a:p>
          <a:p>
            <a:r>
              <a:rPr lang="en-IN" sz="2800" dirty="0">
                <a:solidFill>
                  <a:schemeClr val="accent6"/>
                </a:solidFill>
              </a:rPr>
              <a:t># === Normalization using </a:t>
            </a:r>
            <a:r>
              <a:rPr lang="en-IN" sz="2800" dirty="0" err="1">
                <a:solidFill>
                  <a:schemeClr val="accent6"/>
                </a:solidFill>
              </a:rPr>
              <a:t>MinMaxScaler</a:t>
            </a:r>
            <a:r>
              <a:rPr lang="en-IN" sz="2800" dirty="0">
                <a:solidFill>
                  <a:schemeClr val="accent6"/>
                </a:solidFill>
              </a:rPr>
              <a:t> === #</a:t>
            </a:r>
          </a:p>
          <a:p>
            <a:r>
              <a:rPr lang="en-IN" sz="2800" dirty="0">
                <a:solidFill>
                  <a:schemeClr val="accent6"/>
                </a:solidFill>
              </a:rPr>
              <a:t># Create a </a:t>
            </a:r>
            <a:r>
              <a:rPr lang="en-IN" sz="2800" dirty="0" err="1">
                <a:solidFill>
                  <a:schemeClr val="accent6"/>
                </a:solidFill>
              </a:rPr>
              <a:t>MinMaxScaler</a:t>
            </a:r>
            <a:r>
              <a:rPr lang="en-IN" sz="2800" dirty="0">
                <a:solidFill>
                  <a:schemeClr val="accent6"/>
                </a:solidFill>
              </a:rPr>
              <a:t> object</a:t>
            </a:r>
          </a:p>
          <a:p>
            <a:r>
              <a:rPr lang="en-IN" sz="2800" dirty="0" err="1">
                <a:solidFill>
                  <a:schemeClr val="accent6"/>
                </a:solidFill>
              </a:rPr>
              <a:t>min_max_scaler</a:t>
            </a:r>
            <a:r>
              <a:rPr lang="en-IN" sz="2800" dirty="0">
                <a:solidFill>
                  <a:schemeClr val="accent6"/>
                </a:solidFill>
              </a:rPr>
              <a:t> = </a:t>
            </a:r>
            <a:r>
              <a:rPr lang="en-IN" sz="2800" dirty="0" err="1">
                <a:solidFill>
                  <a:schemeClr val="accent6"/>
                </a:solidFill>
              </a:rPr>
              <a:t>MinMaxScaler</a:t>
            </a:r>
            <a:r>
              <a:rPr lang="en-IN" sz="2800" dirty="0">
                <a:solidFill>
                  <a:schemeClr val="accent6"/>
                </a:solidFill>
              </a:rPr>
              <a:t>()</a:t>
            </a:r>
          </a:p>
          <a:p>
            <a:endParaRPr lang="en-IN" sz="2800" dirty="0">
              <a:solidFill>
                <a:schemeClr val="accent6"/>
              </a:solidFill>
            </a:endParaRPr>
          </a:p>
          <a:p>
            <a:r>
              <a:rPr lang="en-IN" sz="2800" dirty="0">
                <a:solidFill>
                  <a:schemeClr val="accent6"/>
                </a:solidFill>
              </a:rPr>
              <a:t># Apply normalization to the dataset</a:t>
            </a:r>
          </a:p>
          <a:p>
            <a:r>
              <a:rPr lang="en-IN" sz="2800" dirty="0" err="1">
                <a:solidFill>
                  <a:schemeClr val="accent6"/>
                </a:solidFill>
              </a:rPr>
              <a:t>normalized_data</a:t>
            </a:r>
            <a:r>
              <a:rPr lang="en-IN" sz="2800" dirty="0">
                <a:solidFill>
                  <a:schemeClr val="accent6"/>
                </a:solidFill>
              </a:rPr>
              <a:t> = </a:t>
            </a:r>
            <a:r>
              <a:rPr lang="en-IN" sz="2800" dirty="0" err="1">
                <a:solidFill>
                  <a:schemeClr val="accent6"/>
                </a:solidFill>
              </a:rPr>
              <a:t>min_max_scaler.fit_transform</a:t>
            </a:r>
            <a:r>
              <a:rPr lang="en-IN" sz="2800" dirty="0">
                <a:solidFill>
                  <a:schemeClr val="accent6"/>
                </a:solidFill>
              </a:rPr>
              <a:t>(</a:t>
            </a:r>
            <a:r>
              <a:rPr lang="en-IN" sz="2800" dirty="0" err="1">
                <a:solidFill>
                  <a:schemeClr val="accent6"/>
                </a:solidFill>
              </a:rPr>
              <a:t>df</a:t>
            </a:r>
            <a:r>
              <a:rPr lang="en-IN" sz="2800" dirty="0">
                <a:solidFill>
                  <a:schemeClr val="accent6"/>
                </a:solidFill>
              </a:rPr>
              <a:t>)</a:t>
            </a:r>
          </a:p>
          <a:p>
            <a:endParaRPr lang="en-IN" sz="2800" dirty="0">
              <a:solidFill>
                <a:schemeClr val="accent6"/>
              </a:solidFill>
            </a:endParaRPr>
          </a:p>
          <a:p>
            <a:r>
              <a:rPr lang="en-IN" sz="2800" dirty="0">
                <a:solidFill>
                  <a:schemeClr val="accent6"/>
                </a:solidFill>
              </a:rPr>
              <a:t># Convert the result back to a </a:t>
            </a:r>
            <a:r>
              <a:rPr lang="en-IN" sz="2800" dirty="0" err="1">
                <a:solidFill>
                  <a:schemeClr val="accent6"/>
                </a:solidFill>
              </a:rPr>
              <a:t>DataFrame</a:t>
            </a:r>
            <a:endParaRPr lang="en-IN" sz="2800" dirty="0">
              <a:solidFill>
                <a:schemeClr val="accent6"/>
              </a:solidFill>
            </a:endParaRPr>
          </a:p>
          <a:p>
            <a:r>
              <a:rPr lang="en-IN" sz="2800" dirty="0" err="1">
                <a:solidFill>
                  <a:schemeClr val="accent6"/>
                </a:solidFill>
              </a:rPr>
              <a:t>df_normalized</a:t>
            </a:r>
            <a:r>
              <a:rPr lang="en-IN" sz="2800" dirty="0">
                <a:solidFill>
                  <a:schemeClr val="accent6"/>
                </a:solidFill>
              </a:rPr>
              <a:t> = </a:t>
            </a:r>
            <a:r>
              <a:rPr lang="en-IN" sz="2800" dirty="0" err="1">
                <a:solidFill>
                  <a:schemeClr val="accent6"/>
                </a:solidFill>
              </a:rPr>
              <a:t>pd.DataFrame</a:t>
            </a:r>
            <a:r>
              <a:rPr lang="en-IN" sz="2800" dirty="0">
                <a:solidFill>
                  <a:schemeClr val="accent6"/>
                </a:solidFill>
              </a:rPr>
              <a:t>(</a:t>
            </a:r>
            <a:r>
              <a:rPr lang="en-IN" sz="2800" dirty="0" err="1">
                <a:solidFill>
                  <a:schemeClr val="accent6"/>
                </a:solidFill>
              </a:rPr>
              <a:t>normalized_data</a:t>
            </a:r>
            <a:r>
              <a:rPr lang="en-IN" sz="2800" dirty="0">
                <a:solidFill>
                  <a:schemeClr val="accent6"/>
                </a:solidFill>
              </a:rPr>
              <a:t>, columns=</a:t>
            </a:r>
            <a:r>
              <a:rPr lang="en-IN" sz="2800" dirty="0" err="1">
                <a:solidFill>
                  <a:schemeClr val="accent6"/>
                </a:solidFill>
              </a:rPr>
              <a:t>df.columns</a:t>
            </a:r>
            <a:r>
              <a:rPr lang="en-IN" sz="2800" dirty="0">
                <a:solidFill>
                  <a:schemeClr val="accent6"/>
                </a:solidFill>
              </a:rPr>
              <a:t>)</a:t>
            </a:r>
          </a:p>
          <a:p>
            <a:endParaRPr lang="en-IN" sz="2800" dirty="0">
              <a:solidFill>
                <a:schemeClr val="accent6"/>
              </a:solidFill>
            </a:endParaRPr>
          </a:p>
          <a:p>
            <a:r>
              <a:rPr lang="en-IN" sz="2800" dirty="0">
                <a:solidFill>
                  <a:schemeClr val="accent6"/>
                </a:solidFill>
              </a:rPr>
              <a:t>print("\</a:t>
            </a:r>
            <a:r>
              <a:rPr lang="en-IN" sz="2800" dirty="0" err="1">
                <a:solidFill>
                  <a:schemeClr val="accent6"/>
                </a:solidFill>
              </a:rPr>
              <a:t>nNormalized</a:t>
            </a:r>
            <a:r>
              <a:rPr lang="en-IN" sz="2800" dirty="0">
                <a:solidFill>
                  <a:schemeClr val="accent6"/>
                </a:solidFill>
              </a:rPr>
              <a:t> Data (</a:t>
            </a:r>
            <a:r>
              <a:rPr lang="en-IN" sz="2800" dirty="0" err="1">
                <a:solidFill>
                  <a:schemeClr val="accent6"/>
                </a:solidFill>
              </a:rPr>
              <a:t>MinMaxScaler</a:t>
            </a:r>
            <a:r>
              <a:rPr lang="en-IN" sz="2800" dirty="0">
                <a:solidFill>
                  <a:schemeClr val="accent6"/>
                </a:solidFill>
              </a:rPr>
              <a:t>):")</a:t>
            </a:r>
          </a:p>
          <a:p>
            <a:r>
              <a:rPr lang="en-IN" sz="2800" dirty="0">
                <a:solidFill>
                  <a:schemeClr val="accent6"/>
                </a:solidFill>
              </a:rPr>
              <a:t>print(</a:t>
            </a:r>
            <a:r>
              <a:rPr lang="en-IN" sz="2800" dirty="0" err="1">
                <a:solidFill>
                  <a:schemeClr val="accent6"/>
                </a:solidFill>
              </a:rPr>
              <a:t>df_normalized</a:t>
            </a:r>
            <a:r>
              <a:rPr lang="en-IN" sz="2800" dirty="0">
                <a:solidFill>
                  <a:schemeClr val="accent6"/>
                </a:solidFill>
              </a:rPr>
              <a:t>)</a:t>
            </a:r>
          </a:p>
          <a:p>
            <a:endParaRPr lang="en-IN" sz="2800" dirty="0">
              <a:solidFill>
                <a:schemeClr val="accent6"/>
              </a:solidFill>
            </a:endParaRPr>
          </a:p>
        </p:txBody>
      </p:sp>
      <p:sp>
        <p:nvSpPr>
          <p:cNvPr id="5" name="Title 1">
            <a:extLst>
              <a:ext uri="{FF2B5EF4-FFF2-40B4-BE49-F238E27FC236}">
                <a16:creationId xmlns:a16="http://schemas.microsoft.com/office/drawing/2014/main" id="{97F42F27-CA24-7D10-A6F1-2023A9E6356D}"/>
              </a:ext>
            </a:extLst>
          </p:cNvPr>
          <p:cNvSpPr txBox="1">
            <a:spLocks/>
          </p:cNvSpPr>
          <p:nvPr/>
        </p:nvSpPr>
        <p:spPr>
          <a:xfrm>
            <a:off x="596392" y="142240"/>
            <a:ext cx="10671048" cy="1362057"/>
          </a:xfrm>
          <a:prstGeom prst="rect">
            <a:avLst/>
          </a:prstGeom>
        </p:spPr>
        <p:txBody>
          <a:bodyPr/>
          <a:lst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a:lstStyle>
          <a:p>
            <a:r>
              <a:rPr lang="en-IN" sz="4000" dirty="0">
                <a:solidFill>
                  <a:schemeClr val="accent6"/>
                </a:solidFill>
              </a:rPr>
              <a:t>Normalization</a:t>
            </a:r>
            <a:endParaRPr lang="en-IN" dirty="0"/>
          </a:p>
        </p:txBody>
      </p:sp>
      <p:sp>
        <p:nvSpPr>
          <p:cNvPr id="7" name="TextBox 6">
            <a:extLst>
              <a:ext uri="{FF2B5EF4-FFF2-40B4-BE49-F238E27FC236}">
                <a16:creationId xmlns:a16="http://schemas.microsoft.com/office/drawing/2014/main" id="{D37C2C9D-DD6F-F554-9C20-B159497A6424}"/>
              </a:ext>
            </a:extLst>
          </p:cNvPr>
          <p:cNvSpPr txBox="1"/>
          <p:nvPr/>
        </p:nvSpPr>
        <p:spPr>
          <a:xfrm>
            <a:off x="9293860" y="2251901"/>
            <a:ext cx="2573020" cy="2308324"/>
          </a:xfrm>
          <a:prstGeom prst="rect">
            <a:avLst/>
          </a:prstGeom>
          <a:noFill/>
        </p:spPr>
        <p:txBody>
          <a:bodyPr wrap="square">
            <a:spAutoFit/>
          </a:bodyPr>
          <a:lstStyle/>
          <a:p>
            <a:r>
              <a:rPr lang="en-IN" dirty="0"/>
              <a:t> </a:t>
            </a:r>
            <a:r>
              <a:rPr lang="en-IN" dirty="0">
                <a:solidFill>
                  <a:srgbClr val="00B0F0"/>
                </a:solidFill>
              </a:rPr>
              <a:t>OUTPUT</a:t>
            </a:r>
          </a:p>
          <a:p>
            <a:endParaRPr lang="en-IN" dirty="0">
              <a:solidFill>
                <a:srgbClr val="00B0F0"/>
              </a:solidFill>
            </a:endParaRPr>
          </a:p>
          <a:p>
            <a:r>
              <a:rPr lang="en-IN" dirty="0">
                <a:solidFill>
                  <a:srgbClr val="00B0F0"/>
                </a:solidFill>
              </a:rPr>
              <a:t>      Age           Salary</a:t>
            </a:r>
          </a:p>
          <a:p>
            <a:r>
              <a:rPr lang="en-IN" dirty="0">
                <a:solidFill>
                  <a:srgbClr val="00B0F0"/>
                </a:solidFill>
              </a:rPr>
              <a:t>0  0.230769  0.000000</a:t>
            </a:r>
          </a:p>
          <a:p>
            <a:r>
              <a:rPr lang="en-IN" dirty="0">
                <a:solidFill>
                  <a:srgbClr val="00B0F0"/>
                </a:solidFill>
              </a:rPr>
              <a:t>1  0.615385  0.500000</a:t>
            </a:r>
          </a:p>
          <a:p>
            <a:r>
              <a:rPr lang="en-IN" dirty="0">
                <a:solidFill>
                  <a:srgbClr val="00B0F0"/>
                </a:solidFill>
              </a:rPr>
              <a:t>2  0.000000  0.100000</a:t>
            </a:r>
          </a:p>
          <a:p>
            <a:r>
              <a:rPr lang="en-IN" dirty="0">
                <a:solidFill>
                  <a:srgbClr val="00B0F0"/>
                </a:solidFill>
              </a:rPr>
              <a:t>3  1.000000  1.000000</a:t>
            </a:r>
          </a:p>
          <a:p>
            <a:r>
              <a:rPr lang="en-IN" dirty="0">
                <a:solidFill>
                  <a:srgbClr val="00B0F0"/>
                </a:solidFill>
              </a:rPr>
              <a:t>4  0.461538  0.166667</a:t>
            </a:r>
          </a:p>
        </p:txBody>
      </p:sp>
    </p:spTree>
    <p:extLst>
      <p:ext uri="{BB962C8B-B14F-4D97-AF65-F5344CB8AC3E}">
        <p14:creationId xmlns:p14="http://schemas.microsoft.com/office/powerpoint/2010/main" val="221799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F2D2C-8FE7-6A7C-2D01-35BA3BB225A0}"/>
              </a:ext>
            </a:extLst>
          </p:cNvPr>
          <p:cNvSpPr>
            <a:spLocks noGrp="1"/>
          </p:cNvSpPr>
          <p:nvPr>
            <p:ph type="title"/>
          </p:nvPr>
        </p:nvSpPr>
        <p:spPr>
          <a:xfrm>
            <a:off x="596392" y="142240"/>
            <a:ext cx="10671048" cy="1362057"/>
          </a:xfrm>
        </p:spPr>
        <p:txBody>
          <a:bodyPr/>
          <a:lstStyle/>
          <a:p>
            <a:r>
              <a:rPr lang="en-IN" sz="4000" dirty="0">
                <a:solidFill>
                  <a:schemeClr val="accent6"/>
                </a:solidFill>
              </a:rPr>
              <a:t>standardization</a:t>
            </a:r>
            <a:endParaRPr lang="en-IN" dirty="0"/>
          </a:p>
        </p:txBody>
      </p:sp>
      <p:sp>
        <p:nvSpPr>
          <p:cNvPr id="3" name="Slide Number Placeholder 2">
            <a:extLst>
              <a:ext uri="{FF2B5EF4-FFF2-40B4-BE49-F238E27FC236}">
                <a16:creationId xmlns:a16="http://schemas.microsoft.com/office/drawing/2014/main" id="{2585E0DA-EE95-D901-EF68-AE1A035D07BE}"/>
              </a:ext>
            </a:extLst>
          </p:cNvPr>
          <p:cNvSpPr>
            <a:spLocks noGrp="1"/>
          </p:cNvSpPr>
          <p:nvPr>
            <p:ph type="sldNum" sz="quarter" idx="12"/>
          </p:nvPr>
        </p:nvSpPr>
        <p:spPr/>
        <p:txBody>
          <a:bodyPr/>
          <a:lstStyle/>
          <a:p>
            <a:fld id="{48F63A3B-78C7-47BE-AE5E-E10140E04643}" type="slidenum">
              <a:rPr lang="en-US" smtClean="0"/>
              <a:pPr/>
              <a:t>37</a:t>
            </a:fld>
            <a:endParaRPr lang="en-US" dirty="0"/>
          </a:p>
        </p:txBody>
      </p:sp>
      <p:sp>
        <p:nvSpPr>
          <p:cNvPr id="5" name="TextBox 4">
            <a:extLst>
              <a:ext uri="{FF2B5EF4-FFF2-40B4-BE49-F238E27FC236}">
                <a16:creationId xmlns:a16="http://schemas.microsoft.com/office/drawing/2014/main" id="{5A238555-9F22-E731-C5AE-7850D1295BB6}"/>
              </a:ext>
            </a:extLst>
          </p:cNvPr>
          <p:cNvSpPr txBox="1"/>
          <p:nvPr/>
        </p:nvSpPr>
        <p:spPr>
          <a:xfrm>
            <a:off x="471542" y="1189141"/>
            <a:ext cx="11551920" cy="5262979"/>
          </a:xfrm>
          <a:prstGeom prst="rect">
            <a:avLst/>
          </a:prstGeom>
          <a:noFill/>
        </p:spPr>
        <p:txBody>
          <a:bodyPr wrap="square">
            <a:spAutoFit/>
          </a:bodyPr>
          <a:lstStyle/>
          <a:p>
            <a:r>
              <a:rPr lang="en-IN" sz="2800" dirty="0">
                <a:solidFill>
                  <a:schemeClr val="accent6"/>
                </a:solidFill>
              </a:rPr>
              <a:t># === Standardization using </a:t>
            </a:r>
            <a:r>
              <a:rPr lang="en-IN" sz="2800" dirty="0" err="1">
                <a:solidFill>
                  <a:schemeClr val="accent6"/>
                </a:solidFill>
              </a:rPr>
              <a:t>StandardScaler</a:t>
            </a:r>
            <a:r>
              <a:rPr lang="en-IN" sz="2800" dirty="0">
                <a:solidFill>
                  <a:schemeClr val="accent6"/>
                </a:solidFill>
              </a:rPr>
              <a:t> === #</a:t>
            </a:r>
          </a:p>
          <a:p>
            <a:r>
              <a:rPr lang="en-IN" sz="2800" dirty="0">
                <a:solidFill>
                  <a:schemeClr val="accent6"/>
                </a:solidFill>
              </a:rPr>
              <a:t># Create a </a:t>
            </a:r>
            <a:r>
              <a:rPr lang="en-IN" sz="2800" dirty="0" err="1">
                <a:solidFill>
                  <a:schemeClr val="accent6"/>
                </a:solidFill>
              </a:rPr>
              <a:t>StandardScaler</a:t>
            </a:r>
            <a:r>
              <a:rPr lang="en-IN" sz="2800" dirty="0">
                <a:solidFill>
                  <a:schemeClr val="accent6"/>
                </a:solidFill>
              </a:rPr>
              <a:t> object</a:t>
            </a:r>
          </a:p>
          <a:p>
            <a:r>
              <a:rPr lang="en-IN" sz="2800" dirty="0" err="1">
                <a:solidFill>
                  <a:schemeClr val="accent6"/>
                </a:solidFill>
              </a:rPr>
              <a:t>standard_scaler</a:t>
            </a:r>
            <a:r>
              <a:rPr lang="en-IN" sz="2800" dirty="0">
                <a:solidFill>
                  <a:schemeClr val="accent6"/>
                </a:solidFill>
              </a:rPr>
              <a:t> = </a:t>
            </a:r>
            <a:r>
              <a:rPr lang="en-IN" sz="2800" dirty="0" err="1">
                <a:solidFill>
                  <a:schemeClr val="accent6"/>
                </a:solidFill>
              </a:rPr>
              <a:t>StandardScaler</a:t>
            </a:r>
            <a:r>
              <a:rPr lang="en-IN" sz="2800" dirty="0">
                <a:solidFill>
                  <a:schemeClr val="accent6"/>
                </a:solidFill>
              </a:rPr>
              <a:t>()</a:t>
            </a:r>
          </a:p>
          <a:p>
            <a:endParaRPr lang="en-IN" sz="2800" dirty="0">
              <a:solidFill>
                <a:schemeClr val="accent6"/>
              </a:solidFill>
            </a:endParaRPr>
          </a:p>
          <a:p>
            <a:r>
              <a:rPr lang="en-IN" sz="2800" dirty="0">
                <a:solidFill>
                  <a:schemeClr val="accent6"/>
                </a:solidFill>
              </a:rPr>
              <a:t># Apply </a:t>
            </a:r>
            <a:r>
              <a:rPr lang="en-IN" sz="2800" b="1" dirty="0">
                <a:solidFill>
                  <a:schemeClr val="accent6"/>
                </a:solidFill>
              </a:rPr>
              <a:t>standardization</a:t>
            </a:r>
            <a:r>
              <a:rPr lang="en-IN" sz="2800" dirty="0">
                <a:solidFill>
                  <a:schemeClr val="accent6"/>
                </a:solidFill>
              </a:rPr>
              <a:t> to the dataset</a:t>
            </a:r>
          </a:p>
          <a:p>
            <a:r>
              <a:rPr lang="en-IN" sz="2800" dirty="0" err="1">
                <a:solidFill>
                  <a:schemeClr val="accent6"/>
                </a:solidFill>
              </a:rPr>
              <a:t>standardized_data</a:t>
            </a:r>
            <a:r>
              <a:rPr lang="en-IN" sz="2800" dirty="0">
                <a:solidFill>
                  <a:schemeClr val="accent6"/>
                </a:solidFill>
              </a:rPr>
              <a:t> = </a:t>
            </a:r>
            <a:r>
              <a:rPr lang="en-IN" sz="2800" dirty="0" err="1">
                <a:solidFill>
                  <a:schemeClr val="accent6"/>
                </a:solidFill>
              </a:rPr>
              <a:t>standard_scaler.fit_transform</a:t>
            </a:r>
            <a:r>
              <a:rPr lang="en-IN" sz="2800" dirty="0">
                <a:solidFill>
                  <a:schemeClr val="accent6"/>
                </a:solidFill>
              </a:rPr>
              <a:t>(</a:t>
            </a:r>
            <a:r>
              <a:rPr lang="en-IN" sz="2800" dirty="0" err="1">
                <a:solidFill>
                  <a:schemeClr val="accent6"/>
                </a:solidFill>
              </a:rPr>
              <a:t>df</a:t>
            </a:r>
            <a:r>
              <a:rPr lang="en-IN" sz="2800" dirty="0">
                <a:solidFill>
                  <a:schemeClr val="accent6"/>
                </a:solidFill>
              </a:rPr>
              <a:t>)</a:t>
            </a:r>
          </a:p>
          <a:p>
            <a:endParaRPr lang="en-IN" sz="2800" dirty="0">
              <a:solidFill>
                <a:schemeClr val="accent6"/>
              </a:solidFill>
            </a:endParaRPr>
          </a:p>
          <a:p>
            <a:r>
              <a:rPr lang="en-IN" sz="2800" dirty="0">
                <a:solidFill>
                  <a:schemeClr val="accent6"/>
                </a:solidFill>
              </a:rPr>
              <a:t># Convert the result back to a </a:t>
            </a:r>
            <a:r>
              <a:rPr lang="en-IN" sz="2800" dirty="0" err="1">
                <a:solidFill>
                  <a:schemeClr val="accent6"/>
                </a:solidFill>
              </a:rPr>
              <a:t>DataFrame</a:t>
            </a:r>
            <a:endParaRPr lang="en-IN" sz="2800" dirty="0">
              <a:solidFill>
                <a:schemeClr val="accent6"/>
              </a:solidFill>
            </a:endParaRPr>
          </a:p>
          <a:p>
            <a:r>
              <a:rPr lang="en-IN" sz="2800" dirty="0" err="1">
                <a:solidFill>
                  <a:schemeClr val="accent6"/>
                </a:solidFill>
              </a:rPr>
              <a:t>df_standardized</a:t>
            </a:r>
            <a:r>
              <a:rPr lang="en-IN" sz="2800" dirty="0">
                <a:solidFill>
                  <a:schemeClr val="accent6"/>
                </a:solidFill>
              </a:rPr>
              <a:t> = </a:t>
            </a:r>
            <a:r>
              <a:rPr lang="en-IN" sz="2800" dirty="0" err="1">
                <a:solidFill>
                  <a:schemeClr val="accent6"/>
                </a:solidFill>
              </a:rPr>
              <a:t>pd.DataFrame</a:t>
            </a:r>
            <a:r>
              <a:rPr lang="en-IN" sz="2800" dirty="0">
                <a:solidFill>
                  <a:schemeClr val="accent6"/>
                </a:solidFill>
              </a:rPr>
              <a:t>(</a:t>
            </a:r>
            <a:r>
              <a:rPr lang="en-IN" sz="2800" dirty="0" err="1">
                <a:solidFill>
                  <a:schemeClr val="accent6"/>
                </a:solidFill>
              </a:rPr>
              <a:t>standardized_data</a:t>
            </a:r>
            <a:r>
              <a:rPr lang="en-IN" sz="2800" dirty="0">
                <a:solidFill>
                  <a:schemeClr val="accent6"/>
                </a:solidFill>
              </a:rPr>
              <a:t>, columns=</a:t>
            </a:r>
            <a:r>
              <a:rPr lang="en-IN" sz="2800" dirty="0" err="1">
                <a:solidFill>
                  <a:schemeClr val="accent6"/>
                </a:solidFill>
              </a:rPr>
              <a:t>df.columns</a:t>
            </a:r>
            <a:r>
              <a:rPr lang="en-IN" sz="2800" dirty="0">
                <a:solidFill>
                  <a:schemeClr val="accent6"/>
                </a:solidFill>
              </a:rPr>
              <a:t>)</a:t>
            </a:r>
          </a:p>
          <a:p>
            <a:endParaRPr lang="en-IN" sz="2800" dirty="0">
              <a:solidFill>
                <a:schemeClr val="accent6"/>
              </a:solidFill>
            </a:endParaRPr>
          </a:p>
          <a:p>
            <a:r>
              <a:rPr lang="en-IN" sz="2800" dirty="0">
                <a:solidFill>
                  <a:schemeClr val="accent6"/>
                </a:solidFill>
              </a:rPr>
              <a:t>print("\</a:t>
            </a:r>
            <a:r>
              <a:rPr lang="en-IN" sz="2800" dirty="0" err="1">
                <a:solidFill>
                  <a:schemeClr val="accent6"/>
                </a:solidFill>
              </a:rPr>
              <a:t>nStandardized</a:t>
            </a:r>
            <a:r>
              <a:rPr lang="en-IN" sz="2800" dirty="0">
                <a:solidFill>
                  <a:schemeClr val="accent6"/>
                </a:solidFill>
              </a:rPr>
              <a:t> Data (</a:t>
            </a:r>
            <a:r>
              <a:rPr lang="en-IN" sz="2800" dirty="0" err="1">
                <a:solidFill>
                  <a:schemeClr val="accent6"/>
                </a:solidFill>
              </a:rPr>
              <a:t>StandardScaler</a:t>
            </a:r>
            <a:r>
              <a:rPr lang="en-IN" sz="2800" dirty="0">
                <a:solidFill>
                  <a:schemeClr val="accent6"/>
                </a:solidFill>
              </a:rPr>
              <a:t>):")</a:t>
            </a:r>
          </a:p>
          <a:p>
            <a:r>
              <a:rPr lang="en-IN" sz="2800" dirty="0">
                <a:solidFill>
                  <a:schemeClr val="accent6"/>
                </a:solidFill>
              </a:rPr>
              <a:t>print(</a:t>
            </a:r>
            <a:r>
              <a:rPr lang="en-IN" sz="2800" dirty="0" err="1">
                <a:solidFill>
                  <a:schemeClr val="accent6"/>
                </a:solidFill>
              </a:rPr>
              <a:t>df_standardized</a:t>
            </a:r>
            <a:r>
              <a:rPr lang="en-IN" sz="2800" dirty="0">
                <a:solidFill>
                  <a:schemeClr val="accent6"/>
                </a:solidFill>
              </a:rPr>
              <a:t>)</a:t>
            </a:r>
          </a:p>
        </p:txBody>
      </p:sp>
      <p:sp>
        <p:nvSpPr>
          <p:cNvPr id="7" name="TextBox 6">
            <a:extLst>
              <a:ext uri="{FF2B5EF4-FFF2-40B4-BE49-F238E27FC236}">
                <a16:creationId xmlns:a16="http://schemas.microsoft.com/office/drawing/2014/main" id="{FC1F9AAD-D714-9DBD-8C09-629F738C58A4}"/>
              </a:ext>
            </a:extLst>
          </p:cNvPr>
          <p:cNvSpPr txBox="1"/>
          <p:nvPr/>
        </p:nvSpPr>
        <p:spPr>
          <a:xfrm>
            <a:off x="9156491" y="1981674"/>
            <a:ext cx="2563967" cy="2585323"/>
          </a:xfrm>
          <a:prstGeom prst="rect">
            <a:avLst/>
          </a:prstGeom>
          <a:noFill/>
        </p:spPr>
        <p:txBody>
          <a:bodyPr wrap="square">
            <a:spAutoFit/>
          </a:bodyPr>
          <a:lstStyle/>
          <a:p>
            <a:r>
              <a:rPr lang="en-IN" dirty="0"/>
              <a:t>  </a:t>
            </a:r>
            <a:r>
              <a:rPr lang="en-IN" dirty="0">
                <a:solidFill>
                  <a:srgbClr val="00B0F0"/>
                </a:solidFill>
              </a:rPr>
              <a:t>OUTPUT</a:t>
            </a:r>
          </a:p>
          <a:p>
            <a:endParaRPr lang="en-IN" dirty="0">
              <a:solidFill>
                <a:srgbClr val="00B0F0"/>
              </a:solidFill>
            </a:endParaRPr>
          </a:p>
          <a:p>
            <a:r>
              <a:rPr lang="en-IN" dirty="0">
                <a:solidFill>
                  <a:srgbClr val="00B0F0"/>
                </a:solidFill>
              </a:rPr>
              <a:t>      </a:t>
            </a:r>
          </a:p>
          <a:p>
            <a:r>
              <a:rPr lang="en-IN" dirty="0">
                <a:solidFill>
                  <a:srgbClr val="00B0F0"/>
                </a:solidFill>
              </a:rPr>
              <a:t>	Age       Salary</a:t>
            </a:r>
          </a:p>
          <a:p>
            <a:r>
              <a:rPr lang="en-IN" dirty="0">
                <a:solidFill>
                  <a:srgbClr val="00B0F0"/>
                </a:solidFill>
              </a:rPr>
              <a:t>0 -0.707107   -1.149082</a:t>
            </a:r>
          </a:p>
          <a:p>
            <a:r>
              <a:rPr lang="en-IN" dirty="0">
                <a:solidFill>
                  <a:srgbClr val="00B0F0"/>
                </a:solidFill>
              </a:rPr>
              <a:t>1  0.707107   -0.229816</a:t>
            </a:r>
          </a:p>
          <a:p>
            <a:r>
              <a:rPr lang="en-IN" dirty="0">
                <a:solidFill>
                  <a:srgbClr val="00B0F0"/>
                </a:solidFill>
              </a:rPr>
              <a:t>2 -1.414214   -1.034466</a:t>
            </a:r>
          </a:p>
          <a:p>
            <a:r>
              <a:rPr lang="en-IN" dirty="0">
                <a:solidFill>
                  <a:srgbClr val="00B0F0"/>
                </a:solidFill>
              </a:rPr>
              <a:t>3  1.414214    1.609073</a:t>
            </a:r>
          </a:p>
          <a:p>
            <a:r>
              <a:rPr lang="en-IN" dirty="0">
                <a:solidFill>
                  <a:srgbClr val="00B0F0"/>
                </a:solidFill>
              </a:rPr>
              <a:t>4  0.000000   -0.804291</a:t>
            </a:r>
          </a:p>
        </p:txBody>
      </p:sp>
    </p:spTree>
    <p:extLst>
      <p:ext uri="{BB962C8B-B14F-4D97-AF65-F5344CB8AC3E}">
        <p14:creationId xmlns:p14="http://schemas.microsoft.com/office/powerpoint/2010/main" val="41889761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1A1C-77BD-0834-6170-34A0CF17AFF3}"/>
              </a:ext>
            </a:extLst>
          </p:cNvPr>
          <p:cNvSpPr>
            <a:spLocks noGrp="1"/>
          </p:cNvSpPr>
          <p:nvPr>
            <p:ph type="title"/>
          </p:nvPr>
        </p:nvSpPr>
        <p:spPr>
          <a:xfrm>
            <a:off x="940308" y="0"/>
            <a:ext cx="10671048" cy="1362057"/>
          </a:xfrm>
        </p:spPr>
        <p:txBody>
          <a:bodyPr/>
          <a:lstStyle/>
          <a:p>
            <a:r>
              <a:rPr lang="en-US" dirty="0"/>
              <a:t>Forward fill</a:t>
            </a:r>
            <a:endParaRPr lang="en-IN" dirty="0"/>
          </a:p>
        </p:txBody>
      </p:sp>
      <p:sp>
        <p:nvSpPr>
          <p:cNvPr id="3" name="Slide Number Placeholder 2">
            <a:extLst>
              <a:ext uri="{FF2B5EF4-FFF2-40B4-BE49-F238E27FC236}">
                <a16:creationId xmlns:a16="http://schemas.microsoft.com/office/drawing/2014/main" id="{C5C159DC-8D94-0EE8-B248-819FE0482CA6}"/>
              </a:ext>
            </a:extLst>
          </p:cNvPr>
          <p:cNvSpPr>
            <a:spLocks noGrp="1"/>
          </p:cNvSpPr>
          <p:nvPr>
            <p:ph type="sldNum" sz="quarter" idx="12"/>
          </p:nvPr>
        </p:nvSpPr>
        <p:spPr/>
        <p:txBody>
          <a:bodyPr/>
          <a:lstStyle/>
          <a:p>
            <a:fld id="{48F63A3B-78C7-47BE-AE5E-E10140E04643}" type="slidenum">
              <a:rPr lang="en-US" smtClean="0"/>
              <a:pPr/>
              <a:t>38</a:t>
            </a:fld>
            <a:endParaRPr lang="en-US" dirty="0"/>
          </a:p>
        </p:txBody>
      </p:sp>
      <p:sp>
        <p:nvSpPr>
          <p:cNvPr id="5" name="TextBox 4">
            <a:extLst>
              <a:ext uri="{FF2B5EF4-FFF2-40B4-BE49-F238E27FC236}">
                <a16:creationId xmlns:a16="http://schemas.microsoft.com/office/drawing/2014/main" id="{B72F8D93-D65D-5D79-84B3-F0DC60D6E374}"/>
              </a:ext>
            </a:extLst>
          </p:cNvPr>
          <p:cNvSpPr txBox="1"/>
          <p:nvPr/>
        </p:nvSpPr>
        <p:spPr>
          <a:xfrm>
            <a:off x="580644" y="917912"/>
            <a:ext cx="11477752" cy="5940088"/>
          </a:xfrm>
          <a:prstGeom prst="rect">
            <a:avLst/>
          </a:prstGeom>
          <a:noFill/>
        </p:spPr>
        <p:txBody>
          <a:bodyPr wrap="square">
            <a:spAutoFit/>
          </a:bodyPr>
          <a:lstStyle/>
          <a:p>
            <a:r>
              <a:rPr lang="en-IN" sz="2000" dirty="0">
                <a:solidFill>
                  <a:schemeClr val="accent6"/>
                </a:solidFill>
              </a:rPr>
              <a:t>import pandas as pd</a:t>
            </a:r>
          </a:p>
          <a:p>
            <a:r>
              <a:rPr lang="en-IN" sz="2000" dirty="0">
                <a:solidFill>
                  <a:schemeClr val="accent6"/>
                </a:solidFill>
              </a:rPr>
              <a:t>import </a:t>
            </a:r>
            <a:r>
              <a:rPr lang="en-IN" sz="2000" dirty="0" err="1">
                <a:solidFill>
                  <a:schemeClr val="accent6"/>
                </a:solidFill>
              </a:rPr>
              <a:t>numpy</a:t>
            </a:r>
            <a:r>
              <a:rPr lang="en-IN" sz="2000" dirty="0">
                <a:solidFill>
                  <a:schemeClr val="accent6"/>
                </a:solidFill>
              </a:rPr>
              <a:t> as np</a:t>
            </a:r>
          </a:p>
          <a:p>
            <a:endParaRPr lang="en-IN" sz="2000" dirty="0">
              <a:solidFill>
                <a:schemeClr val="accent6"/>
              </a:solidFill>
            </a:endParaRPr>
          </a:p>
          <a:p>
            <a:r>
              <a:rPr lang="en-IN" sz="2000" dirty="0">
                <a:solidFill>
                  <a:schemeClr val="accent6"/>
                </a:solidFill>
              </a:rPr>
              <a:t># Sample </a:t>
            </a:r>
            <a:r>
              <a:rPr lang="en-IN" sz="2000" dirty="0" err="1">
                <a:solidFill>
                  <a:schemeClr val="accent6"/>
                </a:solidFill>
              </a:rPr>
              <a:t>DataFrame</a:t>
            </a:r>
            <a:r>
              <a:rPr lang="en-IN" sz="2000" dirty="0">
                <a:solidFill>
                  <a:schemeClr val="accent6"/>
                </a:solidFill>
              </a:rPr>
              <a:t> with missing values</a:t>
            </a:r>
          </a:p>
          <a:p>
            <a:r>
              <a:rPr lang="en-IN" sz="2000" dirty="0">
                <a:solidFill>
                  <a:schemeClr val="accent6"/>
                </a:solidFill>
              </a:rPr>
              <a:t>data = {'Date': ['2023-10-01', '2023-10-02', '2023-10-03', '2023-10-04', '2023-10-05'],</a:t>
            </a:r>
          </a:p>
          <a:p>
            <a:r>
              <a:rPr lang="en-IN" sz="2000" dirty="0">
                <a:solidFill>
                  <a:schemeClr val="accent6"/>
                </a:solidFill>
              </a:rPr>
              <a:t>        'Value': [10, </a:t>
            </a:r>
            <a:r>
              <a:rPr lang="en-IN" sz="2000" dirty="0" err="1">
                <a:solidFill>
                  <a:schemeClr val="accent6"/>
                </a:solidFill>
              </a:rPr>
              <a:t>np.nan</a:t>
            </a:r>
            <a:r>
              <a:rPr lang="en-IN" sz="2000" dirty="0">
                <a:solidFill>
                  <a:schemeClr val="accent6"/>
                </a:solidFill>
              </a:rPr>
              <a:t>, 20, </a:t>
            </a:r>
            <a:r>
              <a:rPr lang="en-IN" sz="2000" dirty="0" err="1">
                <a:solidFill>
                  <a:schemeClr val="accent6"/>
                </a:solidFill>
              </a:rPr>
              <a:t>np.nan</a:t>
            </a:r>
            <a:r>
              <a:rPr lang="en-IN" sz="2000" dirty="0">
                <a:solidFill>
                  <a:schemeClr val="accent6"/>
                </a:solidFill>
              </a:rPr>
              <a:t>, 30]}</a:t>
            </a:r>
          </a:p>
          <a:p>
            <a:endParaRPr lang="en-IN" sz="2000" dirty="0">
              <a:solidFill>
                <a:schemeClr val="accent6"/>
              </a:solidFill>
            </a:endParaRPr>
          </a:p>
          <a:p>
            <a:r>
              <a:rPr lang="en-IN" sz="2000" dirty="0" err="1">
                <a:solidFill>
                  <a:schemeClr val="accent6"/>
                </a:solidFill>
              </a:rPr>
              <a:t>df</a:t>
            </a:r>
            <a:r>
              <a:rPr lang="en-IN" sz="2000" dirty="0">
                <a:solidFill>
                  <a:schemeClr val="accent6"/>
                </a:solidFill>
              </a:rPr>
              <a:t> = </a:t>
            </a:r>
            <a:r>
              <a:rPr lang="en-IN" sz="2000" dirty="0" err="1">
                <a:solidFill>
                  <a:schemeClr val="accent6"/>
                </a:solidFill>
              </a:rPr>
              <a:t>pd.DataFrame</a:t>
            </a:r>
            <a:r>
              <a:rPr lang="en-IN" sz="2000" dirty="0">
                <a:solidFill>
                  <a:schemeClr val="accent6"/>
                </a:solidFill>
              </a:rPr>
              <a:t>(data)</a:t>
            </a:r>
          </a:p>
          <a:p>
            <a:endParaRPr lang="en-IN" sz="2000" dirty="0">
              <a:solidFill>
                <a:schemeClr val="accent6"/>
              </a:solidFill>
            </a:endParaRPr>
          </a:p>
          <a:p>
            <a:r>
              <a:rPr lang="en-IN" sz="2000" dirty="0">
                <a:solidFill>
                  <a:schemeClr val="accent6"/>
                </a:solidFill>
              </a:rPr>
              <a:t># Display original </a:t>
            </a:r>
            <a:r>
              <a:rPr lang="en-IN" sz="2000" dirty="0" err="1">
                <a:solidFill>
                  <a:schemeClr val="accent6"/>
                </a:solidFill>
              </a:rPr>
              <a:t>DataFrame</a:t>
            </a:r>
            <a:endParaRPr lang="en-IN" sz="2000" dirty="0">
              <a:solidFill>
                <a:schemeClr val="accent6"/>
              </a:solidFill>
            </a:endParaRPr>
          </a:p>
          <a:p>
            <a:r>
              <a:rPr lang="en-IN" sz="2000" dirty="0">
                <a:solidFill>
                  <a:schemeClr val="accent6"/>
                </a:solidFill>
              </a:rPr>
              <a:t>print("Original </a:t>
            </a:r>
            <a:r>
              <a:rPr lang="en-IN" sz="2000" dirty="0" err="1">
                <a:solidFill>
                  <a:schemeClr val="accent6"/>
                </a:solidFill>
              </a:rPr>
              <a:t>DataFrame</a:t>
            </a:r>
            <a:r>
              <a:rPr lang="en-IN" sz="2000" dirty="0">
                <a:solidFill>
                  <a:schemeClr val="accent6"/>
                </a:solidFill>
              </a:rPr>
              <a:t>:")</a:t>
            </a:r>
          </a:p>
          <a:p>
            <a:r>
              <a:rPr lang="en-IN" sz="2000" dirty="0">
                <a:solidFill>
                  <a:schemeClr val="accent6"/>
                </a:solidFill>
              </a:rPr>
              <a:t>print(</a:t>
            </a:r>
            <a:r>
              <a:rPr lang="en-IN" sz="2000" dirty="0" err="1">
                <a:solidFill>
                  <a:schemeClr val="accent6"/>
                </a:solidFill>
              </a:rPr>
              <a:t>df</a:t>
            </a:r>
            <a:r>
              <a:rPr lang="en-IN" sz="2000" dirty="0">
                <a:solidFill>
                  <a:schemeClr val="accent6"/>
                </a:solidFill>
              </a:rPr>
              <a:t>)</a:t>
            </a:r>
          </a:p>
          <a:p>
            <a:endParaRPr lang="en-IN" sz="2000" dirty="0">
              <a:solidFill>
                <a:schemeClr val="accent6"/>
              </a:solidFill>
            </a:endParaRPr>
          </a:p>
          <a:p>
            <a:r>
              <a:rPr lang="en-IN" sz="2000" dirty="0">
                <a:solidFill>
                  <a:schemeClr val="accent6"/>
                </a:solidFill>
              </a:rPr>
              <a:t># Apply forward fill to fill missing values</a:t>
            </a:r>
          </a:p>
          <a:p>
            <a:r>
              <a:rPr lang="en-IN" sz="2000" dirty="0" err="1">
                <a:solidFill>
                  <a:schemeClr val="accent6"/>
                </a:solidFill>
              </a:rPr>
              <a:t>df_ffill</a:t>
            </a:r>
            <a:r>
              <a:rPr lang="en-IN" sz="2000" dirty="0">
                <a:solidFill>
                  <a:schemeClr val="accent6"/>
                </a:solidFill>
              </a:rPr>
              <a:t> = </a:t>
            </a:r>
            <a:r>
              <a:rPr lang="en-IN" sz="2000" dirty="0" err="1">
                <a:solidFill>
                  <a:schemeClr val="accent6"/>
                </a:solidFill>
              </a:rPr>
              <a:t>df.fillna</a:t>
            </a:r>
            <a:r>
              <a:rPr lang="en-IN" sz="2000" dirty="0">
                <a:solidFill>
                  <a:schemeClr val="accent6"/>
                </a:solidFill>
              </a:rPr>
              <a:t>(method='</a:t>
            </a:r>
            <a:r>
              <a:rPr lang="en-IN" sz="2000" dirty="0" err="1">
                <a:solidFill>
                  <a:schemeClr val="accent6"/>
                </a:solidFill>
              </a:rPr>
              <a:t>ffill</a:t>
            </a:r>
            <a:r>
              <a:rPr lang="en-IN" sz="2000" dirty="0">
                <a:solidFill>
                  <a:schemeClr val="accent6"/>
                </a:solidFill>
              </a:rPr>
              <a:t>')</a:t>
            </a:r>
          </a:p>
          <a:p>
            <a:endParaRPr lang="en-IN" sz="2000" dirty="0">
              <a:solidFill>
                <a:schemeClr val="accent6"/>
              </a:solidFill>
            </a:endParaRPr>
          </a:p>
          <a:p>
            <a:r>
              <a:rPr lang="en-IN" sz="2000" dirty="0">
                <a:solidFill>
                  <a:schemeClr val="accent6"/>
                </a:solidFill>
              </a:rPr>
              <a:t># Display </a:t>
            </a:r>
            <a:r>
              <a:rPr lang="en-IN" sz="2000" dirty="0" err="1">
                <a:solidFill>
                  <a:schemeClr val="accent6"/>
                </a:solidFill>
              </a:rPr>
              <a:t>DataFrame</a:t>
            </a:r>
            <a:r>
              <a:rPr lang="en-IN" sz="2000" dirty="0">
                <a:solidFill>
                  <a:schemeClr val="accent6"/>
                </a:solidFill>
              </a:rPr>
              <a:t> after forward fill</a:t>
            </a:r>
          </a:p>
          <a:p>
            <a:r>
              <a:rPr lang="en-IN" sz="2000" dirty="0">
                <a:solidFill>
                  <a:schemeClr val="accent6"/>
                </a:solidFill>
              </a:rPr>
              <a:t>print("\</a:t>
            </a:r>
            <a:r>
              <a:rPr lang="en-IN" sz="2000" dirty="0" err="1">
                <a:solidFill>
                  <a:schemeClr val="accent6"/>
                </a:solidFill>
              </a:rPr>
              <a:t>nDataFrame</a:t>
            </a:r>
            <a:r>
              <a:rPr lang="en-IN" sz="2000" dirty="0">
                <a:solidFill>
                  <a:schemeClr val="accent6"/>
                </a:solidFill>
              </a:rPr>
              <a:t> After Forward Fill:")</a:t>
            </a:r>
          </a:p>
          <a:p>
            <a:r>
              <a:rPr lang="en-IN" sz="2000" dirty="0">
                <a:solidFill>
                  <a:schemeClr val="accent6"/>
                </a:solidFill>
              </a:rPr>
              <a:t>print(</a:t>
            </a:r>
            <a:r>
              <a:rPr lang="en-IN" sz="2000" dirty="0" err="1">
                <a:solidFill>
                  <a:schemeClr val="accent6"/>
                </a:solidFill>
              </a:rPr>
              <a:t>df_ffill</a:t>
            </a:r>
            <a:r>
              <a:rPr lang="en-IN" sz="2000" dirty="0">
                <a:solidFill>
                  <a:schemeClr val="accent6"/>
                </a:solidFill>
              </a:rPr>
              <a:t>)</a:t>
            </a:r>
          </a:p>
        </p:txBody>
      </p:sp>
    </p:spTree>
    <p:extLst>
      <p:ext uri="{BB962C8B-B14F-4D97-AF65-F5344CB8AC3E}">
        <p14:creationId xmlns:p14="http://schemas.microsoft.com/office/powerpoint/2010/main" val="33509078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E31944-9155-052E-5A98-E6FA7553B795}"/>
              </a:ext>
            </a:extLst>
          </p:cNvPr>
          <p:cNvSpPr>
            <a:spLocks noGrp="1"/>
          </p:cNvSpPr>
          <p:nvPr>
            <p:ph type="sldNum" sz="quarter" idx="12"/>
          </p:nvPr>
        </p:nvSpPr>
        <p:spPr/>
        <p:txBody>
          <a:bodyPr/>
          <a:lstStyle/>
          <a:p>
            <a:fld id="{48F63A3B-78C7-47BE-AE5E-E10140E04643}" type="slidenum">
              <a:rPr lang="en-US" smtClean="0"/>
              <a:pPr/>
              <a:t>39</a:t>
            </a:fld>
            <a:endParaRPr lang="en-US" dirty="0"/>
          </a:p>
        </p:txBody>
      </p:sp>
      <p:sp>
        <p:nvSpPr>
          <p:cNvPr id="4" name="TextBox 3">
            <a:extLst>
              <a:ext uri="{FF2B5EF4-FFF2-40B4-BE49-F238E27FC236}">
                <a16:creationId xmlns:a16="http://schemas.microsoft.com/office/drawing/2014/main" id="{EC3A150A-40F4-2E2E-D420-D29FBFDF83B8}"/>
              </a:ext>
            </a:extLst>
          </p:cNvPr>
          <p:cNvSpPr txBox="1"/>
          <p:nvPr/>
        </p:nvSpPr>
        <p:spPr>
          <a:xfrm>
            <a:off x="2143760" y="1305342"/>
            <a:ext cx="7000240" cy="4708981"/>
          </a:xfrm>
          <a:prstGeom prst="rect">
            <a:avLst/>
          </a:prstGeom>
          <a:noFill/>
        </p:spPr>
        <p:txBody>
          <a:bodyPr wrap="square">
            <a:spAutoFit/>
          </a:bodyPr>
          <a:lstStyle/>
          <a:p>
            <a:r>
              <a:rPr lang="en-IN" sz="2000" dirty="0">
                <a:solidFill>
                  <a:schemeClr val="accent6"/>
                </a:solidFill>
              </a:rPr>
              <a:t>Original </a:t>
            </a:r>
            <a:r>
              <a:rPr lang="en-IN" sz="2000" dirty="0" err="1">
                <a:solidFill>
                  <a:schemeClr val="accent6"/>
                </a:solidFill>
              </a:rPr>
              <a:t>DataFrame</a:t>
            </a:r>
            <a:r>
              <a:rPr lang="en-IN" sz="2000" dirty="0">
                <a:solidFill>
                  <a:schemeClr val="accent6"/>
                </a:solidFill>
              </a:rPr>
              <a:t>:</a:t>
            </a:r>
          </a:p>
          <a:p>
            <a:r>
              <a:rPr lang="en-IN" sz="2000" dirty="0">
                <a:solidFill>
                  <a:schemeClr val="accent6"/>
                </a:solidFill>
              </a:rPr>
              <a:t>         Date  Value</a:t>
            </a:r>
          </a:p>
          <a:p>
            <a:r>
              <a:rPr lang="en-IN" sz="2000" dirty="0">
                <a:solidFill>
                  <a:schemeClr val="accent6"/>
                </a:solidFill>
              </a:rPr>
              <a:t>0  2023-10-01   10.0</a:t>
            </a:r>
          </a:p>
          <a:p>
            <a:r>
              <a:rPr lang="en-IN" sz="2000" dirty="0">
                <a:solidFill>
                  <a:schemeClr val="accent6"/>
                </a:solidFill>
              </a:rPr>
              <a:t>1  2023-10-02    </a:t>
            </a:r>
            <a:r>
              <a:rPr lang="en-IN" sz="2000" dirty="0" err="1">
                <a:solidFill>
                  <a:schemeClr val="accent6"/>
                </a:solidFill>
              </a:rPr>
              <a:t>NaN</a:t>
            </a:r>
            <a:endParaRPr lang="en-IN" sz="2000" dirty="0">
              <a:solidFill>
                <a:schemeClr val="accent6"/>
              </a:solidFill>
            </a:endParaRPr>
          </a:p>
          <a:p>
            <a:r>
              <a:rPr lang="en-IN" sz="2000" dirty="0">
                <a:solidFill>
                  <a:schemeClr val="accent6"/>
                </a:solidFill>
              </a:rPr>
              <a:t>2  2023-10-03   20.0</a:t>
            </a:r>
          </a:p>
          <a:p>
            <a:r>
              <a:rPr lang="en-IN" sz="2000" dirty="0">
                <a:solidFill>
                  <a:schemeClr val="accent6"/>
                </a:solidFill>
              </a:rPr>
              <a:t>3  2023-10-04    </a:t>
            </a:r>
            <a:r>
              <a:rPr lang="en-IN" sz="2000" dirty="0" err="1">
                <a:solidFill>
                  <a:schemeClr val="accent6"/>
                </a:solidFill>
              </a:rPr>
              <a:t>NaN</a:t>
            </a:r>
            <a:endParaRPr lang="en-IN" sz="2000" dirty="0">
              <a:solidFill>
                <a:schemeClr val="accent6"/>
              </a:solidFill>
            </a:endParaRPr>
          </a:p>
          <a:p>
            <a:r>
              <a:rPr lang="en-IN" sz="2000" dirty="0">
                <a:solidFill>
                  <a:schemeClr val="accent6"/>
                </a:solidFill>
              </a:rPr>
              <a:t>4  2023-10-05   30.0</a:t>
            </a:r>
          </a:p>
          <a:p>
            <a:endParaRPr lang="en-IN" sz="2000" dirty="0">
              <a:solidFill>
                <a:schemeClr val="accent6"/>
              </a:solidFill>
            </a:endParaRPr>
          </a:p>
          <a:p>
            <a:r>
              <a:rPr lang="en-IN" sz="2000" dirty="0" err="1">
                <a:solidFill>
                  <a:schemeClr val="accent6"/>
                </a:solidFill>
              </a:rPr>
              <a:t>DataFrame</a:t>
            </a:r>
            <a:r>
              <a:rPr lang="en-IN" sz="2000" dirty="0">
                <a:solidFill>
                  <a:schemeClr val="accent6"/>
                </a:solidFill>
              </a:rPr>
              <a:t> After Forward Fill:</a:t>
            </a:r>
          </a:p>
          <a:p>
            <a:r>
              <a:rPr lang="en-IN" sz="2000" dirty="0">
                <a:solidFill>
                  <a:schemeClr val="accent6"/>
                </a:solidFill>
              </a:rPr>
              <a:t>         Date  Value</a:t>
            </a:r>
          </a:p>
          <a:p>
            <a:r>
              <a:rPr lang="en-IN" sz="2000" dirty="0">
                <a:solidFill>
                  <a:schemeClr val="accent6"/>
                </a:solidFill>
              </a:rPr>
              <a:t>0  2023-10-01   10.0</a:t>
            </a:r>
          </a:p>
          <a:p>
            <a:r>
              <a:rPr lang="en-IN" sz="2000" dirty="0">
                <a:solidFill>
                  <a:schemeClr val="accent6"/>
                </a:solidFill>
              </a:rPr>
              <a:t>1  2023-10-02   10.0</a:t>
            </a:r>
          </a:p>
          <a:p>
            <a:r>
              <a:rPr lang="en-IN" sz="2000" dirty="0">
                <a:solidFill>
                  <a:schemeClr val="accent6"/>
                </a:solidFill>
              </a:rPr>
              <a:t>2  2023-10-03   20.0</a:t>
            </a:r>
          </a:p>
          <a:p>
            <a:r>
              <a:rPr lang="en-IN" sz="2000" dirty="0">
                <a:solidFill>
                  <a:schemeClr val="accent6"/>
                </a:solidFill>
              </a:rPr>
              <a:t>3  2023-10-04   20.0</a:t>
            </a:r>
          </a:p>
          <a:p>
            <a:r>
              <a:rPr lang="en-IN" sz="2000" dirty="0">
                <a:solidFill>
                  <a:schemeClr val="accent6"/>
                </a:solidFill>
              </a:rPr>
              <a:t>4  2023-10-05   30.0</a:t>
            </a:r>
          </a:p>
        </p:txBody>
      </p:sp>
    </p:spTree>
    <p:extLst>
      <p:ext uri="{BB962C8B-B14F-4D97-AF65-F5344CB8AC3E}">
        <p14:creationId xmlns:p14="http://schemas.microsoft.com/office/powerpoint/2010/main" val="4101031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3CC0D-5F0E-7F63-A596-5B2D15E4750C}"/>
              </a:ext>
            </a:extLst>
          </p:cNvPr>
          <p:cNvSpPr>
            <a:spLocks noGrp="1"/>
          </p:cNvSpPr>
          <p:nvPr>
            <p:ph type="title"/>
          </p:nvPr>
        </p:nvSpPr>
        <p:spPr>
          <a:xfrm>
            <a:off x="754979" y="-9498"/>
            <a:ext cx="10671048" cy="1362057"/>
          </a:xfrm>
        </p:spPr>
        <p:txBody>
          <a:bodyPr/>
          <a:lstStyle/>
          <a:p>
            <a:r>
              <a:rPr lang="en-US" dirty="0"/>
              <a:t>Backward Fill</a:t>
            </a:r>
            <a:endParaRPr lang="en-IN" dirty="0"/>
          </a:p>
        </p:txBody>
      </p:sp>
      <p:sp>
        <p:nvSpPr>
          <p:cNvPr id="3" name="Slide Number Placeholder 2">
            <a:extLst>
              <a:ext uri="{FF2B5EF4-FFF2-40B4-BE49-F238E27FC236}">
                <a16:creationId xmlns:a16="http://schemas.microsoft.com/office/drawing/2014/main" id="{703057BA-9919-AD5F-2456-8F8F567C77D5}"/>
              </a:ext>
            </a:extLst>
          </p:cNvPr>
          <p:cNvSpPr>
            <a:spLocks noGrp="1"/>
          </p:cNvSpPr>
          <p:nvPr>
            <p:ph type="sldNum" sz="quarter" idx="12"/>
          </p:nvPr>
        </p:nvSpPr>
        <p:spPr/>
        <p:txBody>
          <a:bodyPr/>
          <a:lstStyle/>
          <a:p>
            <a:fld id="{48F63A3B-78C7-47BE-AE5E-E10140E04643}" type="slidenum">
              <a:rPr lang="en-US" smtClean="0"/>
              <a:pPr/>
              <a:t>40</a:t>
            </a:fld>
            <a:endParaRPr lang="en-US" dirty="0"/>
          </a:p>
        </p:txBody>
      </p:sp>
      <p:sp>
        <p:nvSpPr>
          <p:cNvPr id="5" name="TextBox 4">
            <a:extLst>
              <a:ext uri="{FF2B5EF4-FFF2-40B4-BE49-F238E27FC236}">
                <a16:creationId xmlns:a16="http://schemas.microsoft.com/office/drawing/2014/main" id="{B8953BF8-A6EC-EA90-0E5C-0BF322FAF1E2}"/>
              </a:ext>
            </a:extLst>
          </p:cNvPr>
          <p:cNvSpPr txBox="1"/>
          <p:nvPr/>
        </p:nvSpPr>
        <p:spPr>
          <a:xfrm>
            <a:off x="1158240" y="919191"/>
            <a:ext cx="9113520" cy="5940088"/>
          </a:xfrm>
          <a:prstGeom prst="rect">
            <a:avLst/>
          </a:prstGeom>
          <a:noFill/>
        </p:spPr>
        <p:txBody>
          <a:bodyPr wrap="square">
            <a:spAutoFit/>
          </a:bodyPr>
          <a:lstStyle/>
          <a:p>
            <a:r>
              <a:rPr lang="en-IN" sz="2000" dirty="0">
                <a:solidFill>
                  <a:schemeClr val="accent6"/>
                </a:solidFill>
              </a:rPr>
              <a:t>import pandas as pd</a:t>
            </a:r>
          </a:p>
          <a:p>
            <a:r>
              <a:rPr lang="en-IN" sz="2000" dirty="0">
                <a:solidFill>
                  <a:schemeClr val="accent6"/>
                </a:solidFill>
              </a:rPr>
              <a:t>import </a:t>
            </a:r>
            <a:r>
              <a:rPr lang="en-IN" sz="2000" dirty="0" err="1">
                <a:solidFill>
                  <a:schemeClr val="accent6"/>
                </a:solidFill>
              </a:rPr>
              <a:t>numpy</a:t>
            </a:r>
            <a:r>
              <a:rPr lang="en-IN" sz="2000" dirty="0">
                <a:solidFill>
                  <a:schemeClr val="accent6"/>
                </a:solidFill>
              </a:rPr>
              <a:t> as np</a:t>
            </a:r>
          </a:p>
          <a:p>
            <a:endParaRPr lang="en-IN" sz="2000" dirty="0">
              <a:solidFill>
                <a:schemeClr val="accent6"/>
              </a:solidFill>
            </a:endParaRPr>
          </a:p>
          <a:p>
            <a:r>
              <a:rPr lang="en-IN" sz="2000" dirty="0">
                <a:solidFill>
                  <a:schemeClr val="accent6"/>
                </a:solidFill>
              </a:rPr>
              <a:t># Sample </a:t>
            </a:r>
            <a:r>
              <a:rPr lang="en-IN" sz="2000" dirty="0" err="1">
                <a:solidFill>
                  <a:schemeClr val="accent6"/>
                </a:solidFill>
              </a:rPr>
              <a:t>DataFrame</a:t>
            </a:r>
            <a:r>
              <a:rPr lang="en-IN" sz="2000" dirty="0">
                <a:solidFill>
                  <a:schemeClr val="accent6"/>
                </a:solidFill>
              </a:rPr>
              <a:t> with missing values</a:t>
            </a:r>
          </a:p>
          <a:p>
            <a:r>
              <a:rPr lang="en-IN" sz="2000" dirty="0">
                <a:solidFill>
                  <a:schemeClr val="accent6"/>
                </a:solidFill>
              </a:rPr>
              <a:t>data = {'Date': ['2023-10-01', '2023-10-02', '2023-10-03', '2023-10-04', '2023-10-05'],</a:t>
            </a:r>
          </a:p>
          <a:p>
            <a:r>
              <a:rPr lang="en-IN" sz="2000" dirty="0">
                <a:solidFill>
                  <a:schemeClr val="accent6"/>
                </a:solidFill>
              </a:rPr>
              <a:t>        'Value': [10, </a:t>
            </a:r>
            <a:r>
              <a:rPr lang="en-IN" sz="2000" dirty="0" err="1">
                <a:solidFill>
                  <a:schemeClr val="accent6"/>
                </a:solidFill>
              </a:rPr>
              <a:t>np.nan</a:t>
            </a:r>
            <a:r>
              <a:rPr lang="en-IN" sz="2000" dirty="0">
                <a:solidFill>
                  <a:schemeClr val="accent6"/>
                </a:solidFill>
              </a:rPr>
              <a:t>, 20, </a:t>
            </a:r>
            <a:r>
              <a:rPr lang="en-IN" sz="2000" dirty="0" err="1">
                <a:solidFill>
                  <a:schemeClr val="accent6"/>
                </a:solidFill>
              </a:rPr>
              <a:t>np.nan</a:t>
            </a:r>
            <a:r>
              <a:rPr lang="en-IN" sz="2000" dirty="0">
                <a:solidFill>
                  <a:schemeClr val="accent6"/>
                </a:solidFill>
              </a:rPr>
              <a:t>, 30]}</a:t>
            </a:r>
          </a:p>
          <a:p>
            <a:endParaRPr lang="en-IN" sz="2000" dirty="0">
              <a:solidFill>
                <a:schemeClr val="accent6"/>
              </a:solidFill>
            </a:endParaRPr>
          </a:p>
          <a:p>
            <a:r>
              <a:rPr lang="en-IN" sz="2000" dirty="0" err="1">
                <a:solidFill>
                  <a:schemeClr val="accent6"/>
                </a:solidFill>
              </a:rPr>
              <a:t>df</a:t>
            </a:r>
            <a:r>
              <a:rPr lang="en-IN" sz="2000" dirty="0">
                <a:solidFill>
                  <a:schemeClr val="accent6"/>
                </a:solidFill>
              </a:rPr>
              <a:t> = </a:t>
            </a:r>
            <a:r>
              <a:rPr lang="en-IN" sz="2000" dirty="0" err="1">
                <a:solidFill>
                  <a:schemeClr val="accent6"/>
                </a:solidFill>
              </a:rPr>
              <a:t>pd.DataFrame</a:t>
            </a:r>
            <a:r>
              <a:rPr lang="en-IN" sz="2000" dirty="0">
                <a:solidFill>
                  <a:schemeClr val="accent6"/>
                </a:solidFill>
              </a:rPr>
              <a:t>(data)</a:t>
            </a:r>
          </a:p>
          <a:p>
            <a:endParaRPr lang="en-IN" sz="2000" dirty="0">
              <a:solidFill>
                <a:schemeClr val="accent6"/>
              </a:solidFill>
            </a:endParaRPr>
          </a:p>
          <a:p>
            <a:r>
              <a:rPr lang="en-IN" sz="2000" dirty="0">
                <a:solidFill>
                  <a:schemeClr val="accent6"/>
                </a:solidFill>
              </a:rPr>
              <a:t># Display original </a:t>
            </a:r>
            <a:r>
              <a:rPr lang="en-IN" sz="2000" dirty="0" err="1">
                <a:solidFill>
                  <a:schemeClr val="accent6"/>
                </a:solidFill>
              </a:rPr>
              <a:t>DataFrame</a:t>
            </a:r>
            <a:endParaRPr lang="en-IN" sz="2000" dirty="0">
              <a:solidFill>
                <a:schemeClr val="accent6"/>
              </a:solidFill>
            </a:endParaRPr>
          </a:p>
          <a:p>
            <a:r>
              <a:rPr lang="en-IN" sz="2000" dirty="0">
                <a:solidFill>
                  <a:schemeClr val="accent6"/>
                </a:solidFill>
              </a:rPr>
              <a:t>print("Original </a:t>
            </a:r>
            <a:r>
              <a:rPr lang="en-IN" sz="2000" dirty="0" err="1">
                <a:solidFill>
                  <a:schemeClr val="accent6"/>
                </a:solidFill>
              </a:rPr>
              <a:t>DataFrame</a:t>
            </a:r>
            <a:r>
              <a:rPr lang="en-IN" sz="2000" dirty="0">
                <a:solidFill>
                  <a:schemeClr val="accent6"/>
                </a:solidFill>
              </a:rPr>
              <a:t>:")</a:t>
            </a:r>
          </a:p>
          <a:p>
            <a:r>
              <a:rPr lang="en-IN" sz="2000" dirty="0">
                <a:solidFill>
                  <a:schemeClr val="accent6"/>
                </a:solidFill>
              </a:rPr>
              <a:t>print(</a:t>
            </a:r>
            <a:r>
              <a:rPr lang="en-IN" sz="2000" dirty="0" err="1">
                <a:solidFill>
                  <a:schemeClr val="accent6"/>
                </a:solidFill>
              </a:rPr>
              <a:t>df</a:t>
            </a:r>
            <a:r>
              <a:rPr lang="en-IN" sz="2000" dirty="0">
                <a:solidFill>
                  <a:schemeClr val="accent6"/>
                </a:solidFill>
              </a:rPr>
              <a:t>)</a:t>
            </a:r>
          </a:p>
          <a:p>
            <a:endParaRPr lang="en-IN" sz="2000" dirty="0">
              <a:solidFill>
                <a:schemeClr val="accent6"/>
              </a:solidFill>
            </a:endParaRPr>
          </a:p>
          <a:p>
            <a:r>
              <a:rPr lang="en-IN" sz="2000" dirty="0">
                <a:solidFill>
                  <a:schemeClr val="accent6"/>
                </a:solidFill>
              </a:rPr>
              <a:t># Apply backward fill to fill missing values</a:t>
            </a:r>
          </a:p>
          <a:p>
            <a:r>
              <a:rPr lang="en-IN" sz="2000" dirty="0" err="1">
                <a:solidFill>
                  <a:schemeClr val="accent6"/>
                </a:solidFill>
              </a:rPr>
              <a:t>df_bfill</a:t>
            </a:r>
            <a:r>
              <a:rPr lang="en-IN" sz="2000" dirty="0">
                <a:solidFill>
                  <a:schemeClr val="accent6"/>
                </a:solidFill>
              </a:rPr>
              <a:t> = </a:t>
            </a:r>
            <a:r>
              <a:rPr lang="en-IN" sz="2000" dirty="0" err="1">
                <a:solidFill>
                  <a:schemeClr val="accent6"/>
                </a:solidFill>
              </a:rPr>
              <a:t>df.fillna</a:t>
            </a:r>
            <a:r>
              <a:rPr lang="en-IN" sz="2000" dirty="0">
                <a:solidFill>
                  <a:schemeClr val="accent6"/>
                </a:solidFill>
              </a:rPr>
              <a:t>(method='</a:t>
            </a:r>
            <a:r>
              <a:rPr lang="en-IN" sz="2000" dirty="0" err="1">
                <a:solidFill>
                  <a:schemeClr val="accent6"/>
                </a:solidFill>
              </a:rPr>
              <a:t>bfill</a:t>
            </a:r>
            <a:r>
              <a:rPr lang="en-IN" sz="2000" dirty="0">
                <a:solidFill>
                  <a:schemeClr val="accent6"/>
                </a:solidFill>
              </a:rPr>
              <a:t>')</a:t>
            </a:r>
          </a:p>
          <a:p>
            <a:endParaRPr lang="en-IN" sz="2000" dirty="0">
              <a:solidFill>
                <a:schemeClr val="accent6"/>
              </a:solidFill>
            </a:endParaRPr>
          </a:p>
          <a:p>
            <a:r>
              <a:rPr lang="en-IN" sz="2000" dirty="0">
                <a:solidFill>
                  <a:schemeClr val="accent6"/>
                </a:solidFill>
              </a:rPr>
              <a:t># Display </a:t>
            </a:r>
            <a:r>
              <a:rPr lang="en-IN" sz="2000" dirty="0" err="1">
                <a:solidFill>
                  <a:schemeClr val="accent6"/>
                </a:solidFill>
              </a:rPr>
              <a:t>DataFrame</a:t>
            </a:r>
            <a:r>
              <a:rPr lang="en-IN" sz="2000" dirty="0">
                <a:solidFill>
                  <a:schemeClr val="accent6"/>
                </a:solidFill>
              </a:rPr>
              <a:t> after backward fill</a:t>
            </a:r>
          </a:p>
          <a:p>
            <a:r>
              <a:rPr lang="en-IN" sz="2000" dirty="0">
                <a:solidFill>
                  <a:schemeClr val="accent6"/>
                </a:solidFill>
              </a:rPr>
              <a:t>print("\</a:t>
            </a:r>
            <a:r>
              <a:rPr lang="en-IN" sz="2000" dirty="0" err="1">
                <a:solidFill>
                  <a:schemeClr val="accent6"/>
                </a:solidFill>
              </a:rPr>
              <a:t>nDataFrame</a:t>
            </a:r>
            <a:r>
              <a:rPr lang="en-IN" sz="2000" dirty="0">
                <a:solidFill>
                  <a:schemeClr val="accent6"/>
                </a:solidFill>
              </a:rPr>
              <a:t> After Backward Fill:")</a:t>
            </a:r>
          </a:p>
          <a:p>
            <a:r>
              <a:rPr lang="en-IN" sz="2000" dirty="0">
                <a:solidFill>
                  <a:schemeClr val="accent6"/>
                </a:solidFill>
              </a:rPr>
              <a:t>print(</a:t>
            </a:r>
            <a:r>
              <a:rPr lang="en-IN" sz="2000" dirty="0" err="1">
                <a:solidFill>
                  <a:schemeClr val="accent6"/>
                </a:solidFill>
              </a:rPr>
              <a:t>df_bfill</a:t>
            </a:r>
            <a:r>
              <a:rPr lang="en-IN" sz="2000" dirty="0">
                <a:solidFill>
                  <a:schemeClr val="accent6"/>
                </a:solidFill>
              </a:rPr>
              <a:t>)</a:t>
            </a:r>
          </a:p>
        </p:txBody>
      </p:sp>
    </p:spTree>
    <p:extLst>
      <p:ext uri="{BB962C8B-B14F-4D97-AF65-F5344CB8AC3E}">
        <p14:creationId xmlns:p14="http://schemas.microsoft.com/office/powerpoint/2010/main" val="2451193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88D14-9564-0024-D9AD-C1496F4AD98B}"/>
              </a:ext>
            </a:extLst>
          </p:cNvPr>
          <p:cNvSpPr>
            <a:spLocks noGrp="1"/>
          </p:cNvSpPr>
          <p:nvPr>
            <p:ph type="title"/>
          </p:nvPr>
        </p:nvSpPr>
        <p:spPr/>
        <p:txBody>
          <a:bodyPr/>
          <a:lstStyle/>
          <a:p>
            <a:r>
              <a:rPr lang="en-US" dirty="0"/>
              <a:t>output</a:t>
            </a:r>
            <a:endParaRPr lang="en-IN" dirty="0"/>
          </a:p>
        </p:txBody>
      </p:sp>
      <p:sp>
        <p:nvSpPr>
          <p:cNvPr id="3" name="Slide Number Placeholder 2">
            <a:extLst>
              <a:ext uri="{FF2B5EF4-FFF2-40B4-BE49-F238E27FC236}">
                <a16:creationId xmlns:a16="http://schemas.microsoft.com/office/drawing/2014/main" id="{362E3673-8B40-CC4E-216A-00D0D2284376}"/>
              </a:ext>
            </a:extLst>
          </p:cNvPr>
          <p:cNvSpPr>
            <a:spLocks noGrp="1"/>
          </p:cNvSpPr>
          <p:nvPr>
            <p:ph type="sldNum" sz="quarter" idx="12"/>
          </p:nvPr>
        </p:nvSpPr>
        <p:spPr/>
        <p:txBody>
          <a:bodyPr/>
          <a:lstStyle/>
          <a:p>
            <a:fld id="{48F63A3B-78C7-47BE-AE5E-E10140E04643}" type="slidenum">
              <a:rPr lang="en-US" smtClean="0"/>
              <a:pPr/>
              <a:t>41</a:t>
            </a:fld>
            <a:endParaRPr lang="en-US" dirty="0"/>
          </a:p>
        </p:txBody>
      </p:sp>
      <p:sp>
        <p:nvSpPr>
          <p:cNvPr id="5" name="TextBox 4">
            <a:extLst>
              <a:ext uri="{FF2B5EF4-FFF2-40B4-BE49-F238E27FC236}">
                <a16:creationId xmlns:a16="http://schemas.microsoft.com/office/drawing/2014/main" id="{E60C9FF5-EB85-F71D-07EC-3A16D5DF94BC}"/>
              </a:ext>
            </a:extLst>
          </p:cNvPr>
          <p:cNvSpPr txBox="1"/>
          <p:nvPr/>
        </p:nvSpPr>
        <p:spPr>
          <a:xfrm>
            <a:off x="2946400" y="1752382"/>
            <a:ext cx="6096000" cy="4708981"/>
          </a:xfrm>
          <a:prstGeom prst="rect">
            <a:avLst/>
          </a:prstGeom>
          <a:noFill/>
        </p:spPr>
        <p:txBody>
          <a:bodyPr wrap="square">
            <a:spAutoFit/>
          </a:bodyPr>
          <a:lstStyle/>
          <a:p>
            <a:r>
              <a:rPr lang="en-IN" sz="2000" dirty="0">
                <a:solidFill>
                  <a:schemeClr val="accent6"/>
                </a:solidFill>
              </a:rPr>
              <a:t>Original </a:t>
            </a:r>
            <a:r>
              <a:rPr lang="en-IN" sz="2000" dirty="0" err="1">
                <a:solidFill>
                  <a:schemeClr val="accent6"/>
                </a:solidFill>
              </a:rPr>
              <a:t>DataFrame</a:t>
            </a:r>
            <a:r>
              <a:rPr lang="en-IN" sz="2000" dirty="0">
                <a:solidFill>
                  <a:schemeClr val="accent6"/>
                </a:solidFill>
              </a:rPr>
              <a:t>:</a:t>
            </a:r>
          </a:p>
          <a:p>
            <a:r>
              <a:rPr lang="en-IN" sz="2000" dirty="0">
                <a:solidFill>
                  <a:schemeClr val="accent6"/>
                </a:solidFill>
              </a:rPr>
              <a:t>         Date  Value</a:t>
            </a:r>
          </a:p>
          <a:p>
            <a:r>
              <a:rPr lang="en-IN" sz="2000" dirty="0">
                <a:solidFill>
                  <a:schemeClr val="accent6"/>
                </a:solidFill>
              </a:rPr>
              <a:t>0  2023-10-01   10.0</a:t>
            </a:r>
          </a:p>
          <a:p>
            <a:r>
              <a:rPr lang="en-IN" sz="2000" dirty="0">
                <a:solidFill>
                  <a:schemeClr val="accent6"/>
                </a:solidFill>
              </a:rPr>
              <a:t>1  2023-10-02    </a:t>
            </a:r>
            <a:r>
              <a:rPr lang="en-IN" sz="2000" dirty="0" err="1">
                <a:solidFill>
                  <a:schemeClr val="accent6"/>
                </a:solidFill>
              </a:rPr>
              <a:t>NaN</a:t>
            </a:r>
            <a:endParaRPr lang="en-IN" sz="2000" dirty="0">
              <a:solidFill>
                <a:schemeClr val="accent6"/>
              </a:solidFill>
            </a:endParaRPr>
          </a:p>
          <a:p>
            <a:r>
              <a:rPr lang="en-IN" sz="2000" dirty="0">
                <a:solidFill>
                  <a:schemeClr val="accent6"/>
                </a:solidFill>
              </a:rPr>
              <a:t>2  2023-10-03   20.0</a:t>
            </a:r>
          </a:p>
          <a:p>
            <a:r>
              <a:rPr lang="en-IN" sz="2000" dirty="0">
                <a:solidFill>
                  <a:schemeClr val="accent6"/>
                </a:solidFill>
              </a:rPr>
              <a:t>3  2023-10-04    </a:t>
            </a:r>
            <a:r>
              <a:rPr lang="en-IN" sz="2000" dirty="0" err="1">
                <a:solidFill>
                  <a:schemeClr val="accent6"/>
                </a:solidFill>
              </a:rPr>
              <a:t>NaN</a:t>
            </a:r>
            <a:endParaRPr lang="en-IN" sz="2000" dirty="0">
              <a:solidFill>
                <a:schemeClr val="accent6"/>
              </a:solidFill>
            </a:endParaRPr>
          </a:p>
          <a:p>
            <a:r>
              <a:rPr lang="en-IN" sz="2000" dirty="0">
                <a:solidFill>
                  <a:schemeClr val="accent6"/>
                </a:solidFill>
              </a:rPr>
              <a:t>4  2023-10-05   30.0</a:t>
            </a:r>
          </a:p>
          <a:p>
            <a:endParaRPr lang="en-IN" sz="2000" dirty="0">
              <a:solidFill>
                <a:schemeClr val="accent6"/>
              </a:solidFill>
            </a:endParaRPr>
          </a:p>
          <a:p>
            <a:r>
              <a:rPr lang="en-IN" sz="2000" dirty="0" err="1">
                <a:solidFill>
                  <a:schemeClr val="accent6"/>
                </a:solidFill>
              </a:rPr>
              <a:t>DataFrame</a:t>
            </a:r>
            <a:r>
              <a:rPr lang="en-IN" sz="2000" dirty="0">
                <a:solidFill>
                  <a:schemeClr val="accent6"/>
                </a:solidFill>
              </a:rPr>
              <a:t> After Backward Fill:</a:t>
            </a:r>
          </a:p>
          <a:p>
            <a:r>
              <a:rPr lang="en-IN" sz="2000" dirty="0">
                <a:solidFill>
                  <a:schemeClr val="accent6"/>
                </a:solidFill>
              </a:rPr>
              <a:t>         Date  Value</a:t>
            </a:r>
          </a:p>
          <a:p>
            <a:r>
              <a:rPr lang="en-IN" sz="2000" dirty="0">
                <a:solidFill>
                  <a:schemeClr val="accent6"/>
                </a:solidFill>
              </a:rPr>
              <a:t>0  2023-10-01   10.0</a:t>
            </a:r>
          </a:p>
          <a:p>
            <a:r>
              <a:rPr lang="en-IN" sz="2000" dirty="0">
                <a:solidFill>
                  <a:schemeClr val="accent6"/>
                </a:solidFill>
              </a:rPr>
              <a:t>1  2023-10-02   20.0</a:t>
            </a:r>
          </a:p>
          <a:p>
            <a:r>
              <a:rPr lang="en-IN" sz="2000" dirty="0">
                <a:solidFill>
                  <a:schemeClr val="accent6"/>
                </a:solidFill>
              </a:rPr>
              <a:t>2  2023-10-03   20.0</a:t>
            </a:r>
          </a:p>
          <a:p>
            <a:r>
              <a:rPr lang="en-IN" sz="2000" dirty="0">
                <a:solidFill>
                  <a:schemeClr val="accent6"/>
                </a:solidFill>
              </a:rPr>
              <a:t>3  2023-10-04   30.0</a:t>
            </a:r>
          </a:p>
          <a:p>
            <a:r>
              <a:rPr lang="en-IN" sz="2000" dirty="0">
                <a:solidFill>
                  <a:schemeClr val="accent6"/>
                </a:solidFill>
              </a:rPr>
              <a:t>4  2023-10-05   30.0</a:t>
            </a:r>
          </a:p>
        </p:txBody>
      </p:sp>
    </p:spTree>
    <p:extLst>
      <p:ext uri="{BB962C8B-B14F-4D97-AF65-F5344CB8AC3E}">
        <p14:creationId xmlns:p14="http://schemas.microsoft.com/office/powerpoint/2010/main" val="2787256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1115-6D8E-6868-D3CA-D0D3CB2BD46C}"/>
              </a:ext>
            </a:extLst>
          </p:cNvPr>
          <p:cNvSpPr>
            <a:spLocks noGrp="1"/>
          </p:cNvSpPr>
          <p:nvPr>
            <p:ph type="title"/>
          </p:nvPr>
        </p:nvSpPr>
        <p:spPr/>
        <p:txBody>
          <a:bodyPr/>
          <a:lstStyle/>
          <a:p>
            <a:r>
              <a:rPr lang="en-US" sz="3600" dirty="0">
                <a:effectLst/>
                <a:latin typeface="Times New Roman" panose="02020603050405020304" pitchFamily="18" charset="0"/>
                <a:ea typeface="Calibri" panose="020F0502020204030204" pitchFamily="34" charset="0"/>
                <a:cs typeface="Times New Roman" panose="02020603050405020304" pitchFamily="18" charset="0"/>
              </a:rPr>
              <a:t>Interpolate missing values</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EAE3F7B-3F8C-F5BE-C23A-F37862F3F96C}"/>
              </a:ext>
            </a:extLst>
          </p:cNvPr>
          <p:cNvSpPr>
            <a:spLocks noGrp="1"/>
          </p:cNvSpPr>
          <p:nvPr>
            <p:ph idx="1"/>
          </p:nvPr>
        </p:nvSpPr>
        <p:spPr/>
        <p:txBody>
          <a:bodyPr>
            <a:normAutofit fontScale="92500"/>
          </a:bodyPr>
          <a:lstStyle/>
          <a:p>
            <a:r>
              <a:rPr lang="en-US" dirty="0"/>
              <a:t>In machine learning, </a:t>
            </a:r>
            <a:r>
              <a:rPr lang="en-US" b="1" dirty="0"/>
              <a:t>interpolating missing values</a:t>
            </a:r>
            <a:r>
              <a:rPr lang="en-US" dirty="0"/>
              <a:t> involves filling in the missing data points by estimating their values based on the surrounding data. This can be especially useful when you have time-series or continuous data, where missing values can be inferred from existing data points.</a:t>
            </a:r>
            <a:endParaRPr lang="en-IN" dirty="0"/>
          </a:p>
        </p:txBody>
      </p:sp>
      <p:sp>
        <p:nvSpPr>
          <p:cNvPr id="4" name="Slide Number Placeholder 3">
            <a:extLst>
              <a:ext uri="{FF2B5EF4-FFF2-40B4-BE49-F238E27FC236}">
                <a16:creationId xmlns:a16="http://schemas.microsoft.com/office/drawing/2014/main" id="{6F03AAD2-EA20-D8BC-8432-1EF2A0E1809D}"/>
              </a:ext>
            </a:extLst>
          </p:cNvPr>
          <p:cNvSpPr>
            <a:spLocks noGrp="1"/>
          </p:cNvSpPr>
          <p:nvPr>
            <p:ph type="sldNum" sz="quarter" idx="10"/>
          </p:nvPr>
        </p:nvSpPr>
        <p:spPr/>
        <p:txBody>
          <a:bodyPr/>
          <a:lstStyle/>
          <a:p>
            <a:fld id="{48F63A3B-78C7-47BE-AE5E-E10140E04643}" type="slidenum">
              <a:rPr lang="en-US" smtClean="0"/>
              <a:pPr/>
              <a:t>42</a:t>
            </a:fld>
            <a:endParaRPr lang="en-US" dirty="0"/>
          </a:p>
        </p:txBody>
      </p:sp>
    </p:spTree>
    <p:extLst>
      <p:ext uri="{BB962C8B-B14F-4D97-AF65-F5344CB8AC3E}">
        <p14:creationId xmlns:p14="http://schemas.microsoft.com/office/powerpoint/2010/main" val="1427151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AEC66-0ACA-B4FC-C982-E09784F1C441}"/>
              </a:ext>
            </a:extLst>
          </p:cNvPr>
          <p:cNvSpPr>
            <a:spLocks noGrp="1"/>
          </p:cNvSpPr>
          <p:nvPr>
            <p:ph type="title"/>
          </p:nvPr>
        </p:nvSpPr>
        <p:spPr>
          <a:xfrm>
            <a:off x="599440" y="101137"/>
            <a:ext cx="10434320" cy="1531357"/>
          </a:xfrm>
        </p:spPr>
        <p:txBody>
          <a:bodyPr/>
          <a:lstStyle/>
          <a:p>
            <a:r>
              <a:rPr lang="en-IN" dirty="0"/>
              <a:t>Interpolation Techniques</a:t>
            </a:r>
          </a:p>
        </p:txBody>
      </p:sp>
      <p:sp>
        <p:nvSpPr>
          <p:cNvPr id="3" name="Content Placeholder 2">
            <a:extLst>
              <a:ext uri="{FF2B5EF4-FFF2-40B4-BE49-F238E27FC236}">
                <a16:creationId xmlns:a16="http://schemas.microsoft.com/office/drawing/2014/main" id="{6EBA0354-C11C-CE28-7039-96A8A83515E9}"/>
              </a:ext>
            </a:extLst>
          </p:cNvPr>
          <p:cNvSpPr>
            <a:spLocks noGrp="1"/>
          </p:cNvSpPr>
          <p:nvPr>
            <p:ph idx="1"/>
          </p:nvPr>
        </p:nvSpPr>
        <p:spPr>
          <a:xfrm>
            <a:off x="1097279" y="2326640"/>
            <a:ext cx="9261157" cy="3992880"/>
          </a:xfrm>
        </p:spPr>
        <p:txBody>
          <a:bodyPr>
            <a:normAutofit fontScale="92500"/>
          </a:bodyPr>
          <a:lstStyle/>
          <a:p>
            <a:r>
              <a:rPr lang="en-US" dirty="0"/>
              <a:t>There are several interpolation techniques, including:</a:t>
            </a:r>
          </a:p>
          <a:p>
            <a:pPr>
              <a:buFont typeface="+mj-lt"/>
              <a:buAutoNum type="arabicPeriod"/>
            </a:pPr>
            <a:r>
              <a:rPr lang="en-US" b="1" dirty="0"/>
              <a:t>Linear Interpolation</a:t>
            </a:r>
            <a:r>
              <a:rPr lang="en-US" dirty="0"/>
              <a:t>: Assumes a straight line between two known points.</a:t>
            </a:r>
          </a:p>
          <a:p>
            <a:pPr>
              <a:buFont typeface="+mj-lt"/>
              <a:buAutoNum type="arabicPeriod"/>
            </a:pPr>
            <a:r>
              <a:rPr lang="en-US" b="1" dirty="0"/>
              <a:t>Polynomial Interpolation</a:t>
            </a:r>
            <a:r>
              <a:rPr lang="en-US" dirty="0"/>
              <a:t>: Fits a polynomial function between the points.</a:t>
            </a:r>
          </a:p>
          <a:p>
            <a:pPr>
              <a:buFont typeface="+mj-lt"/>
              <a:buAutoNum type="arabicPeriod"/>
            </a:pPr>
            <a:r>
              <a:rPr lang="en-US" b="1" dirty="0"/>
              <a:t>Spline Interpolation</a:t>
            </a:r>
            <a:r>
              <a:rPr lang="en-US" dirty="0"/>
              <a:t>: Fits a spline (piecewise polynomial) between points.</a:t>
            </a:r>
          </a:p>
          <a:p>
            <a:pPr>
              <a:buFont typeface="+mj-lt"/>
              <a:buAutoNum type="arabicPeriod"/>
            </a:pPr>
            <a:r>
              <a:rPr lang="en-US" b="1" dirty="0"/>
              <a:t>Time-based Interpolation</a:t>
            </a:r>
            <a:r>
              <a:rPr lang="en-US" dirty="0"/>
              <a:t>: If the index of your data is a time series, this method takes the time spacing into account.</a:t>
            </a:r>
          </a:p>
          <a:p>
            <a:endParaRPr lang="en-IN" dirty="0"/>
          </a:p>
        </p:txBody>
      </p:sp>
      <p:sp>
        <p:nvSpPr>
          <p:cNvPr id="4" name="Slide Number Placeholder 3">
            <a:extLst>
              <a:ext uri="{FF2B5EF4-FFF2-40B4-BE49-F238E27FC236}">
                <a16:creationId xmlns:a16="http://schemas.microsoft.com/office/drawing/2014/main" id="{CF7356DC-CCF8-151B-2AAA-DB2442D30244}"/>
              </a:ext>
            </a:extLst>
          </p:cNvPr>
          <p:cNvSpPr>
            <a:spLocks noGrp="1"/>
          </p:cNvSpPr>
          <p:nvPr>
            <p:ph type="sldNum" sz="quarter" idx="10"/>
          </p:nvPr>
        </p:nvSpPr>
        <p:spPr/>
        <p:txBody>
          <a:bodyPr/>
          <a:lstStyle/>
          <a:p>
            <a:fld id="{48F63A3B-78C7-47BE-AE5E-E10140E04643}" type="slidenum">
              <a:rPr lang="en-US" smtClean="0"/>
              <a:pPr/>
              <a:t>43</a:t>
            </a:fld>
            <a:endParaRPr lang="en-US" dirty="0"/>
          </a:p>
        </p:txBody>
      </p:sp>
    </p:spTree>
    <p:extLst>
      <p:ext uri="{BB962C8B-B14F-4D97-AF65-F5344CB8AC3E}">
        <p14:creationId xmlns:p14="http://schemas.microsoft.com/office/powerpoint/2010/main" val="2876318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A52B528-8F06-3B4F-C914-01A8368DC128}"/>
              </a:ext>
            </a:extLst>
          </p:cNvPr>
          <p:cNvSpPr>
            <a:spLocks noGrp="1"/>
          </p:cNvSpPr>
          <p:nvPr>
            <p:ph type="sldNum" sz="quarter" idx="12"/>
          </p:nvPr>
        </p:nvSpPr>
        <p:spPr/>
        <p:txBody>
          <a:bodyPr/>
          <a:lstStyle/>
          <a:p>
            <a:fld id="{48F63A3B-78C7-47BE-AE5E-E10140E04643}" type="slidenum">
              <a:rPr lang="en-US" smtClean="0"/>
              <a:pPr/>
              <a:t>44</a:t>
            </a:fld>
            <a:endParaRPr lang="en-US" dirty="0"/>
          </a:p>
        </p:txBody>
      </p:sp>
      <p:sp>
        <p:nvSpPr>
          <p:cNvPr id="5" name="TextBox 4">
            <a:extLst>
              <a:ext uri="{FF2B5EF4-FFF2-40B4-BE49-F238E27FC236}">
                <a16:creationId xmlns:a16="http://schemas.microsoft.com/office/drawing/2014/main" id="{F1950E32-58C2-44DC-FC2A-3EEC5C861691}"/>
              </a:ext>
            </a:extLst>
          </p:cNvPr>
          <p:cNvSpPr txBox="1"/>
          <p:nvPr/>
        </p:nvSpPr>
        <p:spPr>
          <a:xfrm>
            <a:off x="833120" y="1028343"/>
            <a:ext cx="8310880" cy="5632311"/>
          </a:xfrm>
          <a:prstGeom prst="rect">
            <a:avLst/>
          </a:prstGeom>
          <a:noFill/>
        </p:spPr>
        <p:txBody>
          <a:bodyPr wrap="square">
            <a:spAutoFit/>
          </a:bodyPr>
          <a:lstStyle/>
          <a:p>
            <a:r>
              <a:rPr lang="en-IN" sz="2000" dirty="0">
                <a:solidFill>
                  <a:schemeClr val="accent6"/>
                </a:solidFill>
              </a:rPr>
              <a:t>import pandas as pd</a:t>
            </a:r>
          </a:p>
          <a:p>
            <a:r>
              <a:rPr lang="en-IN" sz="2000" dirty="0">
                <a:solidFill>
                  <a:schemeClr val="accent6"/>
                </a:solidFill>
              </a:rPr>
              <a:t>import </a:t>
            </a:r>
            <a:r>
              <a:rPr lang="en-IN" sz="2000" dirty="0" err="1">
                <a:solidFill>
                  <a:schemeClr val="accent6"/>
                </a:solidFill>
              </a:rPr>
              <a:t>numpy</a:t>
            </a:r>
            <a:r>
              <a:rPr lang="en-IN" sz="2000" dirty="0">
                <a:solidFill>
                  <a:schemeClr val="accent6"/>
                </a:solidFill>
              </a:rPr>
              <a:t> as np</a:t>
            </a:r>
          </a:p>
          <a:p>
            <a:endParaRPr lang="en-IN" sz="2000" dirty="0">
              <a:solidFill>
                <a:schemeClr val="accent6"/>
              </a:solidFill>
            </a:endParaRPr>
          </a:p>
          <a:p>
            <a:r>
              <a:rPr lang="en-IN" sz="2000" dirty="0">
                <a:solidFill>
                  <a:schemeClr val="accent6"/>
                </a:solidFill>
              </a:rPr>
              <a:t># Create a sample </a:t>
            </a:r>
            <a:r>
              <a:rPr lang="en-IN" sz="2000" dirty="0" err="1">
                <a:solidFill>
                  <a:schemeClr val="accent6"/>
                </a:solidFill>
              </a:rPr>
              <a:t>dataframe</a:t>
            </a:r>
            <a:r>
              <a:rPr lang="en-IN" sz="2000" dirty="0">
                <a:solidFill>
                  <a:schemeClr val="accent6"/>
                </a:solidFill>
              </a:rPr>
              <a:t> with missing values</a:t>
            </a:r>
          </a:p>
          <a:p>
            <a:r>
              <a:rPr lang="en-IN" sz="2000" dirty="0">
                <a:solidFill>
                  <a:schemeClr val="accent6"/>
                </a:solidFill>
              </a:rPr>
              <a:t>data = {'A': [1, 2, </a:t>
            </a:r>
            <a:r>
              <a:rPr lang="en-IN" sz="2000" dirty="0" err="1">
                <a:solidFill>
                  <a:schemeClr val="accent6"/>
                </a:solidFill>
              </a:rPr>
              <a:t>np.nan</a:t>
            </a:r>
            <a:r>
              <a:rPr lang="en-IN" sz="2000" dirty="0">
                <a:solidFill>
                  <a:schemeClr val="accent6"/>
                </a:solidFill>
              </a:rPr>
              <a:t>, 4, 5],</a:t>
            </a:r>
          </a:p>
          <a:p>
            <a:r>
              <a:rPr lang="en-IN" sz="2000" dirty="0">
                <a:solidFill>
                  <a:schemeClr val="accent6"/>
                </a:solidFill>
              </a:rPr>
              <a:t>        'B': [5, </a:t>
            </a:r>
            <a:r>
              <a:rPr lang="en-IN" sz="2000" dirty="0" err="1">
                <a:solidFill>
                  <a:schemeClr val="accent6"/>
                </a:solidFill>
              </a:rPr>
              <a:t>np.nan</a:t>
            </a:r>
            <a:r>
              <a:rPr lang="en-IN" sz="2000" dirty="0">
                <a:solidFill>
                  <a:schemeClr val="accent6"/>
                </a:solidFill>
              </a:rPr>
              <a:t>, </a:t>
            </a:r>
            <a:r>
              <a:rPr lang="en-IN" sz="2000" dirty="0" err="1">
                <a:solidFill>
                  <a:schemeClr val="accent6"/>
                </a:solidFill>
              </a:rPr>
              <a:t>np.nan</a:t>
            </a:r>
            <a:r>
              <a:rPr lang="en-IN" sz="2000" dirty="0">
                <a:solidFill>
                  <a:schemeClr val="accent6"/>
                </a:solidFill>
              </a:rPr>
              <a:t>, 8, 10]}</a:t>
            </a:r>
          </a:p>
          <a:p>
            <a:endParaRPr lang="en-IN" sz="2000" dirty="0">
              <a:solidFill>
                <a:schemeClr val="accent6"/>
              </a:solidFill>
            </a:endParaRPr>
          </a:p>
          <a:p>
            <a:r>
              <a:rPr lang="en-IN" sz="2000" dirty="0" err="1">
                <a:solidFill>
                  <a:schemeClr val="accent6"/>
                </a:solidFill>
              </a:rPr>
              <a:t>df</a:t>
            </a:r>
            <a:r>
              <a:rPr lang="en-IN" sz="2000" dirty="0">
                <a:solidFill>
                  <a:schemeClr val="accent6"/>
                </a:solidFill>
              </a:rPr>
              <a:t> = </a:t>
            </a:r>
            <a:r>
              <a:rPr lang="en-IN" sz="2000" dirty="0" err="1">
                <a:solidFill>
                  <a:schemeClr val="accent6"/>
                </a:solidFill>
              </a:rPr>
              <a:t>pd.DataFrame</a:t>
            </a:r>
            <a:r>
              <a:rPr lang="en-IN" sz="2000" dirty="0">
                <a:solidFill>
                  <a:schemeClr val="accent6"/>
                </a:solidFill>
              </a:rPr>
              <a:t>(data)</a:t>
            </a:r>
          </a:p>
          <a:p>
            <a:endParaRPr lang="en-IN" sz="2000" dirty="0">
              <a:solidFill>
                <a:schemeClr val="accent6"/>
              </a:solidFill>
            </a:endParaRPr>
          </a:p>
          <a:p>
            <a:r>
              <a:rPr lang="en-IN" sz="2000" dirty="0">
                <a:solidFill>
                  <a:schemeClr val="accent6"/>
                </a:solidFill>
              </a:rPr>
              <a:t>print("Original Data:")</a:t>
            </a:r>
          </a:p>
          <a:p>
            <a:r>
              <a:rPr lang="en-IN" sz="2000" dirty="0">
                <a:solidFill>
                  <a:schemeClr val="accent6"/>
                </a:solidFill>
              </a:rPr>
              <a:t>print(</a:t>
            </a:r>
            <a:r>
              <a:rPr lang="en-IN" sz="2000" dirty="0" err="1">
                <a:solidFill>
                  <a:schemeClr val="accent6"/>
                </a:solidFill>
              </a:rPr>
              <a:t>df</a:t>
            </a:r>
            <a:r>
              <a:rPr lang="en-IN" sz="2000" dirty="0">
                <a:solidFill>
                  <a:schemeClr val="accent6"/>
                </a:solidFill>
              </a:rPr>
              <a:t>)</a:t>
            </a:r>
          </a:p>
          <a:p>
            <a:endParaRPr lang="en-IN" sz="2000" dirty="0">
              <a:solidFill>
                <a:schemeClr val="accent6"/>
              </a:solidFill>
            </a:endParaRPr>
          </a:p>
          <a:p>
            <a:r>
              <a:rPr lang="en-IN" sz="2000" dirty="0">
                <a:solidFill>
                  <a:schemeClr val="accent6"/>
                </a:solidFill>
              </a:rPr>
              <a:t># Perform linear interpolation</a:t>
            </a:r>
          </a:p>
          <a:p>
            <a:r>
              <a:rPr lang="en-IN" sz="2000" dirty="0" err="1">
                <a:solidFill>
                  <a:schemeClr val="accent6"/>
                </a:solidFill>
              </a:rPr>
              <a:t>df_interpolated</a:t>
            </a:r>
            <a:r>
              <a:rPr lang="en-IN" sz="2000" dirty="0">
                <a:solidFill>
                  <a:schemeClr val="accent6"/>
                </a:solidFill>
              </a:rPr>
              <a:t> = </a:t>
            </a:r>
            <a:r>
              <a:rPr lang="en-IN" sz="2000" dirty="0" err="1">
                <a:solidFill>
                  <a:schemeClr val="accent6"/>
                </a:solidFill>
              </a:rPr>
              <a:t>df.interpolate</a:t>
            </a:r>
            <a:r>
              <a:rPr lang="en-IN" sz="2000" dirty="0">
                <a:solidFill>
                  <a:schemeClr val="accent6"/>
                </a:solidFill>
              </a:rPr>
              <a:t>(method='linear’)</a:t>
            </a:r>
          </a:p>
          <a:p>
            <a:endParaRPr lang="en-IN" sz="2000" dirty="0">
              <a:solidFill>
                <a:schemeClr val="accent6"/>
              </a:solidFill>
            </a:endParaRPr>
          </a:p>
          <a:p>
            <a:endParaRPr lang="en-IN" sz="2000" dirty="0">
              <a:solidFill>
                <a:schemeClr val="accent6"/>
              </a:solidFill>
            </a:endParaRPr>
          </a:p>
          <a:p>
            <a:r>
              <a:rPr lang="en-IN" sz="2000" dirty="0">
                <a:solidFill>
                  <a:schemeClr val="accent6"/>
                </a:solidFill>
              </a:rPr>
              <a:t>print("\</a:t>
            </a:r>
            <a:r>
              <a:rPr lang="en-IN" sz="2000" dirty="0" err="1">
                <a:solidFill>
                  <a:schemeClr val="accent6"/>
                </a:solidFill>
              </a:rPr>
              <a:t>nInterpolated</a:t>
            </a:r>
            <a:r>
              <a:rPr lang="en-IN" sz="2000" dirty="0">
                <a:solidFill>
                  <a:schemeClr val="accent6"/>
                </a:solidFill>
              </a:rPr>
              <a:t> Data (Linear):")</a:t>
            </a:r>
          </a:p>
          <a:p>
            <a:r>
              <a:rPr lang="en-IN" sz="2000" dirty="0">
                <a:solidFill>
                  <a:schemeClr val="accent6"/>
                </a:solidFill>
              </a:rPr>
              <a:t>print(</a:t>
            </a:r>
            <a:r>
              <a:rPr lang="en-IN" sz="2000" dirty="0" err="1">
                <a:solidFill>
                  <a:schemeClr val="accent6"/>
                </a:solidFill>
              </a:rPr>
              <a:t>df_interpolated</a:t>
            </a:r>
            <a:r>
              <a:rPr lang="en-IN" sz="2000" dirty="0">
                <a:solidFill>
                  <a:schemeClr val="accent6"/>
                </a:solidFill>
              </a:rPr>
              <a:t>)</a:t>
            </a:r>
          </a:p>
        </p:txBody>
      </p:sp>
    </p:spTree>
    <p:extLst>
      <p:ext uri="{BB962C8B-B14F-4D97-AF65-F5344CB8AC3E}">
        <p14:creationId xmlns:p14="http://schemas.microsoft.com/office/powerpoint/2010/main" val="884767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B48D5-8E2A-2767-F3A8-5CEC6FA12A61}"/>
              </a:ext>
            </a:extLst>
          </p:cNvPr>
          <p:cNvSpPr>
            <a:spLocks noGrp="1"/>
          </p:cNvSpPr>
          <p:nvPr>
            <p:ph type="title"/>
          </p:nvPr>
        </p:nvSpPr>
        <p:spPr>
          <a:xfrm>
            <a:off x="765973" y="298001"/>
            <a:ext cx="7843837" cy="1012782"/>
          </a:xfrm>
        </p:spPr>
        <p:txBody>
          <a:bodyPr/>
          <a:lstStyle/>
          <a:p>
            <a:r>
              <a:rPr lang="en-US" b="1" dirty="0"/>
              <a:t>Data Deduplication</a:t>
            </a:r>
            <a:endParaRPr lang="en-IN" dirty="0"/>
          </a:p>
        </p:txBody>
      </p:sp>
      <p:sp>
        <p:nvSpPr>
          <p:cNvPr id="3" name="Content Placeholder 2">
            <a:extLst>
              <a:ext uri="{FF2B5EF4-FFF2-40B4-BE49-F238E27FC236}">
                <a16:creationId xmlns:a16="http://schemas.microsoft.com/office/drawing/2014/main" id="{3C8A448D-553B-C05F-1918-2009C4536BE2}"/>
              </a:ext>
            </a:extLst>
          </p:cNvPr>
          <p:cNvSpPr>
            <a:spLocks noGrp="1"/>
          </p:cNvSpPr>
          <p:nvPr>
            <p:ph idx="13"/>
          </p:nvPr>
        </p:nvSpPr>
        <p:spPr>
          <a:xfrm>
            <a:off x="914400" y="1605281"/>
            <a:ext cx="10198100" cy="4448328"/>
          </a:xfrm>
        </p:spPr>
        <p:txBody>
          <a:bodyPr>
            <a:normAutofit/>
          </a:bodyPr>
          <a:lstStyle/>
          <a:p>
            <a:r>
              <a:rPr lang="en-US" sz="2800" dirty="0"/>
              <a:t>In </a:t>
            </a:r>
            <a:r>
              <a:rPr lang="en-US" sz="2800" b="1" dirty="0"/>
              <a:t>Machine Learning (ML)</a:t>
            </a:r>
            <a:r>
              <a:rPr lang="en-US" sz="2800" dirty="0"/>
              <a:t>, data deduplication refers to the process of identifying and removing duplicate data entries from the dataset to ensure that the training data is unique, clean, and efficient for model training. </a:t>
            </a:r>
          </a:p>
          <a:p>
            <a:r>
              <a:rPr lang="en-US" sz="2800" dirty="0"/>
              <a:t>Redundant or duplicate data can lead to biased models, inefficient training processes, and increased computational overhead. </a:t>
            </a:r>
          </a:p>
          <a:p>
            <a:r>
              <a:rPr lang="en-US" sz="2800" dirty="0"/>
              <a:t>By eliminating duplicates, deduplication enhances the quality of the dataset, reduces storage requirements, and improves the model's generalization ability.</a:t>
            </a:r>
          </a:p>
        </p:txBody>
      </p:sp>
      <p:sp>
        <p:nvSpPr>
          <p:cNvPr id="4" name="Picture Placeholder 3">
            <a:extLst>
              <a:ext uri="{FF2B5EF4-FFF2-40B4-BE49-F238E27FC236}">
                <a16:creationId xmlns:a16="http://schemas.microsoft.com/office/drawing/2014/main" id="{CA132E68-0115-0E81-3D4C-20967FC14E6C}"/>
              </a:ext>
            </a:extLst>
          </p:cNvPr>
          <p:cNvSpPr>
            <a:spLocks noGrp="1"/>
          </p:cNvSpPr>
          <p:nvPr>
            <p:ph type="pic" sz="quarter" idx="14"/>
          </p:nvPr>
        </p:nvSpPr>
        <p:spPr>
          <a:xfrm>
            <a:off x="10969426" y="3405189"/>
            <a:ext cx="3202546" cy="3452811"/>
          </a:xfrm>
        </p:spPr>
      </p:sp>
      <p:sp>
        <p:nvSpPr>
          <p:cNvPr id="5" name="Slide Number Placeholder 4">
            <a:extLst>
              <a:ext uri="{FF2B5EF4-FFF2-40B4-BE49-F238E27FC236}">
                <a16:creationId xmlns:a16="http://schemas.microsoft.com/office/drawing/2014/main" id="{50CE0AA3-F8E8-96B6-F702-8B541F089DA0}"/>
              </a:ext>
            </a:extLst>
          </p:cNvPr>
          <p:cNvSpPr>
            <a:spLocks noGrp="1"/>
          </p:cNvSpPr>
          <p:nvPr>
            <p:ph type="sldNum" sz="quarter" idx="10"/>
          </p:nvPr>
        </p:nvSpPr>
        <p:spPr/>
        <p:txBody>
          <a:bodyPr/>
          <a:lstStyle/>
          <a:p>
            <a:fld id="{48F63A3B-78C7-47BE-AE5E-E10140E04643}" type="slidenum">
              <a:rPr lang="en-US" smtClean="0"/>
              <a:pPr/>
              <a:t>45</a:t>
            </a:fld>
            <a:endParaRPr lang="en-US" dirty="0"/>
          </a:p>
        </p:txBody>
      </p:sp>
    </p:spTree>
    <p:extLst>
      <p:ext uri="{BB962C8B-B14F-4D97-AF65-F5344CB8AC3E}">
        <p14:creationId xmlns:p14="http://schemas.microsoft.com/office/powerpoint/2010/main" val="20704614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E24E9-BAAA-ED59-F7CC-8C63E94BF70E}"/>
              </a:ext>
            </a:extLst>
          </p:cNvPr>
          <p:cNvSpPr>
            <a:spLocks noGrp="1"/>
          </p:cNvSpPr>
          <p:nvPr>
            <p:ph type="title"/>
          </p:nvPr>
        </p:nvSpPr>
        <p:spPr>
          <a:xfrm>
            <a:off x="630637" y="260295"/>
            <a:ext cx="10930726" cy="1096383"/>
          </a:xfrm>
        </p:spPr>
        <p:txBody>
          <a:bodyPr/>
          <a:lstStyle/>
          <a:p>
            <a:pPr algn="ctr"/>
            <a:r>
              <a:rPr lang="en-US" sz="3200" dirty="0"/>
              <a:t>Common Techniques Used for Data Deduplication</a:t>
            </a:r>
            <a:endParaRPr lang="en-IN" sz="3200" dirty="0"/>
          </a:p>
        </p:txBody>
      </p:sp>
      <p:sp>
        <p:nvSpPr>
          <p:cNvPr id="3" name="Content Placeholder 2">
            <a:extLst>
              <a:ext uri="{FF2B5EF4-FFF2-40B4-BE49-F238E27FC236}">
                <a16:creationId xmlns:a16="http://schemas.microsoft.com/office/drawing/2014/main" id="{37BA0F3D-AA9D-0F3A-0CF4-351858B79F91}"/>
              </a:ext>
            </a:extLst>
          </p:cNvPr>
          <p:cNvSpPr>
            <a:spLocks noGrp="1"/>
          </p:cNvSpPr>
          <p:nvPr>
            <p:ph idx="1"/>
          </p:nvPr>
        </p:nvSpPr>
        <p:spPr>
          <a:xfrm>
            <a:off x="1206817" y="1784668"/>
            <a:ext cx="9151620" cy="5524500"/>
          </a:xfrm>
        </p:spPr>
        <p:txBody>
          <a:bodyPr>
            <a:normAutofit/>
          </a:bodyPr>
          <a:lstStyle/>
          <a:p>
            <a:pPr marL="514350" indent="-514350">
              <a:buAutoNum type="arabicPeriod"/>
            </a:pPr>
            <a:r>
              <a:rPr lang="en-IN" dirty="0">
                <a:solidFill>
                  <a:srgbClr val="00B0F0"/>
                </a:solidFill>
              </a:rPr>
              <a:t>Exact Match Deduplication</a:t>
            </a:r>
          </a:p>
          <a:p>
            <a:pPr marL="514350" indent="-514350">
              <a:buFont typeface="Arial" panose="020B0604020202020204" pitchFamily="34" charset="0"/>
              <a:buAutoNum type="arabicPeriod"/>
            </a:pPr>
            <a:r>
              <a:rPr lang="en-IN" dirty="0">
                <a:solidFill>
                  <a:srgbClr val="00B0F0"/>
                </a:solidFill>
              </a:rPr>
              <a:t>Near-Duplicate Matching (Fuzzy Matching)</a:t>
            </a:r>
          </a:p>
          <a:p>
            <a:pPr marL="514350" indent="-514350">
              <a:buFont typeface="Arial" panose="020B0604020202020204" pitchFamily="34" charset="0"/>
              <a:buAutoNum type="arabicPeriod"/>
            </a:pPr>
            <a:r>
              <a:rPr lang="en-IN" dirty="0">
                <a:solidFill>
                  <a:srgbClr val="00B0F0"/>
                </a:solidFill>
              </a:rPr>
              <a:t>Hash-Based Deduplication</a:t>
            </a:r>
          </a:p>
          <a:p>
            <a:pPr marL="514350" indent="-514350">
              <a:buFont typeface="Arial" panose="020B0604020202020204" pitchFamily="34" charset="0"/>
              <a:buAutoNum type="arabicPeriod"/>
            </a:pPr>
            <a:r>
              <a:rPr lang="en-IN" dirty="0">
                <a:solidFill>
                  <a:srgbClr val="00B0F0"/>
                </a:solidFill>
              </a:rPr>
              <a:t>Feature-Based Deduplication</a:t>
            </a:r>
          </a:p>
          <a:p>
            <a:pPr marL="514350" indent="-514350">
              <a:buFont typeface="Arial" panose="020B0604020202020204" pitchFamily="34" charset="0"/>
              <a:buAutoNum type="arabicPeriod"/>
            </a:pPr>
            <a:r>
              <a:rPr lang="en-IN" dirty="0">
                <a:solidFill>
                  <a:srgbClr val="00B0F0"/>
                </a:solidFill>
              </a:rPr>
              <a:t>Clustering-Based Deduplication</a:t>
            </a:r>
          </a:p>
          <a:p>
            <a:pPr marL="514350" indent="-514350">
              <a:buFont typeface="Arial" panose="020B0604020202020204" pitchFamily="34" charset="0"/>
              <a:buAutoNum type="arabicPeriod"/>
            </a:pPr>
            <a:r>
              <a:rPr lang="en-IN" dirty="0">
                <a:solidFill>
                  <a:srgbClr val="00B0F0"/>
                </a:solidFill>
              </a:rPr>
              <a:t>Cross-Dataset Deduplication</a:t>
            </a:r>
          </a:p>
          <a:p>
            <a:pPr marL="514350" indent="-514350">
              <a:buFont typeface="Arial" panose="020B0604020202020204" pitchFamily="34" charset="0"/>
              <a:buAutoNum type="arabicPeriod"/>
            </a:pPr>
            <a:r>
              <a:rPr lang="en-US" dirty="0">
                <a:solidFill>
                  <a:srgbClr val="00B0F0"/>
                </a:solidFill>
              </a:rPr>
              <a:t>Image-Based Deduplication (for Computer Vision)</a:t>
            </a:r>
          </a:p>
          <a:p>
            <a:r>
              <a:rPr lang="en-US" sz="2000" dirty="0"/>
              <a:t># Example in pandas </a:t>
            </a:r>
          </a:p>
          <a:p>
            <a:r>
              <a:rPr lang="en-US" sz="2000" dirty="0" err="1"/>
              <a:t>df.drop_duplicates</a:t>
            </a:r>
            <a:r>
              <a:rPr lang="en-US" sz="2000" dirty="0"/>
              <a:t>(</a:t>
            </a:r>
            <a:r>
              <a:rPr lang="en-US" sz="2000" dirty="0" err="1"/>
              <a:t>inplace</a:t>
            </a:r>
            <a:r>
              <a:rPr lang="en-US" sz="2000" dirty="0"/>
              <a:t>=True)</a:t>
            </a:r>
            <a:endParaRPr lang="en-IN" sz="2000" dirty="0"/>
          </a:p>
        </p:txBody>
      </p:sp>
      <p:sp>
        <p:nvSpPr>
          <p:cNvPr id="4" name="Slide Number Placeholder 3">
            <a:extLst>
              <a:ext uri="{FF2B5EF4-FFF2-40B4-BE49-F238E27FC236}">
                <a16:creationId xmlns:a16="http://schemas.microsoft.com/office/drawing/2014/main" id="{E5BF0728-8C7A-6F68-4110-5C5C65B925FA}"/>
              </a:ext>
            </a:extLst>
          </p:cNvPr>
          <p:cNvSpPr>
            <a:spLocks noGrp="1"/>
          </p:cNvSpPr>
          <p:nvPr>
            <p:ph type="sldNum" sz="quarter" idx="10"/>
          </p:nvPr>
        </p:nvSpPr>
        <p:spPr/>
        <p:txBody>
          <a:bodyPr/>
          <a:lstStyle/>
          <a:p>
            <a:fld id="{48F63A3B-78C7-47BE-AE5E-E10140E04643}" type="slidenum">
              <a:rPr lang="en-US" smtClean="0"/>
              <a:pPr/>
              <a:t>46</a:t>
            </a:fld>
            <a:endParaRPr lang="en-US" dirty="0"/>
          </a:p>
        </p:txBody>
      </p:sp>
    </p:spTree>
    <p:extLst>
      <p:ext uri="{BB962C8B-B14F-4D97-AF65-F5344CB8AC3E}">
        <p14:creationId xmlns:p14="http://schemas.microsoft.com/office/powerpoint/2010/main" val="27461056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14DD-B3E3-4D14-E80E-FBBCEC05967E}"/>
              </a:ext>
            </a:extLst>
          </p:cNvPr>
          <p:cNvSpPr>
            <a:spLocks noGrp="1"/>
          </p:cNvSpPr>
          <p:nvPr>
            <p:ph type="title"/>
          </p:nvPr>
        </p:nvSpPr>
        <p:spPr/>
        <p:txBody>
          <a:bodyPr/>
          <a:lstStyle/>
          <a:p>
            <a:endParaRPr lang="en-IN" dirty="0"/>
          </a:p>
        </p:txBody>
      </p:sp>
      <p:sp>
        <p:nvSpPr>
          <p:cNvPr id="3" name="Picture Placeholder 2">
            <a:extLst>
              <a:ext uri="{FF2B5EF4-FFF2-40B4-BE49-F238E27FC236}">
                <a16:creationId xmlns:a16="http://schemas.microsoft.com/office/drawing/2014/main" id="{E9044454-3F60-62A4-EC6A-B8BE683A5AB5}"/>
              </a:ext>
            </a:extLst>
          </p:cNvPr>
          <p:cNvSpPr>
            <a:spLocks noGrp="1"/>
          </p:cNvSpPr>
          <p:nvPr>
            <p:ph type="pic" sz="quarter" idx="11"/>
          </p:nvPr>
        </p:nvSpPr>
        <p:spPr>
          <a:xfrm>
            <a:off x="443345" y="1061623"/>
            <a:ext cx="4344695" cy="3821210"/>
          </a:xfrm>
        </p:spPr>
      </p:sp>
      <p:pic>
        <p:nvPicPr>
          <p:cNvPr id="10" name="Picture 9">
            <a:extLst>
              <a:ext uri="{FF2B5EF4-FFF2-40B4-BE49-F238E27FC236}">
                <a16:creationId xmlns:a16="http://schemas.microsoft.com/office/drawing/2014/main" id="{B0BE072A-D885-BB14-FABC-49AC9BB4B95B}"/>
              </a:ext>
            </a:extLst>
          </p:cNvPr>
          <p:cNvPicPr>
            <a:picLocks noChangeAspect="1"/>
          </p:cNvPicPr>
          <p:nvPr/>
        </p:nvPicPr>
        <p:blipFill rotWithShape="1">
          <a:blip r:embed="rId2"/>
          <a:srcRect l="7909" t="28846" r="59997" b="45478"/>
          <a:stretch/>
        </p:blipFill>
        <p:spPr bwMode="auto">
          <a:xfrm>
            <a:off x="286449" y="1061623"/>
            <a:ext cx="4958791" cy="3821209"/>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B78C2A94-0B81-7096-E842-3302C5614C7F}"/>
              </a:ext>
            </a:extLst>
          </p:cNvPr>
          <p:cNvPicPr>
            <a:picLocks noChangeAspect="1"/>
          </p:cNvPicPr>
          <p:nvPr/>
        </p:nvPicPr>
        <p:blipFill rotWithShape="1">
          <a:blip r:embed="rId3"/>
          <a:srcRect l="7297" t="27858" r="45201" b="8731"/>
          <a:stretch/>
        </p:blipFill>
        <p:spPr bwMode="auto">
          <a:xfrm>
            <a:off x="5517591" y="546055"/>
            <a:ext cx="6387960" cy="53391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72433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7805-2141-6F12-A9C6-52940DC869A8}"/>
              </a:ext>
            </a:extLst>
          </p:cNvPr>
          <p:cNvSpPr>
            <a:spLocks noGrp="1"/>
          </p:cNvSpPr>
          <p:nvPr>
            <p:ph type="title"/>
          </p:nvPr>
        </p:nvSpPr>
        <p:spPr>
          <a:xfrm>
            <a:off x="4947920" y="1061623"/>
            <a:ext cx="7589520" cy="4739104"/>
          </a:xfrm>
        </p:spPr>
        <p:txBody>
          <a:bodyPr/>
          <a:lstStyle/>
          <a:p>
            <a:endParaRPr lang="en-IN" dirty="0"/>
          </a:p>
        </p:txBody>
      </p:sp>
      <p:pic>
        <p:nvPicPr>
          <p:cNvPr id="4" name="Picture 3">
            <a:extLst>
              <a:ext uri="{FF2B5EF4-FFF2-40B4-BE49-F238E27FC236}">
                <a16:creationId xmlns:a16="http://schemas.microsoft.com/office/drawing/2014/main" id="{68A0EC57-05BB-BB93-8081-D32B7933C8F4}"/>
              </a:ext>
            </a:extLst>
          </p:cNvPr>
          <p:cNvPicPr>
            <a:picLocks noChangeAspect="1"/>
          </p:cNvPicPr>
          <p:nvPr/>
        </p:nvPicPr>
        <p:blipFill>
          <a:blip r:embed="rId2"/>
          <a:stretch>
            <a:fillRect/>
          </a:stretch>
        </p:blipFill>
        <p:spPr>
          <a:xfrm>
            <a:off x="4822190" y="1178560"/>
            <a:ext cx="7600904" cy="3860800"/>
          </a:xfrm>
          <a:prstGeom prst="rect">
            <a:avLst/>
          </a:prstGeom>
        </p:spPr>
      </p:pic>
      <p:pic>
        <p:nvPicPr>
          <p:cNvPr id="5" name="Picture 4">
            <a:extLst>
              <a:ext uri="{FF2B5EF4-FFF2-40B4-BE49-F238E27FC236}">
                <a16:creationId xmlns:a16="http://schemas.microsoft.com/office/drawing/2014/main" id="{01B97D4D-9452-0DD6-0503-4776FA0CAC23}"/>
              </a:ext>
            </a:extLst>
          </p:cNvPr>
          <p:cNvPicPr>
            <a:picLocks noChangeAspect="1"/>
          </p:cNvPicPr>
          <p:nvPr/>
        </p:nvPicPr>
        <p:blipFill>
          <a:blip r:embed="rId3"/>
          <a:stretch>
            <a:fillRect/>
          </a:stretch>
        </p:blipFill>
        <p:spPr>
          <a:xfrm>
            <a:off x="283466" y="345440"/>
            <a:ext cx="4538724" cy="5039360"/>
          </a:xfrm>
          <a:prstGeom prst="rect">
            <a:avLst/>
          </a:prstGeom>
        </p:spPr>
      </p:pic>
    </p:spTree>
    <p:extLst>
      <p:ext uri="{BB962C8B-B14F-4D97-AF65-F5344CB8AC3E}">
        <p14:creationId xmlns:p14="http://schemas.microsoft.com/office/powerpoint/2010/main" val="4114984557"/>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{B6AB2FE6-B148-49DC-824B-FD2ADF7FD6D0}tf78438558_win32</Template>
  <TotalTime>350</TotalTime>
  <Words>2514</Words>
  <Application>Microsoft Office PowerPoint</Application>
  <PresentationFormat>Widescreen</PresentationFormat>
  <Paragraphs>425</Paragraphs>
  <Slides>48</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Arial Black</vt:lpstr>
      <vt:lpstr>Calibri</vt:lpstr>
      <vt:lpstr>Courier New</vt:lpstr>
      <vt:lpstr>Sabon Next LT</vt:lpstr>
      <vt:lpstr>Times New Roman</vt:lpstr>
      <vt:lpstr>Custom</vt:lpstr>
      <vt:lpstr>EDA (Exploratory Data Analysis )</vt:lpstr>
      <vt:lpstr>Outlines</vt:lpstr>
      <vt:lpstr>Introduction</vt:lpstr>
      <vt:lpstr>Steps in eda</vt:lpstr>
      <vt:lpstr>PowerPoint Presentation</vt:lpstr>
      <vt:lpstr>Data Types</vt:lpstr>
      <vt:lpstr>Data Transformation</vt:lpstr>
      <vt:lpstr>Data Transformation</vt:lpstr>
      <vt:lpstr>Benefits of Data Transformation</vt:lpstr>
      <vt:lpstr>Disadvantages</vt:lpstr>
      <vt:lpstr>Transformation Techniques</vt:lpstr>
      <vt:lpstr>Normalization and Standardization</vt:lpstr>
      <vt:lpstr>Normalization</vt:lpstr>
      <vt:lpstr>Standardization</vt:lpstr>
      <vt:lpstr>Discretization and binning</vt:lpstr>
      <vt:lpstr>Types of Binning</vt:lpstr>
      <vt:lpstr>PowerPoint Presentation</vt:lpstr>
      <vt:lpstr>PowerPoint Presentation</vt:lpstr>
      <vt:lpstr>PowerPoint Presentation</vt:lpstr>
      <vt:lpstr>output</vt:lpstr>
      <vt:lpstr>Introduction to Missing data, handling missing data </vt:lpstr>
      <vt:lpstr>Introduction to Missing Data</vt:lpstr>
      <vt:lpstr>Identifying Missing Data:</vt:lpstr>
      <vt:lpstr>Handling Missing Data:</vt:lpstr>
      <vt:lpstr>PowerPoint Presentation</vt:lpstr>
      <vt:lpstr>Output</vt:lpstr>
      <vt:lpstr>PowerPoint Presentation</vt:lpstr>
      <vt:lpstr>Drop column</vt:lpstr>
      <vt:lpstr>PowerPoint Presentation</vt:lpstr>
      <vt:lpstr>Imputation:</vt:lpstr>
      <vt:lpstr>PowerPoint Presentation</vt:lpstr>
      <vt:lpstr>PowerPoint Presentation</vt:lpstr>
      <vt:lpstr>Data Visualization using Matplotlib, Seaborn</vt:lpstr>
      <vt:lpstr>Normalization  and  standardization</vt:lpstr>
      <vt:lpstr>PowerPoint Presentation</vt:lpstr>
      <vt:lpstr>PowerPoint Presentation</vt:lpstr>
      <vt:lpstr>standardization</vt:lpstr>
      <vt:lpstr>Forward fill</vt:lpstr>
      <vt:lpstr>PowerPoint Presentation</vt:lpstr>
      <vt:lpstr>Backward Fill</vt:lpstr>
      <vt:lpstr>output</vt:lpstr>
      <vt:lpstr>Interpolate missing values </vt:lpstr>
      <vt:lpstr>Interpolation Techniques</vt:lpstr>
      <vt:lpstr>PowerPoint Presentation</vt:lpstr>
      <vt:lpstr>Data Deduplication</vt:lpstr>
      <vt:lpstr>Common Techniques Used for Data Deduplication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Amit Gupta</dc:creator>
  <cp:lastModifiedBy>Amit Gupta</cp:lastModifiedBy>
  <cp:revision>62</cp:revision>
  <dcterms:created xsi:type="dcterms:W3CDTF">2024-08-29T10:56:43Z</dcterms:created>
  <dcterms:modified xsi:type="dcterms:W3CDTF">2024-10-03T08:28:26Z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