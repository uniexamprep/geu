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57" r:id="rId3"/>
    <p:sldId id="258" r:id="rId4"/>
    <p:sldId id="303" r:id="rId5"/>
    <p:sldId id="304" r:id="rId6"/>
    <p:sldId id="305" r:id="rId7"/>
    <p:sldId id="306" r:id="rId8"/>
    <p:sldId id="320" r:id="rId9"/>
    <p:sldId id="321" r:id="rId10"/>
    <p:sldId id="324" r:id="rId11"/>
    <p:sldId id="307" r:id="rId12"/>
    <p:sldId id="322" r:id="rId13"/>
    <p:sldId id="323" r:id="rId14"/>
    <p:sldId id="308" r:id="rId15"/>
    <p:sldId id="309" r:id="rId16"/>
    <p:sldId id="310" r:id="rId17"/>
    <p:sldId id="325" r:id="rId18"/>
    <p:sldId id="326" r:id="rId19"/>
    <p:sldId id="327" r:id="rId20"/>
    <p:sldId id="328" r:id="rId21"/>
    <p:sldId id="311" r:id="rId22"/>
    <p:sldId id="312" r:id="rId23"/>
    <p:sldId id="313" r:id="rId24"/>
    <p:sldId id="329" r:id="rId25"/>
    <p:sldId id="314" r:id="rId26"/>
    <p:sldId id="315" r:id="rId27"/>
    <p:sldId id="316" r:id="rId28"/>
    <p:sldId id="336" r:id="rId29"/>
    <p:sldId id="335" r:id="rId30"/>
    <p:sldId id="330" r:id="rId31"/>
    <p:sldId id="317" r:id="rId32"/>
    <p:sldId id="318" r:id="rId33"/>
    <p:sldId id="319" r:id="rId34"/>
    <p:sldId id="331" r:id="rId35"/>
    <p:sldId id="337" r:id="rId36"/>
    <p:sldId id="332" r:id="rId37"/>
    <p:sldId id="333" r:id="rId38"/>
    <p:sldId id="334" r:id="rId39"/>
    <p:sldId id="338" r:id="rId40"/>
    <p:sldId id="339" r:id="rId41"/>
    <p:sldId id="340" r:id="rId42"/>
    <p:sldId id="341" r:id="rId43"/>
    <p:sldId id="342" r:id="rId44"/>
    <p:sldId id="345" r:id="rId45"/>
    <p:sldId id="346" r:id="rId46"/>
    <p:sldId id="347" r:id="rId47"/>
    <p:sldId id="348"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1445"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CACC1D-F699-4129-8445-8AE29D7C4E02}" type="datetimeFigureOut">
              <a:rPr lang="en-US" smtClean="0"/>
              <a:t>2/21/2025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0DEABA-0E9A-4C23-AC24-21E19BD81098}" type="slidenum">
              <a:rPr lang="en-US" smtClean="0"/>
              <a:t>‹#›</a:t>
            </a:fld>
            <a:endParaRPr lang="en-US"/>
          </a:p>
        </p:txBody>
      </p:sp>
    </p:spTree>
    <p:extLst>
      <p:ext uri="{BB962C8B-B14F-4D97-AF65-F5344CB8AC3E}">
        <p14:creationId xmlns:p14="http://schemas.microsoft.com/office/powerpoint/2010/main" val="3667061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E0DEABA-0E9A-4C23-AC24-21E19BD81098}" type="slidenum">
              <a:rPr lang="en-US" smtClean="0"/>
              <a:t>1</a:t>
            </a:fld>
            <a:endParaRPr lang="en-US"/>
          </a:p>
        </p:txBody>
      </p:sp>
    </p:spTree>
    <p:extLst>
      <p:ext uri="{BB962C8B-B14F-4D97-AF65-F5344CB8AC3E}">
        <p14:creationId xmlns:p14="http://schemas.microsoft.com/office/powerpoint/2010/main" val="652609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B2A001A-A4C0-4968-87D6-747E13FE3630}" type="datetime1">
              <a:rPr lang="en-US" smtClean="0"/>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5D393B-D3FB-4FCB-A735-BD15267A1CE5}" type="slidenum">
              <a:rPr lang="en-US" smtClean="0"/>
              <a:t>‹#›</a:t>
            </a:fld>
            <a:endParaRPr lang="en-US"/>
          </a:p>
        </p:txBody>
      </p:sp>
    </p:spTree>
    <p:extLst>
      <p:ext uri="{BB962C8B-B14F-4D97-AF65-F5344CB8AC3E}">
        <p14:creationId xmlns:p14="http://schemas.microsoft.com/office/powerpoint/2010/main" val="1404189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A0144AF-9C2F-45F8-AE66-7AB34781CF3B}" type="datetime1">
              <a:rPr lang="en-US" smtClean="0"/>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5D393B-D3FB-4FCB-A735-BD15267A1CE5}" type="slidenum">
              <a:rPr lang="en-US" smtClean="0"/>
              <a:t>‹#›</a:t>
            </a:fld>
            <a:endParaRPr lang="en-US"/>
          </a:p>
        </p:txBody>
      </p:sp>
    </p:spTree>
    <p:extLst>
      <p:ext uri="{BB962C8B-B14F-4D97-AF65-F5344CB8AC3E}">
        <p14:creationId xmlns:p14="http://schemas.microsoft.com/office/powerpoint/2010/main" val="1467884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242819C-59E4-4689-B93B-96C90827861A}" type="datetime1">
              <a:rPr lang="en-US" smtClean="0"/>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5D393B-D3FB-4FCB-A735-BD15267A1CE5}" type="slidenum">
              <a:rPr lang="en-US" smtClean="0"/>
              <a:t>‹#›</a:t>
            </a:fld>
            <a:endParaRPr lang="en-US"/>
          </a:p>
        </p:txBody>
      </p:sp>
    </p:spTree>
    <p:extLst>
      <p:ext uri="{BB962C8B-B14F-4D97-AF65-F5344CB8AC3E}">
        <p14:creationId xmlns:p14="http://schemas.microsoft.com/office/powerpoint/2010/main" val="1678844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1E76053-9273-4062-B163-4F368996C1D8}" type="datetime1">
              <a:rPr lang="en-US" smtClean="0"/>
              <a:t>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5D393B-D3FB-4FCB-A735-BD15267A1CE5}" type="slidenum">
              <a:rPr lang="en-US" smtClean="0"/>
              <a:t>‹#›</a:t>
            </a:fld>
            <a:endParaRPr lang="en-US"/>
          </a:p>
        </p:txBody>
      </p:sp>
    </p:spTree>
    <p:extLst>
      <p:ext uri="{BB962C8B-B14F-4D97-AF65-F5344CB8AC3E}">
        <p14:creationId xmlns:p14="http://schemas.microsoft.com/office/powerpoint/2010/main" val="4149451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CE09DDF-17AE-40B8-AF87-411B8641B115}" type="datetime1">
              <a:rPr lang="en-US" smtClean="0"/>
              <a:t>2/21/2025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55D393B-D3FB-4FCB-A735-BD15267A1CE5}" type="slidenum">
              <a:rPr lang="en-US" smtClean="0"/>
              <a:t>‹#›</a:t>
            </a:fld>
            <a:endParaRPr lang="en-US"/>
          </a:p>
        </p:txBody>
      </p:sp>
    </p:spTree>
    <p:extLst>
      <p:ext uri="{BB962C8B-B14F-4D97-AF65-F5344CB8AC3E}">
        <p14:creationId xmlns:p14="http://schemas.microsoft.com/office/powerpoint/2010/main" val="3555873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A50151D-1180-4CAA-9B05-34BBD58FDE2E}" type="datetime1">
              <a:rPr lang="en-US" smtClean="0"/>
              <a:t>2/21/2025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55D393B-D3FB-4FCB-A735-BD15267A1CE5}" type="slidenum">
              <a:rPr lang="en-US" smtClean="0"/>
              <a:t>‹#›</a:t>
            </a:fld>
            <a:endParaRPr lang="en-US"/>
          </a:p>
        </p:txBody>
      </p:sp>
    </p:spTree>
    <p:extLst>
      <p:ext uri="{BB962C8B-B14F-4D97-AF65-F5344CB8AC3E}">
        <p14:creationId xmlns:p14="http://schemas.microsoft.com/office/powerpoint/2010/main" val="2564380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B3638C-C071-4605-8304-655D363909E4}" type="datetime1">
              <a:rPr lang="en-US" smtClean="0"/>
              <a:t>2/21/2025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55D393B-D3FB-4FCB-A735-BD15267A1CE5}" type="slidenum">
              <a:rPr lang="en-US" smtClean="0"/>
              <a:t>‹#›</a:t>
            </a:fld>
            <a:endParaRPr lang="en-US"/>
          </a:p>
        </p:txBody>
      </p:sp>
    </p:spTree>
    <p:extLst>
      <p:ext uri="{BB962C8B-B14F-4D97-AF65-F5344CB8AC3E}">
        <p14:creationId xmlns:p14="http://schemas.microsoft.com/office/powerpoint/2010/main" val="1611536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19A3550-4081-438E-AC1E-86A220B040F3}" type="datetime1">
              <a:rPr lang="en-US" smtClean="0"/>
              <a:t>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5D393B-D3FB-4FCB-A735-BD15267A1CE5}" type="slidenum">
              <a:rPr lang="en-US" smtClean="0"/>
              <a:t>‹#›</a:t>
            </a:fld>
            <a:endParaRPr lang="en-US"/>
          </a:p>
        </p:txBody>
      </p:sp>
    </p:spTree>
    <p:extLst>
      <p:ext uri="{BB962C8B-B14F-4D97-AF65-F5344CB8AC3E}">
        <p14:creationId xmlns:p14="http://schemas.microsoft.com/office/powerpoint/2010/main" val="322138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CAE789-031B-4254-9ED0-E6661C49D0FD}" type="datetime1">
              <a:rPr lang="en-US" smtClean="0"/>
              <a:t>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5D393B-D3FB-4FCB-A735-BD15267A1CE5}" type="slidenum">
              <a:rPr lang="en-US" smtClean="0"/>
              <a:t>‹#›</a:t>
            </a:fld>
            <a:endParaRPr lang="en-US"/>
          </a:p>
        </p:txBody>
      </p:sp>
    </p:spTree>
    <p:extLst>
      <p:ext uri="{BB962C8B-B14F-4D97-AF65-F5344CB8AC3E}">
        <p14:creationId xmlns:p14="http://schemas.microsoft.com/office/powerpoint/2010/main" val="2945256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021EB3-B73B-4B74-9413-9D7F85076274}" type="datetime1">
              <a:rPr lang="en-US" smtClean="0"/>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5D393B-D3FB-4FCB-A735-BD15267A1CE5}" type="slidenum">
              <a:rPr lang="en-US" smtClean="0"/>
              <a:t>‹#›</a:t>
            </a:fld>
            <a:endParaRPr lang="en-US"/>
          </a:p>
        </p:txBody>
      </p:sp>
    </p:spTree>
    <p:extLst>
      <p:ext uri="{BB962C8B-B14F-4D97-AF65-F5344CB8AC3E}">
        <p14:creationId xmlns:p14="http://schemas.microsoft.com/office/powerpoint/2010/main" val="405047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9B77288-E3DA-4738-ADB5-942B77E0A612}" type="datetime1">
              <a:rPr lang="en-US" smtClean="0"/>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5D393B-D3FB-4FCB-A735-BD15267A1CE5}" type="slidenum">
              <a:rPr lang="en-US" smtClean="0"/>
              <a:t>‹#›</a:t>
            </a:fld>
            <a:endParaRPr lang="en-US"/>
          </a:p>
        </p:txBody>
      </p:sp>
    </p:spTree>
    <p:extLst>
      <p:ext uri="{BB962C8B-B14F-4D97-AF65-F5344CB8AC3E}">
        <p14:creationId xmlns:p14="http://schemas.microsoft.com/office/powerpoint/2010/main" val="58436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20000"/>
            <a:lum/>
          </a:blip>
          <a:srcRect/>
          <a:stretch>
            <a:fillRect l="-19000" r="-19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A6D51E-73AC-4597-A5C9-CF12FD0C03AB}" type="datetime1">
              <a:rPr lang="en-US" smtClean="0"/>
              <a:t>2/21/2025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5D393B-D3FB-4FCB-A735-BD15267A1CE5}" type="slidenum">
              <a:rPr lang="en-US" smtClean="0"/>
              <a:t>‹#›</a:t>
            </a:fld>
            <a:endParaRPr lang="en-US"/>
          </a:p>
        </p:txBody>
      </p:sp>
    </p:spTree>
    <p:extLst>
      <p:ext uri="{BB962C8B-B14F-4D97-AF65-F5344CB8AC3E}">
        <p14:creationId xmlns:p14="http://schemas.microsoft.com/office/powerpoint/2010/main" val="1866581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docs.microsoft.com/en-us/windows/mixed-reality/enthusiast-guide/tracking-system"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evelopers.google.com/vr/discover/worldsense" TargetMode="External"/><Relationship Id="rId2" Type="http://schemas.openxmlformats.org/officeDocument/2006/relationships/hyperlink" Target="https://vr.google.com/daydream/standalonevr/" TargetMode="Externa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2.jpg"/><Relationship Id="rId4" Type="http://schemas.openxmlformats.org/officeDocument/2006/relationships/hyperlink" Target="https://developers.google.com/vr/discover/degrees-of-freedom"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docs.unity3d.com/2021.3/Documentation/Manual/InverseKinematics.html" TargetMode="External"/><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en.wikipedia.org/wiki/The_Terminator"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295400"/>
            <a:ext cx="7772400" cy="1470025"/>
          </a:xfrm>
        </p:spPr>
        <p:txBody>
          <a:bodyPr/>
          <a:lstStyle/>
          <a:p>
            <a:r>
              <a:rPr lang="en-US" b="1" dirty="0" smtClean="0"/>
              <a:t>Virtual Reality</a:t>
            </a:r>
            <a:br>
              <a:rPr lang="en-US" b="1" dirty="0" smtClean="0"/>
            </a:br>
            <a:r>
              <a:rPr lang="en-US" b="1" dirty="0"/>
              <a:t>TCS </a:t>
            </a:r>
            <a:r>
              <a:rPr lang="en-US" b="1" dirty="0" smtClean="0"/>
              <a:t>675</a:t>
            </a:r>
            <a:endParaRPr lang="en-US" b="1" dirty="0"/>
          </a:p>
        </p:txBody>
      </p:sp>
      <p:sp>
        <p:nvSpPr>
          <p:cNvPr id="3" name="Subtitle 2"/>
          <p:cNvSpPr>
            <a:spLocks noGrp="1"/>
          </p:cNvSpPr>
          <p:nvPr>
            <p:ph type="subTitle" idx="1"/>
          </p:nvPr>
        </p:nvSpPr>
        <p:spPr>
          <a:xfrm>
            <a:off x="2724150" y="4648200"/>
            <a:ext cx="6400800" cy="2209800"/>
          </a:xfrm>
        </p:spPr>
        <p:txBody>
          <a:bodyPr>
            <a:normAutofit/>
          </a:bodyPr>
          <a:lstStyle/>
          <a:p>
            <a:r>
              <a:rPr lang="en-US" sz="2400" dirty="0" smtClean="0">
                <a:solidFill>
                  <a:schemeClr val="tx1"/>
                </a:solidFill>
                <a:latin typeface="Times New Roman" pitchFamily="18" charset="0"/>
                <a:cs typeface="Times New Roman" pitchFamily="18" charset="0"/>
              </a:rPr>
              <a:t>Ms. </a:t>
            </a:r>
            <a:r>
              <a:rPr lang="en-US" sz="2400" dirty="0" err="1" smtClean="0">
                <a:solidFill>
                  <a:schemeClr val="tx1"/>
                </a:solidFill>
                <a:latin typeface="Times New Roman" pitchFamily="18" charset="0"/>
                <a:cs typeface="Times New Roman" pitchFamily="18" charset="0"/>
              </a:rPr>
              <a:t>Neha</a:t>
            </a:r>
            <a:r>
              <a:rPr lang="en-US" sz="2400" dirty="0" smtClean="0">
                <a:solidFill>
                  <a:schemeClr val="tx1"/>
                </a:solidFill>
                <a:latin typeface="Times New Roman" pitchFamily="18" charset="0"/>
                <a:cs typeface="Times New Roman" pitchFamily="18" charset="0"/>
              </a:rPr>
              <a:t> Sharma</a:t>
            </a:r>
          </a:p>
          <a:p>
            <a:r>
              <a:rPr lang="en-US" sz="2400" dirty="0" smtClean="0">
                <a:solidFill>
                  <a:schemeClr val="tx1"/>
                </a:solidFill>
                <a:latin typeface="Times New Roman" pitchFamily="18" charset="0"/>
                <a:cs typeface="Times New Roman" pitchFamily="18" charset="0"/>
              </a:rPr>
              <a:t>Assistant Professor</a:t>
            </a:r>
          </a:p>
          <a:p>
            <a:r>
              <a:rPr lang="en-US" sz="2400" dirty="0" smtClean="0">
                <a:solidFill>
                  <a:schemeClr val="tx1"/>
                </a:solidFill>
                <a:latin typeface="Times New Roman" pitchFamily="18" charset="0"/>
                <a:cs typeface="Times New Roman" pitchFamily="18" charset="0"/>
              </a:rPr>
              <a:t>Graphic Era Hill University, </a:t>
            </a:r>
            <a:r>
              <a:rPr lang="en-US" sz="2400" dirty="0" err="1" smtClean="0">
                <a:solidFill>
                  <a:schemeClr val="tx1"/>
                </a:solidFill>
                <a:latin typeface="Times New Roman" pitchFamily="18" charset="0"/>
                <a:cs typeface="Times New Roman" pitchFamily="18" charset="0"/>
              </a:rPr>
              <a:t>Haldwani</a:t>
            </a:r>
            <a:endParaRPr lang="en-US" sz="2400" dirty="0" smtClean="0">
              <a:solidFill>
                <a:schemeClr val="tx1"/>
              </a:solidFill>
              <a:latin typeface="Times New Roman" pitchFamily="18" charset="0"/>
              <a:cs typeface="Times New Roman" pitchFamily="18" charset="0"/>
            </a:endParaRPr>
          </a:p>
          <a:p>
            <a:r>
              <a:rPr lang="en-US" sz="2400" dirty="0" smtClean="0">
                <a:solidFill>
                  <a:schemeClr val="tx1"/>
                </a:solidFill>
                <a:latin typeface="Times New Roman" pitchFamily="18" charset="0"/>
                <a:cs typeface="Times New Roman" pitchFamily="18" charset="0"/>
              </a:rPr>
              <a:t>SOC Department</a:t>
            </a:r>
            <a:endParaRPr lang="en-US" sz="2400" dirty="0">
              <a:solidFill>
                <a:schemeClr val="tx1"/>
              </a:solidFill>
              <a:latin typeface="Times New Roman" pitchFamily="18" charset="0"/>
              <a:cs typeface="Times New Roman"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633DBA1E-3C9B-4EB4-8F6D-D2A9FB874B8D}" type="datetime1">
              <a:rPr lang="en-US">
                <a:ln w="12700">
                  <a:solidFill>
                    <a:schemeClr val="tx1"/>
                  </a:solidFill>
                </a:ln>
                <a:solidFill>
                  <a:schemeClr val="tx1"/>
                </a:solidFill>
              </a:rPr>
              <a:t>2/21/2025</a:t>
            </a:fld>
            <a:endParaRPr lang="en-US" dirty="0">
              <a:ln w="12700">
                <a:solidFill>
                  <a:schemeClr val="tx1"/>
                </a:solidFill>
              </a:ln>
              <a:solidFill>
                <a:schemeClr val="tx1"/>
              </a:solidFill>
            </a:endParaRPr>
          </a:p>
        </p:txBody>
      </p:sp>
      <p:sp>
        <p:nvSpPr>
          <p:cNvPr id="9" name="Slide Number Placeholder 8"/>
          <p:cNvSpPr>
            <a:spLocks noGrp="1"/>
          </p:cNvSpPr>
          <p:nvPr>
            <p:ph type="sldNum" sz="quarter" idx="12"/>
          </p:nvPr>
        </p:nvSpPr>
        <p:spPr/>
        <p:txBody>
          <a:bodyPr/>
          <a:lstStyle/>
          <a:p>
            <a:fld id="{155D393B-D3FB-4FCB-A735-BD15267A1CE5}" type="slidenum">
              <a:rPr lang="en-US" b="1" smtClean="0">
                <a:solidFill>
                  <a:schemeClr val="tx1"/>
                </a:solidFill>
              </a:rPr>
              <a:t>1</a:t>
            </a:fld>
            <a:endParaRPr lang="en-US" b="1" dirty="0">
              <a:solidFill>
                <a:schemeClr val="tx1"/>
              </a:solidFill>
            </a:endParaRPr>
          </a:p>
        </p:txBody>
      </p:sp>
    </p:spTree>
    <p:extLst>
      <p:ext uri="{BB962C8B-B14F-4D97-AF65-F5344CB8AC3E}">
        <p14:creationId xmlns:p14="http://schemas.microsoft.com/office/powerpoint/2010/main" val="23384742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Course Outcomes</a:t>
            </a:r>
            <a:endParaRPr lang="en-US" dirty="0"/>
          </a:p>
        </p:txBody>
      </p:sp>
      <p:sp>
        <p:nvSpPr>
          <p:cNvPr id="3" name="Content Placeholder 2"/>
          <p:cNvSpPr>
            <a:spLocks noGrp="1"/>
          </p:cNvSpPr>
          <p:nvPr>
            <p:ph idx="1"/>
          </p:nvPr>
        </p:nvSpPr>
        <p:spPr>
          <a:xfrm>
            <a:off x="457200" y="1295400"/>
            <a:ext cx="8229600" cy="4830763"/>
          </a:xfrm>
        </p:spPr>
        <p:txBody>
          <a:bodyPr>
            <a:noAutofit/>
          </a:bodyPr>
          <a:lstStyle/>
          <a:p>
            <a:pPr marL="0" indent="0" algn="just">
              <a:buNone/>
            </a:pPr>
            <a:r>
              <a:rPr lang="en-US" sz="2400" dirty="0" smtClean="0">
                <a:latin typeface="Times New Roman" pitchFamily="18" charset="0"/>
                <a:cs typeface="Times New Roman" pitchFamily="18" charset="0"/>
              </a:rPr>
              <a:t>CO1: </a:t>
            </a:r>
            <a:r>
              <a:rPr lang="en-US" sz="2400" dirty="0">
                <a:latin typeface="Times New Roman" pitchFamily="18" charset="0"/>
                <a:cs typeface="Times New Roman" pitchFamily="18" charset="0"/>
              </a:rPr>
              <a:t>Demonstrate an understanding of techniques, processes,</a:t>
            </a:r>
          </a:p>
          <a:p>
            <a:pPr marL="0" indent="0" algn="just">
              <a:buNone/>
            </a:pPr>
            <a:r>
              <a:rPr lang="en-US" sz="2400" dirty="0" smtClean="0">
                <a:latin typeface="Times New Roman" pitchFamily="18" charset="0"/>
                <a:cs typeface="Times New Roman" pitchFamily="18" charset="0"/>
              </a:rPr>
              <a:t>          technologies </a:t>
            </a:r>
            <a:r>
              <a:rPr lang="en-US" sz="2400" dirty="0">
                <a:latin typeface="Times New Roman" pitchFamily="18" charset="0"/>
                <a:cs typeface="Times New Roman" pitchFamily="18" charset="0"/>
              </a:rPr>
              <a:t>and equipment used in virtual reality</a:t>
            </a:r>
          </a:p>
          <a:p>
            <a:pPr marL="0" indent="0" algn="just">
              <a:buNone/>
            </a:pPr>
            <a:r>
              <a:rPr lang="en-US" sz="2400" dirty="0" smtClean="0">
                <a:latin typeface="Times New Roman" pitchFamily="18" charset="0"/>
                <a:cs typeface="Times New Roman" pitchFamily="18" charset="0"/>
              </a:rPr>
              <a:t>CO2: </a:t>
            </a:r>
            <a:r>
              <a:rPr lang="en-US" sz="2400" dirty="0">
                <a:latin typeface="Times New Roman" pitchFamily="18" charset="0"/>
                <a:cs typeface="Times New Roman" pitchFamily="18" charset="0"/>
              </a:rPr>
              <a:t>Identify appropriate design methodologies for immersive</a:t>
            </a:r>
          </a:p>
          <a:p>
            <a:pPr marL="0" indent="0" algn="just">
              <a:buNone/>
            </a:pPr>
            <a:r>
              <a:rPr lang="en-US" sz="2400" dirty="0" smtClean="0">
                <a:latin typeface="Times New Roman" pitchFamily="18" charset="0"/>
                <a:cs typeface="Times New Roman" pitchFamily="18" charset="0"/>
              </a:rPr>
              <a:t>          technology </a:t>
            </a:r>
            <a:r>
              <a:rPr lang="en-US" sz="2400" dirty="0">
                <a:latin typeface="Times New Roman" pitchFamily="18" charset="0"/>
                <a:cs typeface="Times New Roman" pitchFamily="18" charset="0"/>
              </a:rPr>
              <a:t>development, especially from a physiological</a:t>
            </a:r>
          </a:p>
          <a:p>
            <a:pPr marL="0" indent="0" algn="just">
              <a:buNone/>
            </a:pPr>
            <a:r>
              <a:rPr lang="en-US" sz="2400" dirty="0">
                <a:latin typeface="Times New Roman" pitchFamily="18" charset="0"/>
                <a:cs typeface="Times New Roman" pitchFamily="18" charset="0"/>
              </a:rPr>
              <a:t> </a:t>
            </a:r>
            <a:r>
              <a:rPr lang="en-US" sz="2400" dirty="0" smtClean="0">
                <a:latin typeface="Times New Roman" pitchFamily="18" charset="0"/>
                <a:cs typeface="Times New Roman" pitchFamily="18" charset="0"/>
              </a:rPr>
              <a:t>         perspective</a:t>
            </a:r>
            <a:endParaRPr lang="en-US" sz="2400" dirty="0">
              <a:latin typeface="Times New Roman" pitchFamily="18" charset="0"/>
              <a:cs typeface="Times New Roman" pitchFamily="18" charset="0"/>
            </a:endParaRPr>
          </a:p>
          <a:p>
            <a:pPr marL="0" indent="0" algn="just">
              <a:buNone/>
            </a:pPr>
            <a:r>
              <a:rPr lang="en-US" sz="2400" dirty="0" smtClean="0">
                <a:latin typeface="Times New Roman" pitchFamily="18" charset="0"/>
                <a:cs typeface="Times New Roman" pitchFamily="18" charset="0"/>
              </a:rPr>
              <a:t>CO3: </a:t>
            </a:r>
            <a:r>
              <a:rPr lang="en-US" sz="2400" dirty="0">
                <a:latin typeface="Times New Roman" pitchFamily="18" charset="0"/>
                <a:cs typeface="Times New Roman" pitchFamily="18" charset="0"/>
              </a:rPr>
              <a:t>Exploit the characteristics of human visual perception in</a:t>
            </a:r>
          </a:p>
          <a:p>
            <a:pPr marL="0" indent="0" algn="just">
              <a:buNone/>
            </a:pPr>
            <a:r>
              <a:rPr lang="en-US" sz="2400" dirty="0" smtClean="0">
                <a:latin typeface="Times New Roman" pitchFamily="18" charset="0"/>
                <a:cs typeface="Times New Roman" pitchFamily="18" charset="0"/>
              </a:rPr>
              <a:t>          Virtual </a:t>
            </a:r>
            <a:r>
              <a:rPr lang="en-US" sz="2400" dirty="0">
                <a:latin typeface="Times New Roman" pitchFamily="18" charset="0"/>
                <a:cs typeface="Times New Roman" pitchFamily="18" charset="0"/>
              </a:rPr>
              <a:t>Reality techniques</a:t>
            </a:r>
          </a:p>
          <a:p>
            <a:pPr marL="0" indent="0" algn="just">
              <a:buNone/>
            </a:pPr>
            <a:r>
              <a:rPr lang="en-US" sz="2400" dirty="0" smtClean="0">
                <a:latin typeface="Times New Roman" pitchFamily="18" charset="0"/>
                <a:cs typeface="Times New Roman" pitchFamily="18" charset="0"/>
              </a:rPr>
              <a:t>CO4: </a:t>
            </a:r>
            <a:r>
              <a:rPr lang="en-US" sz="2400" dirty="0">
                <a:latin typeface="Times New Roman" pitchFamily="18" charset="0"/>
                <a:cs typeface="Times New Roman" pitchFamily="18" charset="0"/>
              </a:rPr>
              <a:t>Create effective VR techniques for the Web</a:t>
            </a:r>
          </a:p>
          <a:p>
            <a:pPr marL="0" indent="0" algn="just">
              <a:buNone/>
            </a:pPr>
            <a:r>
              <a:rPr lang="en-US" sz="2400" dirty="0" smtClean="0">
                <a:latin typeface="Times New Roman" pitchFamily="18" charset="0"/>
                <a:cs typeface="Times New Roman" pitchFamily="18" charset="0"/>
              </a:rPr>
              <a:t>CO5: </a:t>
            </a:r>
            <a:r>
              <a:rPr lang="en-US" sz="2400" dirty="0">
                <a:latin typeface="Times New Roman" pitchFamily="18" charset="0"/>
                <a:cs typeface="Times New Roman" pitchFamily="18" charset="0"/>
              </a:rPr>
              <a:t>Effectively categorize the benefits/shortcomings of</a:t>
            </a:r>
          </a:p>
          <a:p>
            <a:pPr marL="0" indent="0" algn="just">
              <a:buNone/>
            </a:pPr>
            <a:r>
              <a:rPr lang="en-US" sz="2400" dirty="0" smtClean="0">
                <a:latin typeface="Times New Roman" pitchFamily="18" charset="0"/>
                <a:cs typeface="Times New Roman" pitchFamily="18" charset="0"/>
              </a:rPr>
              <a:t>          available </a:t>
            </a:r>
            <a:r>
              <a:rPr lang="en-US" sz="2400" dirty="0">
                <a:latin typeface="Times New Roman" pitchFamily="18" charset="0"/>
                <a:cs typeface="Times New Roman" pitchFamily="18" charset="0"/>
              </a:rPr>
              <a:t>VR technology platforms.</a:t>
            </a:r>
          </a:p>
          <a:p>
            <a:pPr marL="0" indent="0" algn="just">
              <a:buNone/>
            </a:pPr>
            <a:r>
              <a:rPr lang="en-US" sz="2400" dirty="0" smtClean="0">
                <a:latin typeface="Times New Roman" pitchFamily="18" charset="0"/>
                <a:cs typeface="Times New Roman" pitchFamily="18" charset="0"/>
              </a:rPr>
              <a:t>CO6: </a:t>
            </a:r>
            <a:r>
              <a:rPr lang="en-US" sz="2400" dirty="0">
                <a:latin typeface="Times New Roman" pitchFamily="18" charset="0"/>
                <a:cs typeface="Times New Roman" pitchFamily="18" charset="0"/>
              </a:rPr>
              <a:t>Use human factors to design and evaluate a VR application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6FBE13C5-096C-4414-BAF5-BA411B408E52}" type="datetime1">
              <a:rPr lang="en-US" smtClean="0">
                <a:ln w="12700">
                  <a:solidFill>
                    <a:schemeClr val="tx1"/>
                  </a:solidFill>
                </a:ln>
                <a:solidFill>
                  <a:schemeClr val="tx1"/>
                </a:solidFill>
              </a:rPr>
              <a:t>2/21/2025</a:t>
            </a:fld>
            <a:endParaRPr lang="en-US" dirty="0">
              <a:ln w="12700">
                <a:solidFill>
                  <a:schemeClr val="tx1"/>
                </a:solidFill>
              </a:ln>
              <a:solidFill>
                <a:schemeClr val="tx1"/>
              </a:solidFill>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solidFill>
                  <a:schemeClr val="tx1"/>
                </a:solidFill>
              </a:rPr>
              <a:t>2</a:t>
            </a:fld>
            <a:endParaRPr lang="en-US" dirty="0">
              <a:ln w="12700">
                <a:solidFill>
                  <a:schemeClr val="tx1"/>
                </a:solidFill>
              </a:ln>
              <a:solidFill>
                <a:schemeClr val="tx1"/>
              </a:solidFill>
            </a:endParaRPr>
          </a:p>
        </p:txBody>
      </p:sp>
    </p:spTree>
    <p:extLst>
      <p:ext uri="{BB962C8B-B14F-4D97-AF65-F5344CB8AC3E}">
        <p14:creationId xmlns:p14="http://schemas.microsoft.com/office/powerpoint/2010/main" val="26422385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Syllabus</a:t>
            </a:r>
            <a:br>
              <a:rPr lang="en-US" dirty="0" smtClean="0"/>
            </a:br>
            <a:r>
              <a:rPr lang="en-US" dirty="0" smtClean="0"/>
              <a:t>UNIT 2</a:t>
            </a:r>
            <a:endParaRPr lang="en-US" dirty="0"/>
          </a:p>
        </p:txBody>
      </p:sp>
      <p:sp>
        <p:nvSpPr>
          <p:cNvPr id="3" name="Content Placeholder 2"/>
          <p:cNvSpPr>
            <a:spLocks noGrp="1"/>
          </p:cNvSpPr>
          <p:nvPr>
            <p:ph idx="1"/>
          </p:nvPr>
        </p:nvSpPr>
        <p:spPr>
          <a:xfrm>
            <a:off x="457200" y="1447800"/>
            <a:ext cx="8229600" cy="4678363"/>
          </a:xfrm>
        </p:spPr>
        <p:txBody>
          <a:bodyPr>
            <a:noAutofit/>
          </a:bodyPr>
          <a:lstStyle/>
          <a:p>
            <a:pPr marL="0" indent="0" algn="just">
              <a:buNone/>
            </a:pPr>
            <a:r>
              <a:rPr lang="en-US" sz="2800" b="1" dirty="0" smtClean="0"/>
              <a:t>Degrees </a:t>
            </a:r>
            <a:r>
              <a:rPr lang="en-US" sz="2800" b="1" dirty="0"/>
              <a:t>of Freedom</a:t>
            </a:r>
            <a:r>
              <a:rPr lang="en-US" sz="2800" dirty="0"/>
              <a:t>: VR input devices Relative and </a:t>
            </a:r>
            <a:r>
              <a:rPr lang="en-US" sz="2800" dirty="0" smtClean="0"/>
              <a:t>Absolute Degrees </a:t>
            </a:r>
            <a:r>
              <a:rPr lang="en-US" sz="2800" dirty="0"/>
              <a:t>of Freedom, Six </a:t>
            </a:r>
            <a:r>
              <a:rPr lang="en-US" sz="2800" dirty="0" smtClean="0"/>
              <a:t>DOF </a:t>
            </a:r>
          </a:p>
          <a:p>
            <a:pPr marL="0" indent="0" algn="just">
              <a:buNone/>
            </a:pPr>
            <a:r>
              <a:rPr lang="en-US" sz="2800" b="1" dirty="0" smtClean="0"/>
              <a:t>Selection </a:t>
            </a:r>
            <a:r>
              <a:rPr lang="en-US" sz="2800" b="1" dirty="0"/>
              <a:t>and Manipulation in VR</a:t>
            </a:r>
            <a:r>
              <a:rPr lang="en-US" sz="2800" dirty="0"/>
              <a:t>: Isomorphic and </a:t>
            </a:r>
            <a:r>
              <a:rPr lang="en-US" sz="2800" dirty="0" smtClean="0"/>
              <a:t>Non- Isomorphic</a:t>
            </a:r>
            <a:r>
              <a:rPr lang="en-US" sz="2800" dirty="0"/>
              <a:t>, Egocentric and Exocentric Interaction </a:t>
            </a:r>
            <a:r>
              <a:rPr lang="en-US" sz="2800" dirty="0" smtClean="0"/>
              <a:t>techniques, Selection </a:t>
            </a:r>
            <a:r>
              <a:rPr lang="en-US" sz="2800" dirty="0"/>
              <a:t>with HMDs</a:t>
            </a:r>
            <a:endParaRPr lang="en-US" sz="28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9A164357-DFFA-4B36-BA1E-37DD06DA3B8D}" type="datetime1">
              <a:rPr lang="en-US" smtClean="0">
                <a:ln w="12700">
                  <a:solidFill>
                    <a:schemeClr val="tx1"/>
                  </a:solidFill>
                </a:ln>
                <a:solidFill>
                  <a:schemeClr val="tx1"/>
                </a:solidFill>
              </a:rPr>
              <a:t>2/21/2025</a:t>
            </a:fld>
            <a:endParaRPr lang="en-US" dirty="0">
              <a:ln w="12700">
                <a:solidFill>
                  <a:schemeClr val="tx1"/>
                </a:solidFill>
              </a:ln>
              <a:solidFill>
                <a:schemeClr val="tx1"/>
              </a:solidFill>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solidFill>
                  <a:schemeClr val="tx1"/>
                </a:solidFill>
              </a:rPr>
              <a:t>3</a:t>
            </a:fld>
            <a:endParaRPr lang="en-US" dirty="0">
              <a:ln w="12700">
                <a:solidFill>
                  <a:schemeClr val="tx1"/>
                </a:solidFill>
              </a:ln>
              <a:solidFill>
                <a:schemeClr val="tx1"/>
              </a:solidFill>
            </a:endParaRPr>
          </a:p>
        </p:txBody>
      </p:sp>
    </p:spTree>
    <p:extLst>
      <p:ext uri="{BB962C8B-B14F-4D97-AF65-F5344CB8AC3E}">
        <p14:creationId xmlns:p14="http://schemas.microsoft.com/office/powerpoint/2010/main" val="12243814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Degrees of Freedom</a:t>
            </a:r>
          </a:p>
        </p:txBody>
      </p:sp>
      <p:sp>
        <p:nvSpPr>
          <p:cNvPr id="3" name="Content Placeholder 2"/>
          <p:cNvSpPr>
            <a:spLocks noGrp="1"/>
          </p:cNvSpPr>
          <p:nvPr>
            <p:ph idx="1"/>
          </p:nvPr>
        </p:nvSpPr>
        <p:spPr>
          <a:xfrm>
            <a:off x="457200" y="1295400"/>
            <a:ext cx="8229600" cy="4830763"/>
          </a:xfrm>
        </p:spPr>
        <p:txBody>
          <a:bodyPr>
            <a:noAutofit/>
          </a:bodyPr>
          <a:lstStyle/>
          <a:p>
            <a:pPr marL="0" indent="0" algn="just" fontAlgn="ctr">
              <a:buNone/>
            </a:pPr>
            <a:r>
              <a:rPr lang="en-US" sz="2400" dirty="0"/>
              <a:t>"</a:t>
            </a:r>
            <a:r>
              <a:rPr lang="en-US" sz="2400" b="1" dirty="0"/>
              <a:t>degrees of freedom" (</a:t>
            </a:r>
            <a:r>
              <a:rPr lang="en-US" sz="2400" b="1" dirty="0" err="1"/>
              <a:t>DoF</a:t>
            </a:r>
            <a:r>
              <a:rPr lang="en-US" sz="2400" b="1" dirty="0"/>
              <a:t>)</a:t>
            </a:r>
            <a:r>
              <a:rPr lang="en-US" sz="2400" dirty="0"/>
              <a:t> refers to the number of independent ways a user can move within a virtual environment, with </a:t>
            </a:r>
            <a:r>
              <a:rPr lang="en-US" sz="2400" b="1" dirty="0"/>
              <a:t>"relative" </a:t>
            </a:r>
            <a:r>
              <a:rPr lang="en-US" sz="2400" b="1" dirty="0" err="1"/>
              <a:t>DoF</a:t>
            </a:r>
            <a:r>
              <a:rPr lang="en-US" sz="2400" b="1" dirty="0"/>
              <a:t> </a:t>
            </a:r>
            <a:r>
              <a:rPr lang="en-US" sz="2400" dirty="0"/>
              <a:t>meaning movement is tracked relative to the user's current position, while </a:t>
            </a:r>
            <a:r>
              <a:rPr lang="en-US" sz="2400" b="1" dirty="0"/>
              <a:t>"absolute" </a:t>
            </a:r>
            <a:r>
              <a:rPr lang="en-US" sz="2400" b="1" dirty="0" err="1"/>
              <a:t>DoF</a:t>
            </a:r>
            <a:r>
              <a:rPr lang="en-US" sz="2400" b="1" dirty="0"/>
              <a:t> </a:t>
            </a:r>
            <a:r>
              <a:rPr lang="en-US" sz="2400" dirty="0"/>
              <a:t>tracks the user's exact position in space, allowing for full movement throughout the virtual environment. </a:t>
            </a:r>
          </a:p>
          <a:p>
            <a:pPr marL="0" indent="0" algn="just">
              <a:buNone/>
            </a:pPr>
            <a:r>
              <a:rPr lang="en-US" sz="2400" b="1" dirty="0"/>
              <a:t>Degrees of freedom (</a:t>
            </a:r>
            <a:r>
              <a:rPr lang="en-US" sz="2400" b="1" dirty="0" err="1"/>
              <a:t>DoF</a:t>
            </a:r>
            <a:r>
              <a:rPr lang="en-US" sz="2400" b="1" dirty="0"/>
              <a:t>)</a:t>
            </a:r>
            <a:r>
              <a:rPr lang="en-US" sz="2400" dirty="0"/>
              <a:t> refer to the number of basic ways a rigid object can move through 3D space. There are six total degrees of freedom. Three correspond to rotational movement around the </a:t>
            </a:r>
            <a:r>
              <a:rPr lang="en-US" sz="2400" b="1" dirty="0"/>
              <a:t>x, y, and z axes</a:t>
            </a:r>
            <a:r>
              <a:rPr lang="en-US" sz="2400" dirty="0"/>
              <a:t>, commonly termed pitch, yaw, and roll. The other three correspond to translational movement along those axes, which can be thought of as </a:t>
            </a:r>
            <a:r>
              <a:rPr lang="en-US" sz="2400" b="1" dirty="0"/>
              <a:t>moving forward or backward, moving left or right, and moving up or down</a:t>
            </a:r>
            <a:r>
              <a:rPr lang="en-US" sz="2400" dirty="0"/>
              <a:t>.</a:t>
            </a:r>
            <a:br>
              <a:rPr lang="en-US" sz="2400" dirty="0"/>
            </a:br>
            <a:endParaRPr lang="en-US" sz="24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4</a:t>
            </a:fld>
            <a:endParaRPr lang="en-US">
              <a:ln w="12700">
                <a:solidFill>
                  <a:schemeClr val="tx1"/>
                </a:solidFill>
              </a:ln>
            </a:endParaRPr>
          </a:p>
        </p:txBody>
      </p:sp>
    </p:spTree>
    <p:extLst>
      <p:ext uri="{BB962C8B-B14F-4D97-AF65-F5344CB8AC3E}">
        <p14:creationId xmlns:p14="http://schemas.microsoft.com/office/powerpoint/2010/main" val="283248377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830763"/>
          </a:xfrm>
        </p:spPr>
        <p:txBody>
          <a:bodyPr>
            <a:noAutofit/>
          </a:bodyPr>
          <a:lstStyle/>
          <a:p>
            <a:pPr algn="just"/>
            <a:r>
              <a:rPr lang="en-US" sz="2800" dirty="0"/>
              <a:t>VR headsets and input devices are generally 3DoF or 6DoF.</a:t>
            </a:r>
          </a:p>
          <a:p>
            <a:pPr algn="just"/>
            <a:r>
              <a:rPr lang="en-US" sz="2800" dirty="0"/>
              <a:t>3DoF means we can track rotational motion but not translational. For the headset, that means we can track whether the user has turned their head left or right, tilted it up or down, or pivoted left and right.</a:t>
            </a:r>
          </a:p>
          <a:p>
            <a:pPr algn="just"/>
            <a:r>
              <a:rPr lang="en-US" sz="2800" dirty="0"/>
              <a:t>6DoF means we can additionally track translational motion. That means we can track whether the user has moved forward, backward, laterally, or vertically.</a:t>
            </a:r>
          </a:p>
          <a:p>
            <a:pPr marL="457200" indent="-457200" algn="just">
              <a:buAutoNum type="arabicPeriod"/>
            </a:pPr>
            <a:endParaRPr lang="en-US" sz="28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5</a:t>
            </a:fld>
            <a:endParaRPr lang="en-US">
              <a:ln w="12700">
                <a:solidFill>
                  <a:schemeClr val="tx1"/>
                </a:solidFill>
              </a:ln>
            </a:endParaRPr>
          </a:p>
        </p:txBody>
      </p:sp>
    </p:spTree>
    <p:extLst>
      <p:ext uri="{BB962C8B-B14F-4D97-AF65-F5344CB8AC3E}">
        <p14:creationId xmlns:p14="http://schemas.microsoft.com/office/powerpoint/2010/main" val="24076159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830763"/>
          </a:xfrm>
        </p:spPr>
        <p:txBody>
          <a:bodyPr>
            <a:noAutofit/>
          </a:bodyPr>
          <a:lstStyle/>
          <a:p>
            <a:pPr marL="457200" indent="-457200" algn="just">
              <a:buAutoNum type="arabicPeriod"/>
            </a:pPr>
            <a:endParaRPr lang="en-US" sz="24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6</a:t>
            </a:fld>
            <a:endParaRPr lang="en-US">
              <a:ln w="12700">
                <a:solidFill>
                  <a:schemeClr val="tx1"/>
                </a:solidFill>
              </a:ln>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1" y="2014538"/>
            <a:ext cx="6572250" cy="3624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089666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7</a:t>
            </a:fld>
            <a:endParaRPr lang="en-US">
              <a:ln w="12700">
                <a:solidFill>
                  <a:schemeClr val="tx1"/>
                </a:solidFill>
              </a:ln>
            </a:endParaRPr>
          </a:p>
        </p:txBody>
      </p:sp>
      <p:pic>
        <p:nvPicPr>
          <p:cNvPr id="205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 y="1143000"/>
            <a:ext cx="8229600" cy="4180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891632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8</a:t>
            </a:fld>
            <a:endParaRPr lang="en-US">
              <a:ln w="12700">
                <a:solidFill>
                  <a:schemeClr val="tx1"/>
                </a:solidFill>
              </a:ln>
            </a:endParaRPr>
          </a:p>
        </p:txBody>
      </p:sp>
      <p:sp>
        <p:nvSpPr>
          <p:cNvPr id="3" name="Content Placeholder 2"/>
          <p:cNvSpPr>
            <a:spLocks noGrp="1"/>
          </p:cNvSpPr>
          <p:nvPr>
            <p:ph idx="1"/>
          </p:nvPr>
        </p:nvSpPr>
        <p:spPr>
          <a:xfrm>
            <a:off x="457200" y="1143000"/>
            <a:ext cx="8229600" cy="4983163"/>
          </a:xfrm>
        </p:spPr>
        <p:txBody>
          <a:bodyPr>
            <a:normAutofit fontScale="92500" lnSpcReduction="10000"/>
          </a:bodyPr>
          <a:lstStyle/>
          <a:p>
            <a:pPr algn="just"/>
            <a:r>
              <a:rPr lang="en-US" b="1" dirty="0"/>
              <a:t>Key development differences</a:t>
            </a:r>
          </a:p>
          <a:p>
            <a:pPr algn="just"/>
            <a:r>
              <a:rPr lang="en-US" dirty="0"/>
              <a:t>3DoF head-tracking means you can only track rotational movement.</a:t>
            </a:r>
          </a:p>
          <a:p>
            <a:pPr algn="just"/>
            <a:r>
              <a:rPr lang="en-US" dirty="0"/>
              <a:t>6DoF head-tracking means you can track both position and rotation.</a:t>
            </a:r>
          </a:p>
          <a:p>
            <a:pPr algn="just"/>
            <a:r>
              <a:rPr lang="en-US" dirty="0"/>
              <a:t>In 3DoF you need to use a neck model to simulate realistic movement, which Daydream provides.</a:t>
            </a:r>
          </a:p>
          <a:p>
            <a:pPr algn="just"/>
            <a:r>
              <a:rPr lang="en-US" dirty="0"/>
              <a:t>In 6DoF a neck model is not necessary because the actual position and rotation of the head are known.</a:t>
            </a:r>
          </a:p>
          <a:p>
            <a:pPr algn="just"/>
            <a:endParaRPr lang="en-US" dirty="0"/>
          </a:p>
        </p:txBody>
      </p:sp>
    </p:spTree>
    <p:extLst>
      <p:ext uri="{BB962C8B-B14F-4D97-AF65-F5344CB8AC3E}">
        <p14:creationId xmlns:p14="http://schemas.microsoft.com/office/powerpoint/2010/main" val="13062176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pPr algn="just"/>
            <a:fld id="{5F97ACC3-E5D9-49F8-914F-F4C5FC591610}" type="datetime1">
              <a:rPr lang="en-US" smtClean="0">
                <a:ln w="12700">
                  <a:solidFill>
                    <a:schemeClr val="tx1"/>
                  </a:solidFill>
                </a:ln>
              </a:rPr>
              <a:pPr algn="just"/>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pPr algn="just"/>
            <a:fld id="{155D393B-D3FB-4FCB-A735-BD15267A1CE5}" type="slidenum">
              <a:rPr lang="en-US" smtClean="0">
                <a:ln w="12700">
                  <a:solidFill>
                    <a:schemeClr val="tx1"/>
                  </a:solidFill>
                </a:ln>
              </a:rPr>
              <a:pPr algn="just"/>
              <a:t>9</a:t>
            </a:fld>
            <a:endParaRPr lang="en-US">
              <a:ln w="12700">
                <a:solidFill>
                  <a:schemeClr val="tx1"/>
                </a:solidFill>
              </a:ln>
            </a:endParaRPr>
          </a:p>
        </p:txBody>
      </p:sp>
      <p:sp>
        <p:nvSpPr>
          <p:cNvPr id="3" name="Content Placeholder 2"/>
          <p:cNvSpPr>
            <a:spLocks noGrp="1"/>
          </p:cNvSpPr>
          <p:nvPr>
            <p:ph idx="1"/>
          </p:nvPr>
        </p:nvSpPr>
        <p:spPr>
          <a:xfrm>
            <a:off x="457200" y="762000"/>
            <a:ext cx="8229600" cy="5364163"/>
          </a:xfrm>
        </p:spPr>
        <p:txBody>
          <a:bodyPr>
            <a:normAutofit fontScale="85000" lnSpcReduction="20000"/>
          </a:bodyPr>
          <a:lstStyle/>
          <a:p>
            <a:pPr algn="just" fontAlgn="base"/>
            <a:r>
              <a:rPr lang="en-US" b="1" dirty="0"/>
              <a:t>How is 3-DoF tracking achieved?</a:t>
            </a:r>
          </a:p>
          <a:p>
            <a:pPr algn="just" fontAlgn="base"/>
            <a:r>
              <a:rPr lang="en-US" dirty="0"/>
              <a:t>3-DoF headsets provide the simplest form of user tracking in VR. It relies mostly on inbuilt sensors (accelerometers, gyroscopes and magnetometers) that devices (such as a smartphone) use to measure movement.</a:t>
            </a:r>
          </a:p>
          <a:p>
            <a:pPr marL="0" indent="0" algn="just" fontAlgn="base">
              <a:buNone/>
            </a:pPr>
            <a:endParaRPr lang="en-US" dirty="0" smtClean="0"/>
          </a:p>
          <a:p>
            <a:pPr marL="0" indent="0" algn="just" fontAlgn="base">
              <a:buNone/>
            </a:pPr>
            <a:r>
              <a:rPr lang="en-US" dirty="0" smtClean="0"/>
              <a:t>Examples </a:t>
            </a:r>
            <a:r>
              <a:rPr lang="en-US" dirty="0"/>
              <a:t>of 3-DoF VR headsets:</a:t>
            </a:r>
          </a:p>
          <a:p>
            <a:pPr algn="just" fontAlgn="base"/>
            <a:r>
              <a:rPr lang="en-US" dirty="0"/>
              <a:t>Google Cardboard</a:t>
            </a:r>
          </a:p>
          <a:p>
            <a:pPr algn="just" fontAlgn="base"/>
            <a:r>
              <a:rPr lang="en-US" dirty="0"/>
              <a:t>Oculus Go</a:t>
            </a:r>
          </a:p>
          <a:p>
            <a:pPr algn="just" fontAlgn="base"/>
            <a:r>
              <a:rPr lang="en-US" dirty="0"/>
              <a:t>Merge VR</a:t>
            </a:r>
          </a:p>
          <a:p>
            <a:pPr algn="just" fontAlgn="base"/>
            <a:r>
              <a:rPr lang="en-US" dirty="0"/>
              <a:t>Samsung Gear VR</a:t>
            </a:r>
          </a:p>
          <a:p>
            <a:pPr algn="just" fontAlgn="base"/>
            <a:r>
              <a:rPr lang="en-US" dirty="0"/>
              <a:t>Google Daydream</a:t>
            </a:r>
          </a:p>
          <a:p>
            <a:pPr algn="just"/>
            <a:endParaRPr lang="en-US" dirty="0"/>
          </a:p>
        </p:txBody>
      </p:sp>
    </p:spTree>
    <p:extLst>
      <p:ext uri="{BB962C8B-B14F-4D97-AF65-F5344CB8AC3E}">
        <p14:creationId xmlns:p14="http://schemas.microsoft.com/office/powerpoint/2010/main" val="3334859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pPr algn="just"/>
            <a:fld id="{5F97ACC3-E5D9-49F8-914F-F4C5FC591610}" type="datetime1">
              <a:rPr lang="en-US" smtClean="0">
                <a:ln w="12700">
                  <a:solidFill>
                    <a:schemeClr val="tx1"/>
                  </a:solidFill>
                </a:ln>
              </a:rPr>
              <a:pPr algn="just"/>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pPr algn="just"/>
            <a:fld id="{155D393B-D3FB-4FCB-A735-BD15267A1CE5}" type="slidenum">
              <a:rPr lang="en-US" smtClean="0">
                <a:ln w="12700">
                  <a:solidFill>
                    <a:schemeClr val="tx1"/>
                  </a:solidFill>
                </a:ln>
              </a:rPr>
              <a:pPr algn="just"/>
              <a:t>10</a:t>
            </a:fld>
            <a:endParaRPr lang="en-US">
              <a:ln w="12700">
                <a:solidFill>
                  <a:schemeClr val="tx1"/>
                </a:solidFill>
              </a:ln>
            </a:endParaRPr>
          </a:p>
        </p:txBody>
      </p:sp>
      <p:sp>
        <p:nvSpPr>
          <p:cNvPr id="3" name="Content Placeholder 2"/>
          <p:cNvSpPr>
            <a:spLocks noGrp="1"/>
          </p:cNvSpPr>
          <p:nvPr>
            <p:ph idx="1"/>
          </p:nvPr>
        </p:nvSpPr>
        <p:spPr>
          <a:xfrm>
            <a:off x="457200" y="762000"/>
            <a:ext cx="8229600" cy="5364163"/>
          </a:xfrm>
        </p:spPr>
        <p:txBody>
          <a:bodyPr>
            <a:normAutofit fontScale="92500" lnSpcReduction="10000"/>
          </a:bodyPr>
          <a:lstStyle/>
          <a:p>
            <a:pPr algn="just" fontAlgn="ctr"/>
            <a:r>
              <a:rPr lang="en-US" dirty="0"/>
              <a:t>Accelerometers, gyroscopes, and magnetometers are all sensors used to detect motion, with each specializing in a different aspect: an accelerometer measures linear acceleration, a gyroscope measures rotational velocity (angular rate), and a magnetometer detects the Earth's magnetic field to determine orientation based on compass direction; when combined, they provide a comprehensive understanding of an object's movement in 3D space, often used in applications like smartphones, drones, and navigation systems. </a:t>
            </a:r>
          </a:p>
          <a:p>
            <a:pPr marL="0" indent="0" algn="just">
              <a:buNone/>
            </a:pPr>
            <a:endParaRPr lang="en-US" dirty="0"/>
          </a:p>
        </p:txBody>
      </p:sp>
    </p:spTree>
    <p:extLst>
      <p:ext uri="{BB962C8B-B14F-4D97-AF65-F5344CB8AC3E}">
        <p14:creationId xmlns:p14="http://schemas.microsoft.com/office/powerpoint/2010/main" val="31767447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228600"/>
            <a:ext cx="4038600" cy="5897563"/>
          </a:xfrm>
        </p:spPr>
        <p:txBody>
          <a:bodyPr>
            <a:noAutofit/>
          </a:bodyPr>
          <a:lstStyle/>
          <a:p>
            <a:pPr marL="457200" indent="-457200" algn="just">
              <a:buAutoNum type="arabicPeriod"/>
            </a:pPr>
            <a:r>
              <a:rPr lang="en-US" sz="2400" dirty="0"/>
              <a:t>The Daydream View is a comfortable, lightweight, and easy-to-wear headset featuring an </a:t>
            </a:r>
            <a:r>
              <a:rPr lang="en-US" sz="2400" dirty="0" smtClean="0"/>
              <a:t>NFC</a:t>
            </a:r>
            <a:r>
              <a:rPr lang="en-US" sz="2400" dirty="0"/>
              <a:t> </a:t>
            </a:r>
            <a:r>
              <a:rPr lang="en-US" sz="2400" dirty="0" smtClean="0"/>
              <a:t>sensor </a:t>
            </a:r>
            <a:r>
              <a:rPr lang="en-US" sz="2400" dirty="0"/>
              <a:t>that allows the phone to automatically detects it is placed into the headset. The Daydream View also comes with a Daydream </a:t>
            </a:r>
            <a:r>
              <a:rPr lang="en-US" sz="2400" dirty="0" smtClean="0"/>
              <a:t>controller, </a:t>
            </a:r>
            <a:r>
              <a:rPr lang="en-US" sz="2400" dirty="0"/>
              <a:t>which combines a simple, intuitive user </a:t>
            </a:r>
            <a:r>
              <a:rPr lang="en-US" sz="2400" dirty="0" err="1"/>
              <a:t>inferface</a:t>
            </a:r>
            <a:r>
              <a:rPr lang="en-US" sz="2400" dirty="0"/>
              <a:t> with 3DoF functionality. All Daydream apps must work with the Daydream controller.</a:t>
            </a:r>
            <a:endParaRPr lang="en-US" sz="2400" dirty="0">
              <a:latin typeface="Times New Roman" pitchFamily="18" charset="0"/>
              <a:cs typeface="Times New Roman" pitchFamily="18" charset="0"/>
            </a:endParaRPr>
          </a:p>
        </p:txBody>
      </p:sp>
      <p:sp>
        <p:nvSpPr>
          <p:cNvPr id="7" name="Content Placeholder 6"/>
          <p:cNvSpPr>
            <a:spLocks noGrp="1"/>
          </p:cNvSpPr>
          <p:nvPr>
            <p:ph sz="half" idx="2"/>
          </p:nvPr>
        </p:nvSpPr>
        <p:spPr/>
        <p:txBody>
          <a:bodyPr/>
          <a:lstStyle/>
          <a:p>
            <a:endParaRPr lang="en-US"/>
          </a:p>
        </p:txBody>
      </p:sp>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11</a:t>
            </a:fld>
            <a:endParaRPr lang="en-US">
              <a:ln w="12700">
                <a:solidFill>
                  <a:schemeClr val="tx1"/>
                </a:solidFill>
              </a:ln>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9625" y="1600200"/>
            <a:ext cx="4327449" cy="407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70866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12</a:t>
            </a:fld>
            <a:endParaRPr lang="en-US">
              <a:ln w="12700">
                <a:solidFill>
                  <a:schemeClr val="tx1"/>
                </a:solidFill>
              </a:ln>
            </a:endParaRPr>
          </a:p>
        </p:txBody>
      </p:sp>
      <p:sp>
        <p:nvSpPr>
          <p:cNvPr id="3" name="Content Placeholder 2"/>
          <p:cNvSpPr>
            <a:spLocks noGrp="1"/>
          </p:cNvSpPr>
          <p:nvPr>
            <p:ph idx="1"/>
          </p:nvPr>
        </p:nvSpPr>
        <p:spPr>
          <a:xfrm>
            <a:off x="457200" y="762000"/>
            <a:ext cx="8229600" cy="5364163"/>
          </a:xfrm>
        </p:spPr>
        <p:txBody>
          <a:bodyPr>
            <a:normAutofit fontScale="62500" lnSpcReduction="20000"/>
          </a:bodyPr>
          <a:lstStyle/>
          <a:p>
            <a:pPr algn="just" fontAlgn="base"/>
            <a:r>
              <a:rPr lang="en-US" b="1" dirty="0"/>
              <a:t>6-DoF headsets</a:t>
            </a:r>
          </a:p>
          <a:p>
            <a:pPr marL="0" indent="0" algn="just" fontAlgn="base">
              <a:buNone/>
            </a:pPr>
            <a:r>
              <a:rPr lang="en-US" dirty="0"/>
              <a:t>6-DoF headsets allow us to track translational motion as well as rotational motion. We can determine whether a user has rotated their head and moved:</a:t>
            </a:r>
          </a:p>
          <a:p>
            <a:pPr algn="just" fontAlgn="base"/>
            <a:r>
              <a:rPr lang="en-US" dirty="0"/>
              <a:t>Forward or backward</a:t>
            </a:r>
          </a:p>
          <a:p>
            <a:pPr algn="just" fontAlgn="base"/>
            <a:r>
              <a:rPr lang="en-US" dirty="0"/>
              <a:t>Laterally or vertically</a:t>
            </a:r>
          </a:p>
          <a:p>
            <a:pPr algn="just" fontAlgn="base"/>
            <a:r>
              <a:rPr lang="en-US" dirty="0"/>
              <a:t>Up or down</a:t>
            </a:r>
          </a:p>
          <a:p>
            <a:pPr marL="0" indent="0" algn="just" fontAlgn="base">
              <a:buNone/>
            </a:pPr>
            <a:r>
              <a:rPr lang="en-US" dirty="0"/>
              <a:t>This type of tracking is important for VR experiences with translational motion and gives the user a lot more freedom to explore locations, inspect details and perform real life tasks in VR.</a:t>
            </a:r>
          </a:p>
          <a:p>
            <a:pPr marL="0" indent="0" algn="just" fontAlgn="base">
              <a:buNone/>
            </a:pPr>
            <a:r>
              <a:rPr lang="en-US" dirty="0"/>
              <a:t>Examples of 6-DoF VR headsets:</a:t>
            </a:r>
          </a:p>
          <a:p>
            <a:pPr algn="just" fontAlgn="base"/>
            <a:r>
              <a:rPr lang="en-US" dirty="0"/>
              <a:t>Oculus Rift</a:t>
            </a:r>
          </a:p>
          <a:p>
            <a:pPr algn="just" fontAlgn="base"/>
            <a:r>
              <a:rPr lang="en-US" dirty="0"/>
              <a:t>Oculus Quest</a:t>
            </a:r>
          </a:p>
          <a:p>
            <a:pPr algn="just" fontAlgn="base"/>
            <a:r>
              <a:rPr lang="en-US" dirty="0"/>
              <a:t>Pico Neo</a:t>
            </a:r>
          </a:p>
          <a:p>
            <a:pPr algn="just" fontAlgn="base"/>
            <a:r>
              <a:rPr lang="en-US" dirty="0"/>
              <a:t>HTC Vive</a:t>
            </a:r>
          </a:p>
          <a:p>
            <a:pPr algn="just" fontAlgn="base"/>
            <a:r>
              <a:rPr lang="en-US" dirty="0"/>
              <a:t>Windows Mixed Reality</a:t>
            </a:r>
          </a:p>
          <a:p>
            <a:pPr algn="just" fontAlgn="base"/>
            <a:r>
              <a:rPr lang="en-US" dirty="0"/>
              <a:t>Apple Vision Pro</a:t>
            </a:r>
          </a:p>
          <a:p>
            <a:pPr marL="0" indent="0" algn="just">
              <a:buNone/>
            </a:pPr>
            <a:r>
              <a:rPr lang="en-US" dirty="0"/>
              <a:t/>
            </a:r>
            <a:br>
              <a:rPr lang="en-US" dirty="0"/>
            </a:br>
            <a:endParaRPr lang="en-US" dirty="0"/>
          </a:p>
        </p:txBody>
      </p:sp>
    </p:spTree>
    <p:extLst>
      <p:ext uri="{BB962C8B-B14F-4D97-AF65-F5344CB8AC3E}">
        <p14:creationId xmlns:p14="http://schemas.microsoft.com/office/powerpoint/2010/main" val="35440695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13</a:t>
            </a:fld>
            <a:endParaRPr lang="en-US">
              <a:ln w="12700">
                <a:solidFill>
                  <a:schemeClr val="tx1"/>
                </a:solidFill>
              </a:ln>
            </a:endParaRPr>
          </a:p>
        </p:txBody>
      </p:sp>
      <p:sp>
        <p:nvSpPr>
          <p:cNvPr id="3" name="Content Placeholder 2"/>
          <p:cNvSpPr>
            <a:spLocks noGrp="1"/>
          </p:cNvSpPr>
          <p:nvPr>
            <p:ph idx="1"/>
          </p:nvPr>
        </p:nvSpPr>
        <p:spPr>
          <a:xfrm>
            <a:off x="457200" y="1143000"/>
            <a:ext cx="8229600" cy="4983163"/>
          </a:xfrm>
        </p:spPr>
        <p:txBody>
          <a:bodyPr>
            <a:normAutofit fontScale="77500" lnSpcReduction="20000"/>
          </a:bodyPr>
          <a:lstStyle/>
          <a:p>
            <a:pPr algn="just" fontAlgn="base"/>
            <a:r>
              <a:rPr lang="en-US" b="1" dirty="0"/>
              <a:t>How is 6-DoF tracking achieved?</a:t>
            </a:r>
          </a:p>
          <a:p>
            <a:pPr algn="just" fontAlgn="base"/>
            <a:r>
              <a:rPr lang="en-US" dirty="0" smtClean="0"/>
              <a:t>Early </a:t>
            </a:r>
            <a:r>
              <a:rPr lang="en-US" dirty="0"/>
              <a:t>versions of 6-DoF headsets typically use positional tracking sensors (usually two physical devices positioned around the room which can track headset movement) – for example the Oculus Rift is embedded with infrared LEDs which are monitored by two 30cm tall sensor towers positioned approximately 1.5m apart.</a:t>
            </a:r>
          </a:p>
          <a:p>
            <a:pPr algn="just" fontAlgn="base"/>
            <a:r>
              <a:rPr lang="en-US" dirty="0"/>
              <a:t>Modern VR headsets may use inside-out tracking to achieve 6-DoF. From the </a:t>
            </a:r>
            <a:r>
              <a:rPr lang="en-US" dirty="0">
                <a:hlinkClick r:id="rId3"/>
              </a:rPr>
              <a:t>Microsoft Mixed Reality documentation</a:t>
            </a:r>
            <a:r>
              <a:rPr lang="en-US" dirty="0"/>
              <a:t>: “the tracking system uses two visible-light low-resolution cameras to observe features in your environment, and fuses this information with IMU data to determine a precise position of the device in your environment.”</a:t>
            </a:r>
          </a:p>
          <a:p>
            <a:pPr algn="just" fontAlgn="base"/>
            <a:endParaRPr lang="en-US" dirty="0"/>
          </a:p>
        </p:txBody>
      </p:sp>
    </p:spTree>
    <p:extLst>
      <p:ext uri="{BB962C8B-B14F-4D97-AF65-F5344CB8AC3E}">
        <p14:creationId xmlns:p14="http://schemas.microsoft.com/office/powerpoint/2010/main" val="16423811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half" idx="1"/>
          </p:nvPr>
        </p:nvSpPr>
        <p:spPr>
          <a:xfrm>
            <a:off x="0" y="76200"/>
            <a:ext cx="4876800" cy="6400800"/>
          </a:xfrm>
        </p:spPr>
        <p:txBody>
          <a:bodyPr>
            <a:normAutofit fontScale="70000" lnSpcReduction="20000"/>
          </a:bodyPr>
          <a:lstStyle/>
          <a:p>
            <a:pPr algn="just"/>
            <a:r>
              <a:rPr lang="en-US" dirty="0">
                <a:hlinkClick r:id="rId2"/>
              </a:rPr>
              <a:t>Daydream Standalone</a:t>
            </a:r>
            <a:r>
              <a:rPr lang="en-US" dirty="0"/>
              <a:t> headsets feature </a:t>
            </a:r>
            <a:r>
              <a:rPr lang="en-US" dirty="0" err="1">
                <a:hlinkClick r:id="rId3"/>
              </a:rPr>
              <a:t>WorldSense</a:t>
            </a:r>
            <a:r>
              <a:rPr lang="en-US" dirty="0"/>
              <a:t>, which provides </a:t>
            </a:r>
            <a:r>
              <a:rPr lang="en-US" dirty="0">
                <a:hlinkClick r:id="rId4"/>
              </a:rPr>
              <a:t>6DoF</a:t>
            </a:r>
            <a:r>
              <a:rPr lang="en-US" dirty="0"/>
              <a:t> tracking (sometimes referred to as "inside-out tracking"), without the need for cables, phone or a PC. Daydream Standalone headsets deliver an immersive, portable VR experience without the complicated setup.</a:t>
            </a:r>
          </a:p>
          <a:p>
            <a:pPr algn="just"/>
            <a:r>
              <a:rPr lang="en-US" dirty="0"/>
              <a:t>Key features:</a:t>
            </a:r>
          </a:p>
          <a:p>
            <a:pPr algn="just"/>
            <a:r>
              <a:rPr lang="en-US" dirty="0"/>
              <a:t>Increased processor and cooling performance, which means more powerful apps without thermal or other performance issues.</a:t>
            </a:r>
          </a:p>
          <a:p>
            <a:pPr algn="just"/>
            <a:r>
              <a:rPr lang="en-US" dirty="0" err="1">
                <a:hlinkClick r:id="rId3"/>
              </a:rPr>
              <a:t>WorldSense</a:t>
            </a:r>
            <a:r>
              <a:rPr lang="en-US" dirty="0"/>
              <a:t> provides reliable 6DoF inside-out tracking at sub-cm accuracy.</a:t>
            </a:r>
          </a:p>
          <a:p>
            <a:pPr algn="just"/>
            <a:r>
              <a:rPr lang="en-US" dirty="0"/>
              <a:t>High quality, VR-optimized displays featuring greater resolution and higher </a:t>
            </a:r>
            <a:r>
              <a:rPr lang="en-US" dirty="0" err="1"/>
              <a:t>FoV</a:t>
            </a:r>
            <a:r>
              <a:rPr lang="en-US" dirty="0"/>
              <a:t>.</a:t>
            </a:r>
          </a:p>
          <a:p>
            <a:pPr algn="just"/>
            <a:r>
              <a:rPr lang="en-US" dirty="0"/>
              <a:t>Field-of-View (FOV) adjusts the amount of the scene that is visible in a viewport and the amount of perspective flare.</a:t>
            </a:r>
          </a:p>
        </p:txBody>
      </p:sp>
      <p:sp>
        <p:nvSpPr>
          <p:cNvPr id="8" name="Date Placeholder 7"/>
          <p:cNvSpPr>
            <a:spLocks noGrp="1"/>
          </p:cNvSpPr>
          <p:nvPr>
            <p:ph type="dt" sz="half" idx="10"/>
          </p:nvPr>
        </p:nvSpPr>
        <p:spPr/>
        <p:txBody>
          <a:bodyPr/>
          <a:lstStyle/>
          <a:p>
            <a:pPr algn="just"/>
            <a:fld id="{5F97ACC3-E5D9-49F8-914F-F4C5FC591610}" type="datetime1">
              <a:rPr lang="en-US" smtClean="0">
                <a:ln w="12700">
                  <a:solidFill>
                    <a:schemeClr val="tx1"/>
                  </a:solidFill>
                </a:ln>
              </a:rPr>
              <a:pPr algn="just"/>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pPr algn="just"/>
            <a:fld id="{155D393B-D3FB-4FCB-A735-BD15267A1CE5}" type="slidenum">
              <a:rPr lang="en-US" smtClean="0">
                <a:ln w="12700">
                  <a:solidFill>
                    <a:schemeClr val="tx1"/>
                  </a:solidFill>
                </a:ln>
              </a:rPr>
              <a:pPr algn="just"/>
              <a:t>14</a:t>
            </a:fld>
            <a:endParaRPr lang="en-US">
              <a:ln w="12700">
                <a:solidFill>
                  <a:schemeClr val="tx1"/>
                </a:solidFill>
              </a:ln>
            </a:endParaRPr>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pic>
        <p:nvPicPr>
          <p:cNvPr id="6146" name="Picture 2"/>
          <p:cNvPicPr>
            <a:picLocks noGrp="1" noChangeAspect="1" noChangeArrowheads="1"/>
          </p:cNvPicPr>
          <p:nvPr>
            <p:ph sz="half" idx="2"/>
          </p:nvPr>
        </p:nvPicPr>
        <p:blipFill>
          <a:blip r:embed="rId6">
            <a:extLst>
              <a:ext uri="{28A0092B-C50C-407E-A947-70E740481C1C}">
                <a14:useLocalDpi xmlns:a14="http://schemas.microsoft.com/office/drawing/2010/main" val="0"/>
              </a:ext>
            </a:extLst>
          </a:blip>
          <a:srcRect/>
          <a:stretch>
            <a:fillRect/>
          </a:stretch>
        </p:blipFill>
        <p:spPr bwMode="auto">
          <a:xfrm>
            <a:off x="5105400" y="1828800"/>
            <a:ext cx="4038600" cy="3441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25690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Autofit/>
          </a:bodyPr>
          <a:lstStyle/>
          <a:p>
            <a:pPr marL="0" indent="0" algn="just" fontAlgn="base">
              <a:buNone/>
            </a:pPr>
            <a:r>
              <a:rPr lang="en-US" sz="2400" dirty="0"/>
              <a:t>Here are some examples to highlight applications across the two:</a:t>
            </a:r>
          </a:p>
          <a:p>
            <a:pPr marL="0" indent="0" algn="just" fontAlgn="base">
              <a:buNone/>
            </a:pPr>
            <a:r>
              <a:rPr lang="en-US" sz="2400" dirty="0"/>
              <a:t>3-DoF:</a:t>
            </a:r>
          </a:p>
          <a:p>
            <a:pPr marL="457200" indent="-457200" algn="just" fontAlgn="base">
              <a:buFont typeface="+mj-lt"/>
              <a:buAutoNum type="arabicPeriod"/>
            </a:pPr>
            <a:r>
              <a:rPr lang="en-US" sz="2400" dirty="0"/>
              <a:t>Watching 360 degree videos or images</a:t>
            </a:r>
          </a:p>
          <a:p>
            <a:pPr marL="457200" indent="-457200" algn="just" fontAlgn="base">
              <a:buFont typeface="+mj-lt"/>
              <a:buAutoNum type="arabicPeriod"/>
            </a:pPr>
            <a:r>
              <a:rPr lang="en-US" sz="2400" dirty="0"/>
              <a:t>Viewing the interior of a house in VR before purchasing</a:t>
            </a:r>
          </a:p>
          <a:p>
            <a:pPr marL="457200" indent="-457200" algn="just" fontAlgn="base">
              <a:buFont typeface="+mj-lt"/>
              <a:buAutoNum type="arabicPeriod"/>
            </a:pPr>
            <a:r>
              <a:rPr lang="en-US" sz="2400" dirty="0"/>
              <a:t>Practicing delivering a speech at a conference</a:t>
            </a:r>
          </a:p>
          <a:p>
            <a:pPr marL="0" indent="0" algn="just" fontAlgn="base">
              <a:buNone/>
            </a:pPr>
            <a:r>
              <a:rPr lang="en-US" sz="2400" dirty="0"/>
              <a:t>6-DoF:</a:t>
            </a:r>
          </a:p>
          <a:p>
            <a:pPr marL="457200" indent="-457200" algn="just" fontAlgn="base">
              <a:buFont typeface="+mj-lt"/>
              <a:buAutoNum type="arabicPeriod"/>
            </a:pPr>
            <a:r>
              <a:rPr lang="en-US" sz="2400" dirty="0"/>
              <a:t>Car mechanic inspecting the engine of a vehicle</a:t>
            </a:r>
          </a:p>
          <a:p>
            <a:pPr marL="457200" indent="-457200" algn="just" fontAlgn="base">
              <a:buFont typeface="+mj-lt"/>
              <a:buAutoNum type="arabicPeriod"/>
            </a:pPr>
            <a:r>
              <a:rPr lang="en-US" sz="2400" dirty="0"/>
              <a:t>Cooking simulator training the user how to make a meal</a:t>
            </a:r>
          </a:p>
          <a:p>
            <a:pPr marL="457200" indent="-457200" algn="just" fontAlgn="base">
              <a:buFont typeface="+mj-lt"/>
              <a:buAutoNum type="arabicPeriod"/>
            </a:pPr>
            <a:r>
              <a:rPr lang="en-US" sz="2400" dirty="0"/>
              <a:t>Action games where the user needs to avoid objects (e.g. bullets)</a:t>
            </a:r>
          </a:p>
          <a:p>
            <a:pPr marL="0" indent="0" algn="just">
              <a:buNone/>
            </a:pPr>
            <a:endParaRPr lang="en-US" sz="24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15</a:t>
            </a:fld>
            <a:endParaRPr lang="en-US">
              <a:ln w="12700">
                <a:solidFill>
                  <a:schemeClr val="tx1"/>
                </a:solidFill>
              </a:ln>
            </a:endParaRPr>
          </a:p>
        </p:txBody>
      </p:sp>
    </p:spTree>
    <p:extLst>
      <p:ext uri="{BB962C8B-B14F-4D97-AF65-F5344CB8AC3E}">
        <p14:creationId xmlns:p14="http://schemas.microsoft.com/office/powerpoint/2010/main" val="18428323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Selection and Manipulation in VR</a:t>
            </a:r>
          </a:p>
        </p:txBody>
      </p:sp>
      <p:sp>
        <p:nvSpPr>
          <p:cNvPr id="3" name="Content Placeholder 2"/>
          <p:cNvSpPr>
            <a:spLocks noGrp="1"/>
          </p:cNvSpPr>
          <p:nvPr>
            <p:ph idx="1"/>
          </p:nvPr>
        </p:nvSpPr>
        <p:spPr>
          <a:xfrm>
            <a:off x="457200" y="1295400"/>
            <a:ext cx="8229600" cy="4830763"/>
          </a:xfrm>
        </p:spPr>
        <p:txBody>
          <a:bodyPr>
            <a:noAutofit/>
          </a:bodyPr>
          <a:lstStyle/>
          <a:p>
            <a:pPr marL="0" indent="0" algn="just">
              <a:buNone/>
            </a:pPr>
            <a:r>
              <a:rPr lang="en-US" sz="2400" dirty="0"/>
              <a:t>"</a:t>
            </a:r>
            <a:r>
              <a:rPr lang="en-US" sz="2400" b="1" dirty="0"/>
              <a:t>selection and manipulation</a:t>
            </a:r>
            <a:r>
              <a:rPr lang="en-US" sz="2400" dirty="0"/>
              <a:t>" refers to the process of choosing a virtual object and then interacting with it by moving, rotating, or scaling </a:t>
            </a:r>
            <a:r>
              <a:rPr lang="en-US" sz="2400" dirty="0" smtClean="0"/>
              <a:t>it</a:t>
            </a:r>
          </a:p>
          <a:p>
            <a:pPr marL="0" indent="0" algn="just">
              <a:buNone/>
            </a:pPr>
            <a:r>
              <a:rPr lang="en-US" sz="2400" dirty="0"/>
              <a:t>"Selecting a virtual object in 3D space" refers to the process of choosing a specific computer-generated object within a three-dimensional virtual environment, typically done by aiming a virtual pointer or "ray" at the object using a controller or other input device, allowing the user to interact with </a:t>
            </a:r>
            <a:r>
              <a:rPr lang="en-US" sz="2400" dirty="0" smtClean="0"/>
              <a:t>it</a:t>
            </a:r>
          </a:p>
          <a:p>
            <a:pPr marL="0" indent="0" algn="just">
              <a:buNone/>
            </a:pPr>
            <a:r>
              <a:rPr lang="en-US" sz="2400" dirty="0"/>
              <a:t>this is a fundamental interaction </a:t>
            </a:r>
            <a:r>
              <a:rPr lang="en-US" sz="2400" dirty="0" smtClean="0"/>
              <a:t>technique in </a:t>
            </a:r>
            <a:r>
              <a:rPr lang="en-US" sz="2400" dirty="0"/>
              <a:t>virtual reality (VR) applications, where users can manipulate objects by selecting them in the 3D space around them</a:t>
            </a:r>
            <a:endParaRPr lang="en-US" sz="24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16</a:t>
            </a:fld>
            <a:endParaRPr lang="en-US">
              <a:ln w="12700">
                <a:solidFill>
                  <a:schemeClr val="tx1"/>
                </a:solidFill>
              </a:ln>
            </a:endParaRPr>
          </a:p>
        </p:txBody>
      </p:sp>
    </p:spTree>
    <p:extLst>
      <p:ext uri="{BB962C8B-B14F-4D97-AF65-F5344CB8AC3E}">
        <p14:creationId xmlns:p14="http://schemas.microsoft.com/office/powerpoint/2010/main" val="18366618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sz="3600" dirty="0"/>
              <a:t>Selection and Manipulation in VR</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17</a:t>
            </a:fld>
            <a:endParaRPr lang="en-US">
              <a:ln w="12700">
                <a:solidFill>
                  <a:schemeClr val="tx1"/>
                </a:solidFill>
              </a:ln>
            </a:endParaRPr>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048000" y="856944"/>
            <a:ext cx="2810267" cy="2191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599" y="3048000"/>
            <a:ext cx="8374063" cy="315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41482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sz="3600" dirty="0"/>
              <a:t>Selection and Manipulation in VR</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18</a:t>
            </a:fld>
            <a:endParaRPr lang="en-US">
              <a:ln w="12700">
                <a:solidFill>
                  <a:schemeClr val="tx1"/>
                </a:solidFill>
              </a:ln>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7268" y="1524000"/>
            <a:ext cx="7397700" cy="3657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5525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2" name="Title 1"/>
          <p:cNvSpPr>
            <a:spLocks noGrp="1"/>
          </p:cNvSpPr>
          <p:nvPr>
            <p:ph type="title"/>
          </p:nvPr>
        </p:nvSpPr>
        <p:spPr>
          <a:xfrm>
            <a:off x="457200" y="274638"/>
            <a:ext cx="7543800" cy="1143000"/>
          </a:xfrm>
        </p:spPr>
        <p:txBody>
          <a:bodyPr>
            <a:noAutofit/>
          </a:bodyPr>
          <a:lstStyle/>
          <a:p>
            <a:r>
              <a:rPr lang="en-US" sz="2400" dirty="0"/>
              <a:t>From avatars to visual capture How should others see you in VR?</a:t>
            </a:r>
          </a:p>
        </p:txBody>
      </p:sp>
      <p:sp>
        <p:nvSpPr>
          <p:cNvPr id="3" name="Content Placeholder 2"/>
          <p:cNvSpPr>
            <a:spLocks noGrp="1"/>
          </p:cNvSpPr>
          <p:nvPr>
            <p:ph sz="half" idx="1"/>
          </p:nvPr>
        </p:nvSpPr>
        <p:spPr>
          <a:xfrm>
            <a:off x="457200" y="1143000"/>
            <a:ext cx="4038600" cy="4983163"/>
          </a:xfrm>
        </p:spPr>
        <p:txBody>
          <a:bodyPr>
            <a:normAutofit fontScale="92500"/>
          </a:bodyPr>
          <a:lstStyle/>
          <a:p>
            <a:pPr marL="0" indent="0">
              <a:buNone/>
            </a:pPr>
            <a:r>
              <a:rPr lang="en-US" dirty="0"/>
              <a:t>Social Interaction</a:t>
            </a:r>
          </a:p>
        </p:txBody>
      </p:sp>
      <p:sp>
        <p:nvSpPr>
          <p:cNvPr id="5" name="Content Placeholder 4"/>
          <p:cNvSpPr>
            <a:spLocks noGrp="1"/>
          </p:cNvSpPr>
          <p:nvPr>
            <p:ph sz="half" idx="2"/>
          </p:nvPr>
        </p:nvSpPr>
        <p:spPr/>
        <p:txBody>
          <a:bodyPr>
            <a:normAutofit fontScale="92500"/>
          </a:bodyPr>
          <a:lstStyle/>
          <a:p>
            <a:pPr algn="just"/>
            <a:r>
              <a:rPr lang="en-US" dirty="0"/>
              <a:t>connecting humans together is one of </a:t>
            </a:r>
            <a:r>
              <a:rPr lang="en-US" dirty="0" smtClean="0"/>
              <a:t>the greatest </a:t>
            </a:r>
            <a:r>
              <a:rPr lang="en-US" dirty="0"/>
              <a:t>potentials for VR technology. Although it might seem isolating to </a:t>
            </a:r>
            <a:r>
              <a:rPr lang="en-US" dirty="0" smtClean="0"/>
              <a:t>put displays </a:t>
            </a:r>
            <a:r>
              <a:rPr lang="en-US" dirty="0"/>
              <a:t>between ourselves and the world around us, we can also be brought </a:t>
            </a:r>
            <a:r>
              <a:rPr lang="en-US" dirty="0" smtClean="0"/>
              <a:t>closer together </a:t>
            </a:r>
            <a:r>
              <a:rPr lang="en-US" dirty="0"/>
              <a:t>through successful interaction mechanisms.</a:t>
            </a:r>
          </a:p>
        </p:txBody>
      </p:sp>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19</a:t>
            </a:fld>
            <a:endParaRPr lang="en-US">
              <a:ln w="12700">
                <a:solidFill>
                  <a:schemeClr val="tx1"/>
                </a:solidFill>
              </a:ln>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1" y="1905000"/>
            <a:ext cx="3886200" cy="397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216475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a:t>From avatars to visual capture How should others see you in VR?</a:t>
            </a:r>
          </a:p>
        </p:txBody>
      </p:sp>
      <p:sp>
        <p:nvSpPr>
          <p:cNvPr id="3" name="Content Placeholder 2"/>
          <p:cNvSpPr>
            <a:spLocks noGrp="1"/>
          </p:cNvSpPr>
          <p:nvPr>
            <p:ph sz="half" idx="1"/>
          </p:nvPr>
        </p:nvSpPr>
        <p:spPr>
          <a:xfrm>
            <a:off x="457200" y="1143000"/>
            <a:ext cx="4038600" cy="4983163"/>
          </a:xfrm>
        </p:spPr>
        <p:txBody>
          <a:bodyPr>
            <a:normAutofit fontScale="85000" lnSpcReduction="10000"/>
          </a:bodyPr>
          <a:lstStyle/>
          <a:p>
            <a:pPr marL="0" indent="0" algn="just">
              <a:buNone/>
            </a:pPr>
            <a:r>
              <a:rPr lang="en-US" dirty="0"/>
              <a:t>Social </a:t>
            </a:r>
            <a:r>
              <a:rPr lang="en-US" dirty="0" smtClean="0"/>
              <a:t>Interaction:</a:t>
            </a:r>
          </a:p>
          <a:p>
            <a:pPr algn="just"/>
            <a:r>
              <a:rPr lang="en-US" dirty="0"/>
              <a:t>At one extreme, a user may represent himself through an avatar, which </a:t>
            </a:r>
            <a:r>
              <a:rPr lang="en-US" dirty="0" smtClean="0"/>
              <a:t>is a </a:t>
            </a:r>
            <a:r>
              <a:rPr lang="en-US" dirty="0"/>
              <a:t>3D representation that might not correspond at all to his visible, audible, </a:t>
            </a:r>
            <a:r>
              <a:rPr lang="en-US" dirty="0" smtClean="0"/>
              <a:t>and behavioral characteristics</a:t>
            </a:r>
          </a:p>
          <a:p>
            <a:pPr algn="just"/>
            <a:r>
              <a:rPr lang="en-US" dirty="0" smtClean="0"/>
              <a:t> At </a:t>
            </a:r>
            <a:r>
              <a:rPr lang="en-US" dirty="0"/>
              <a:t>the other extreme, a user </a:t>
            </a:r>
            <a:r>
              <a:rPr lang="en-US" dirty="0" smtClean="0"/>
              <a:t>might be </a:t>
            </a:r>
            <a:r>
              <a:rPr lang="en-US" dirty="0"/>
              <a:t>captured using imaging technology and reproduced in the virtual world </a:t>
            </a:r>
            <a:r>
              <a:rPr lang="en-US" dirty="0" smtClean="0"/>
              <a:t>with a </a:t>
            </a:r>
            <a:r>
              <a:rPr lang="en-US" dirty="0"/>
              <a:t>highly accurate 3D </a:t>
            </a:r>
            <a:r>
              <a:rPr lang="en-US" dirty="0" smtClean="0"/>
              <a:t>representation</a:t>
            </a:r>
            <a:endParaRPr lang="en-US" dirty="0"/>
          </a:p>
        </p:txBody>
      </p:sp>
      <p:pic>
        <p:nvPicPr>
          <p:cNvPr id="4098"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4724400" y="1066800"/>
            <a:ext cx="41910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20</a:t>
            </a:fld>
            <a:endParaRPr lang="en-US">
              <a:ln w="12700">
                <a:solidFill>
                  <a:schemeClr val="tx1"/>
                </a:solidFill>
              </a:ln>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Tree>
    <p:extLst>
      <p:ext uri="{BB962C8B-B14F-4D97-AF65-F5344CB8AC3E}">
        <p14:creationId xmlns:p14="http://schemas.microsoft.com/office/powerpoint/2010/main" val="8503613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Autofit/>
          </a:bodyPr>
          <a:lstStyle/>
          <a:p>
            <a:pPr marL="0" indent="0">
              <a:buNone/>
            </a:pPr>
            <a:r>
              <a:rPr lang="en-US" sz="2400" dirty="0"/>
              <a:t>Key points about virtual object selection in 3D space:</a:t>
            </a:r>
          </a:p>
          <a:p>
            <a:pPr marL="0" indent="0">
              <a:buNone/>
            </a:pPr>
            <a:r>
              <a:rPr lang="en-US" sz="2400" b="1" dirty="0"/>
              <a:t>Interaction methods:</a:t>
            </a:r>
            <a:endParaRPr lang="en-US" sz="2400" dirty="0"/>
          </a:p>
          <a:p>
            <a:pPr marL="0" indent="0" fontAlgn="ctr">
              <a:buNone/>
            </a:pPr>
            <a:r>
              <a:rPr lang="en-US" sz="2400" dirty="0"/>
              <a:t>Common methods include using a controller-based ray-casting (pointing at an object with a virtual "beam"), hand gestures, eye-gaze tracking, or a combination of these depending on the VR system. </a:t>
            </a:r>
          </a:p>
          <a:p>
            <a:pPr marL="0" indent="0">
              <a:buNone/>
            </a:pPr>
            <a:r>
              <a:rPr lang="en-US" sz="2400" b="1" dirty="0"/>
              <a:t>Selection tools:</a:t>
            </a:r>
            <a:endParaRPr lang="en-US" sz="2400" dirty="0"/>
          </a:p>
          <a:p>
            <a:pPr marL="0" indent="0">
              <a:buNone/>
            </a:pPr>
            <a:r>
              <a:rPr lang="en-US" sz="2400" dirty="0"/>
              <a:t>To determine which object is selected, a "selection volume" is often used, which can be shaped like a cone, sphere, or cube, and the object that intersects this volume is chosen. </a:t>
            </a:r>
          </a:p>
          <a:p>
            <a:pPr marL="457200" indent="-457200" algn="just">
              <a:buAutoNum type="arabicPeriod"/>
            </a:pPr>
            <a:endParaRPr lang="en-US" sz="24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21</a:t>
            </a:fld>
            <a:endParaRPr lang="en-US">
              <a:ln w="12700">
                <a:solidFill>
                  <a:schemeClr val="tx1"/>
                </a:solidFill>
              </a:ln>
            </a:endParaRPr>
          </a:p>
        </p:txBody>
      </p:sp>
    </p:spTree>
    <p:extLst>
      <p:ext uri="{BB962C8B-B14F-4D97-AF65-F5344CB8AC3E}">
        <p14:creationId xmlns:p14="http://schemas.microsoft.com/office/powerpoint/2010/main" val="34672742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229600" cy="5943600"/>
          </a:xfrm>
        </p:spPr>
        <p:txBody>
          <a:bodyPr>
            <a:noAutofit/>
          </a:bodyPr>
          <a:lstStyle/>
          <a:p>
            <a:pPr marL="0" indent="0">
              <a:buNone/>
            </a:pPr>
            <a:r>
              <a:rPr lang="en-US" sz="2400" b="1" dirty="0"/>
              <a:t>Challenges in 3D selection:</a:t>
            </a:r>
            <a:endParaRPr lang="en-US" sz="2400" dirty="0"/>
          </a:p>
          <a:p>
            <a:pPr fontAlgn="ctr"/>
            <a:r>
              <a:rPr lang="en-US" sz="2400" b="1" dirty="0"/>
              <a:t>Occlusion:</a:t>
            </a:r>
            <a:r>
              <a:rPr lang="en-US" sz="2400" dirty="0"/>
              <a:t> When objects overlap, identifying the desired object can be difficult. </a:t>
            </a:r>
          </a:p>
          <a:p>
            <a:pPr fontAlgn="ctr"/>
            <a:r>
              <a:rPr lang="en-US" sz="2400" b="1" dirty="0"/>
              <a:t>Distance and precision:</a:t>
            </a:r>
            <a:r>
              <a:rPr lang="en-US" sz="2400" dirty="0"/>
              <a:t> Selecting small or far-away objects might require more precise control. </a:t>
            </a:r>
          </a:p>
          <a:p>
            <a:pPr fontAlgn="ctr"/>
            <a:r>
              <a:rPr lang="en-US" sz="2400" b="1" dirty="0"/>
              <a:t>Cluttered environments:</a:t>
            </a:r>
            <a:r>
              <a:rPr lang="en-US" sz="2400" dirty="0"/>
              <a:t> In complex scenes with many objects, choosing the correct one can be challenging. </a:t>
            </a:r>
          </a:p>
          <a:p>
            <a:pPr marL="0" indent="0">
              <a:buNone/>
            </a:pPr>
            <a:r>
              <a:rPr lang="en-US" sz="2400" dirty="0"/>
              <a:t>Examples of applications using 3D object selection:</a:t>
            </a:r>
          </a:p>
          <a:p>
            <a:r>
              <a:rPr lang="en-US" sz="2400" b="1" dirty="0"/>
              <a:t>VR gaming:</a:t>
            </a:r>
            <a:r>
              <a:rPr lang="en-US" sz="2400" dirty="0"/>
              <a:t> Picking up items in a game world</a:t>
            </a:r>
          </a:p>
          <a:p>
            <a:r>
              <a:rPr lang="en-US" sz="2400" b="1" dirty="0"/>
              <a:t>Virtual design tools:</a:t>
            </a:r>
            <a:r>
              <a:rPr lang="en-US" sz="2400" dirty="0"/>
              <a:t> Selecting components in a 3D model to manipulate them</a:t>
            </a:r>
          </a:p>
          <a:p>
            <a:r>
              <a:rPr lang="en-US" sz="2400" b="1" dirty="0"/>
              <a:t>Medical training simulations:</a:t>
            </a:r>
            <a:r>
              <a:rPr lang="en-US" sz="2400" dirty="0"/>
              <a:t> Interacting with virtual anatomical structures</a:t>
            </a:r>
          </a:p>
          <a:p>
            <a:r>
              <a:rPr lang="en-US" sz="2400" b="1" dirty="0"/>
              <a:t>Industrial design:</a:t>
            </a:r>
            <a:r>
              <a:rPr lang="en-US" sz="2400" dirty="0"/>
              <a:t> Manipulating virtual prototypes </a:t>
            </a:r>
          </a:p>
          <a:p>
            <a:pPr marL="457200" indent="-457200" algn="just">
              <a:buAutoNum type="arabicPeriod"/>
            </a:pPr>
            <a:endParaRPr lang="en-US" sz="24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22</a:t>
            </a:fld>
            <a:endParaRPr lang="en-US">
              <a:ln w="12700">
                <a:solidFill>
                  <a:schemeClr val="tx1"/>
                </a:solidFill>
              </a:ln>
            </a:endParaRPr>
          </a:p>
        </p:txBody>
      </p:sp>
    </p:spTree>
    <p:extLst>
      <p:ext uri="{BB962C8B-B14F-4D97-AF65-F5344CB8AC3E}">
        <p14:creationId xmlns:p14="http://schemas.microsoft.com/office/powerpoint/2010/main" val="24844063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239000" cy="563562"/>
          </a:xfrm>
        </p:spPr>
        <p:txBody>
          <a:bodyPr>
            <a:noAutofit/>
          </a:bodyPr>
          <a:lstStyle/>
          <a:p>
            <a:r>
              <a:rPr lang="en-US" sz="2800" dirty="0" smtClean="0"/>
              <a:t>“Isomorphic</a:t>
            </a:r>
            <a:r>
              <a:rPr lang="en-US" sz="2800" dirty="0"/>
              <a:t>" and </a:t>
            </a:r>
            <a:r>
              <a:rPr lang="en-US" sz="2800" dirty="0" smtClean="0"/>
              <a:t>“Non-Isomorphic” Selection</a:t>
            </a:r>
            <a:endParaRPr lang="en-US" sz="2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3" name="Content Placeholder 2"/>
          <p:cNvSpPr>
            <a:spLocks noGrp="1"/>
          </p:cNvSpPr>
          <p:nvPr>
            <p:ph idx="1"/>
          </p:nvPr>
        </p:nvSpPr>
        <p:spPr>
          <a:xfrm>
            <a:off x="457200" y="914400"/>
            <a:ext cx="8229600" cy="5211763"/>
          </a:xfrm>
        </p:spPr>
        <p:txBody>
          <a:bodyPr>
            <a:noAutofit/>
          </a:bodyPr>
          <a:lstStyle/>
          <a:p>
            <a:pPr marL="0" indent="0" algn="just">
              <a:buNone/>
            </a:pPr>
            <a:r>
              <a:rPr lang="en-US" sz="2400" dirty="0" smtClean="0"/>
              <a:t>It describe </a:t>
            </a:r>
            <a:r>
              <a:rPr lang="en-US" sz="2400" dirty="0"/>
              <a:t>the relationship between the user's physical movement and the virtual object's </a:t>
            </a:r>
            <a:r>
              <a:rPr lang="en-US" sz="2400" dirty="0" smtClean="0"/>
              <a:t>movement</a:t>
            </a:r>
          </a:p>
          <a:p>
            <a:pPr marL="0" indent="0" algn="just">
              <a:buNone/>
            </a:pPr>
            <a:r>
              <a:rPr lang="en-US" sz="2400" dirty="0"/>
              <a:t>"isomorphic" refers to a direct, one-to-one mapping between a user's physical movement and the corresponding action of a virtual object, essentially mirroring real-world </a:t>
            </a:r>
            <a:r>
              <a:rPr lang="en-US" sz="2400" dirty="0" smtClean="0"/>
              <a:t>interaction</a:t>
            </a:r>
          </a:p>
          <a:p>
            <a:pPr marL="0" indent="0" algn="just">
              <a:buNone/>
            </a:pPr>
            <a:r>
              <a:rPr lang="en-US" sz="2400" b="1" dirty="0" smtClean="0"/>
              <a:t>Isomorphic:</a:t>
            </a:r>
            <a:endParaRPr lang="en-US" sz="2400" dirty="0" smtClean="0"/>
          </a:p>
          <a:p>
            <a:pPr marL="0" indent="0" algn="just" fontAlgn="ctr">
              <a:buNone/>
            </a:pPr>
            <a:r>
              <a:rPr lang="en-US" sz="2400" b="1" dirty="0" smtClean="0"/>
              <a:t>Example</a:t>
            </a:r>
            <a:r>
              <a:rPr lang="en-US" sz="2400" b="1" dirty="0"/>
              <a:t>:</a:t>
            </a:r>
            <a:r>
              <a:rPr lang="en-US" sz="2400" dirty="0"/>
              <a:t> If you move your hand forward to grab a virtual object and it moves forward in the VR environment at the same rate and direction, that's an isomorphic interaction. </a:t>
            </a:r>
          </a:p>
          <a:p>
            <a:pPr marL="0" indent="0" algn="just" fontAlgn="ctr">
              <a:buNone/>
            </a:pPr>
            <a:r>
              <a:rPr lang="en-US" sz="2400" b="1" dirty="0"/>
              <a:t>Benefits:</a:t>
            </a:r>
            <a:r>
              <a:rPr lang="en-US" sz="2400" dirty="0"/>
              <a:t> Feels natural and intuitive, promotes immersion in the virtual environment. </a:t>
            </a:r>
          </a:p>
          <a:p>
            <a:pPr marL="0" indent="0" algn="just">
              <a:buNone/>
            </a:pPr>
            <a:r>
              <a:rPr lang="en-US" sz="2400" b="1" dirty="0"/>
              <a:t>Drawbacks:</a:t>
            </a:r>
            <a:r>
              <a:rPr lang="en-US" sz="2400" dirty="0"/>
              <a:t> Can limit creative manipulation options, may not be ideal for complex tasks. </a:t>
            </a:r>
          </a:p>
          <a:p>
            <a:pPr marL="0" indent="0" algn="just">
              <a:buNone/>
            </a:pPr>
            <a:endParaRPr lang="en-US" sz="2400" dirty="0">
              <a:latin typeface="Times New Roman" pitchFamily="18" charset="0"/>
              <a:cs typeface="Times New Roman" pitchFamily="18" charset="0"/>
            </a:endParaRPr>
          </a:p>
        </p:txBody>
      </p:sp>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23</a:t>
            </a:fld>
            <a:endParaRPr lang="en-US">
              <a:ln w="12700">
                <a:solidFill>
                  <a:schemeClr val="tx1"/>
                </a:solidFill>
              </a:ln>
            </a:endParaRPr>
          </a:p>
        </p:txBody>
      </p:sp>
    </p:spTree>
    <p:extLst>
      <p:ext uri="{BB962C8B-B14F-4D97-AF65-F5344CB8AC3E}">
        <p14:creationId xmlns:p14="http://schemas.microsoft.com/office/powerpoint/2010/main" val="307700814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Isomorphic </a:t>
            </a:r>
            <a:r>
              <a:rPr lang="en-US" dirty="0"/>
              <a:t>Selection</a:t>
            </a:r>
          </a:p>
        </p:txBody>
      </p:sp>
      <p:sp>
        <p:nvSpPr>
          <p:cNvPr id="3" name="Content Placeholder 2"/>
          <p:cNvSpPr>
            <a:spLocks noGrp="1"/>
          </p:cNvSpPr>
          <p:nvPr>
            <p:ph idx="1"/>
          </p:nvPr>
        </p:nvSpPr>
        <p:spPr/>
        <p:txBody>
          <a:bodyPr/>
          <a:lstStyle/>
          <a:p>
            <a:endParaRPr lang="en-US"/>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142999"/>
            <a:ext cx="8335963" cy="496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104400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3" name="Content Placeholder 2"/>
          <p:cNvSpPr>
            <a:spLocks noGrp="1"/>
          </p:cNvSpPr>
          <p:nvPr>
            <p:ph idx="1"/>
          </p:nvPr>
        </p:nvSpPr>
        <p:spPr>
          <a:xfrm>
            <a:off x="457200" y="228600"/>
            <a:ext cx="7924800" cy="5897563"/>
          </a:xfrm>
        </p:spPr>
        <p:txBody>
          <a:bodyPr>
            <a:noAutofit/>
          </a:bodyPr>
          <a:lstStyle/>
          <a:p>
            <a:pPr marL="0" indent="0" algn="just">
              <a:buNone/>
            </a:pPr>
            <a:r>
              <a:rPr lang="en-US" sz="2400" dirty="0" smtClean="0"/>
              <a:t>"</a:t>
            </a:r>
            <a:r>
              <a:rPr lang="en-US" sz="2400" dirty="0"/>
              <a:t>non-isomorphic" describes a mapping where the user's actions are translated to virtual object manipulation in a non-linear or less intuitive way, allowing for more complex or "magic-like" interactions that may not directly reflect physical movements. </a:t>
            </a:r>
            <a:endParaRPr lang="en-US" sz="2400" dirty="0" smtClean="0"/>
          </a:p>
          <a:p>
            <a:pPr marL="0" indent="0" algn="just" fontAlgn="ctr">
              <a:buNone/>
            </a:pPr>
            <a:r>
              <a:rPr lang="en-US" sz="2400" b="1" dirty="0"/>
              <a:t>Example:</a:t>
            </a:r>
            <a:r>
              <a:rPr lang="en-US" sz="2400" dirty="0"/>
              <a:t> A user might make a small hand gesture to rotate a large virtual object by a significant amount, or use a hand gesture to scale an object without physically mimicking the scaling motion. </a:t>
            </a:r>
          </a:p>
          <a:p>
            <a:pPr marL="0" indent="0" algn="just" fontAlgn="ctr">
              <a:buNone/>
            </a:pPr>
            <a:r>
              <a:rPr lang="en-US" sz="2400" b="1" dirty="0"/>
              <a:t>Pros:</a:t>
            </a:r>
            <a:r>
              <a:rPr lang="en-US" sz="2400" dirty="0"/>
              <a:t> Enables powerful manipulation capabilities, allows for more creative interactions, can be useful for complex tasks where direct mapping is not ideal. </a:t>
            </a:r>
          </a:p>
          <a:p>
            <a:pPr marL="0" indent="0" algn="just">
              <a:buNone/>
            </a:pPr>
            <a:r>
              <a:rPr lang="en-US" sz="2400" b="1" dirty="0"/>
              <a:t>Cons:</a:t>
            </a:r>
            <a:r>
              <a:rPr lang="en-US" sz="2400" dirty="0"/>
              <a:t> Can be less intuitive, require users to learn specific interaction patterns, potentially breaking immersion if not designed well. </a:t>
            </a:r>
          </a:p>
          <a:p>
            <a:pPr marL="0" indent="0" algn="just">
              <a:buNone/>
            </a:pPr>
            <a:endParaRPr lang="en-US" sz="2400" dirty="0">
              <a:latin typeface="Times New Roman" pitchFamily="18" charset="0"/>
              <a:cs typeface="Times New Roman" pitchFamily="18" charset="0"/>
            </a:endParaRPr>
          </a:p>
          <a:p>
            <a:pPr marL="457200" indent="-457200" algn="just">
              <a:buAutoNum type="arabicPeriod"/>
            </a:pPr>
            <a:endParaRPr lang="en-US" sz="2400" dirty="0">
              <a:latin typeface="Times New Roman" pitchFamily="18" charset="0"/>
              <a:cs typeface="Times New Roman" pitchFamily="18" charset="0"/>
            </a:endParaRPr>
          </a:p>
        </p:txBody>
      </p:sp>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25</a:t>
            </a:fld>
            <a:endParaRPr lang="en-US">
              <a:ln w="12700">
                <a:solidFill>
                  <a:schemeClr val="tx1"/>
                </a:solidFill>
              </a:ln>
            </a:endParaRPr>
          </a:p>
        </p:txBody>
      </p:sp>
    </p:spTree>
    <p:extLst>
      <p:ext uri="{BB962C8B-B14F-4D97-AF65-F5344CB8AC3E}">
        <p14:creationId xmlns:p14="http://schemas.microsoft.com/office/powerpoint/2010/main" val="38947577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Non-isomorphic Selection</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26</a:t>
            </a:fld>
            <a:endParaRPr lang="en-US">
              <a:ln w="12700">
                <a:solidFill>
                  <a:schemeClr val="tx1"/>
                </a:solidFill>
              </a:ln>
            </a:endParaRPr>
          </a:p>
        </p:txBody>
      </p:sp>
      <p:pic>
        <p:nvPicPr>
          <p:cNvPr id="512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99194" y="1676400"/>
            <a:ext cx="6768784" cy="2929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643677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Interaction </a:t>
            </a:r>
            <a:r>
              <a:rPr lang="en-US" dirty="0"/>
              <a:t>techniques </a:t>
            </a:r>
          </a:p>
        </p:txBody>
      </p:sp>
      <p:sp>
        <p:nvSpPr>
          <p:cNvPr id="3" name="Content Placeholder 2"/>
          <p:cNvSpPr>
            <a:spLocks noGrp="1"/>
          </p:cNvSpPr>
          <p:nvPr>
            <p:ph idx="1"/>
          </p:nvPr>
        </p:nvSpPr>
        <p:spPr>
          <a:xfrm>
            <a:off x="457200" y="1371600"/>
            <a:ext cx="8229600" cy="5105400"/>
          </a:xfrm>
        </p:spPr>
        <p:txBody>
          <a:bodyPr>
            <a:noAutofit/>
          </a:bodyPr>
          <a:lstStyle/>
          <a:p>
            <a:r>
              <a:rPr lang="en-US" sz="2400" dirty="0"/>
              <a:t>Based on the current </a:t>
            </a:r>
            <a:r>
              <a:rPr lang="en-US" sz="2400" dirty="0" smtClean="0"/>
              <a:t>technology, three </a:t>
            </a:r>
            <a:r>
              <a:rPr lang="en-US" sz="2400" dirty="0"/>
              <a:t>major kinds </a:t>
            </a:r>
            <a:r>
              <a:rPr lang="en-US" sz="2400" dirty="0" smtClean="0"/>
              <a:t>of similarity </a:t>
            </a:r>
            <a:r>
              <a:rPr lang="en-US" sz="2400" dirty="0"/>
              <a:t>can be independently considered:</a:t>
            </a:r>
          </a:p>
          <a:p>
            <a:pPr marL="0" indent="0">
              <a:buNone/>
            </a:pPr>
            <a:r>
              <a:rPr lang="en-US" sz="2400" dirty="0" smtClean="0"/>
              <a:t>1. Visual </a:t>
            </a:r>
            <a:r>
              <a:rPr lang="en-US" sz="2400" dirty="0"/>
              <a:t>appearance: How close does the avatar seem to the actual </a:t>
            </a:r>
            <a:r>
              <a:rPr lang="en-US" sz="2400" dirty="0" smtClean="0"/>
              <a:t>person </a:t>
            </a:r>
            <a:r>
              <a:rPr lang="en-US" sz="2400" dirty="0"/>
              <a:t>in terms of visible characteristics</a:t>
            </a:r>
            <a:r>
              <a:rPr lang="en-US" sz="2400" dirty="0" smtClean="0"/>
              <a:t>?</a:t>
            </a:r>
          </a:p>
          <a:p>
            <a:pPr marL="0" indent="0">
              <a:buNone/>
            </a:pPr>
            <a:r>
              <a:rPr lang="en-US" sz="2400" dirty="0"/>
              <a:t>2. Auditory appearance: How much does the sound coming from the </a:t>
            </a:r>
            <a:r>
              <a:rPr lang="en-US" sz="2400" dirty="0" smtClean="0"/>
              <a:t>avatar match </a:t>
            </a:r>
            <a:r>
              <a:rPr lang="en-US" sz="2400" dirty="0"/>
              <a:t>the voice, language, and speech patterns of the person?</a:t>
            </a:r>
          </a:p>
          <a:p>
            <a:pPr marL="0" indent="0">
              <a:buNone/>
            </a:pPr>
            <a:r>
              <a:rPr lang="en-US" sz="2400" dirty="0"/>
              <a:t>3. Behavioral appearance: How closely do the avatar’s motions match </a:t>
            </a:r>
            <a:r>
              <a:rPr lang="en-US" sz="2400" dirty="0" smtClean="0"/>
              <a:t>the body </a:t>
            </a:r>
            <a:r>
              <a:rPr lang="en-US" sz="2400" dirty="0"/>
              <a:t>language, gait, facial expressions, and other motions of the person?</a:t>
            </a:r>
            <a:endParaRPr lang="en-US" sz="24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27</a:t>
            </a:fld>
            <a:endParaRPr lang="en-US">
              <a:ln w="12700">
                <a:solidFill>
                  <a:schemeClr val="tx1"/>
                </a:solidFill>
              </a:ln>
            </a:endParaRPr>
          </a:p>
        </p:txBody>
      </p:sp>
    </p:spTree>
    <p:extLst>
      <p:ext uri="{BB962C8B-B14F-4D97-AF65-F5344CB8AC3E}">
        <p14:creationId xmlns:p14="http://schemas.microsoft.com/office/powerpoint/2010/main" val="40350344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Interaction </a:t>
            </a:r>
            <a:r>
              <a:rPr lang="en-US" dirty="0"/>
              <a:t>techniques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28</a:t>
            </a:fld>
            <a:endParaRPr lang="en-US">
              <a:ln w="12700">
                <a:solidFill>
                  <a:schemeClr val="tx1"/>
                </a:solidFill>
              </a:ln>
            </a:endParaRPr>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62001" y="1371601"/>
            <a:ext cx="7772114" cy="4396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794114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“Egocentric</a:t>
            </a:r>
            <a:r>
              <a:rPr lang="en-US" dirty="0"/>
              <a:t>" and </a:t>
            </a:r>
            <a:r>
              <a:rPr lang="en-US" dirty="0" smtClean="0"/>
              <a:t>“Exocentric</a:t>
            </a:r>
            <a:r>
              <a:rPr lang="en-US" dirty="0"/>
              <a:t>“</a:t>
            </a:r>
            <a:br>
              <a:rPr lang="en-US" dirty="0"/>
            </a:br>
            <a:r>
              <a:rPr lang="en-US" dirty="0"/>
              <a:t>Interaction techniques </a:t>
            </a:r>
          </a:p>
        </p:txBody>
      </p:sp>
      <p:sp>
        <p:nvSpPr>
          <p:cNvPr id="3" name="Content Placeholder 2"/>
          <p:cNvSpPr>
            <a:spLocks noGrp="1"/>
          </p:cNvSpPr>
          <p:nvPr>
            <p:ph idx="1"/>
          </p:nvPr>
        </p:nvSpPr>
        <p:spPr>
          <a:xfrm>
            <a:off x="457200" y="1371600"/>
            <a:ext cx="8229600" cy="5105400"/>
          </a:xfrm>
        </p:spPr>
        <p:txBody>
          <a:bodyPr>
            <a:noAutofit/>
          </a:bodyPr>
          <a:lstStyle/>
          <a:p>
            <a:pPr marL="0" indent="0" algn="just">
              <a:buNone/>
            </a:pPr>
            <a:r>
              <a:rPr lang="en-US" sz="2800" dirty="0" smtClean="0"/>
              <a:t>It defines </a:t>
            </a:r>
            <a:r>
              <a:rPr lang="en-US" sz="2800" dirty="0"/>
              <a:t>the perspective from which the </a:t>
            </a:r>
            <a:r>
              <a:rPr lang="en-US" sz="2800" b="1" dirty="0">
                <a:solidFill>
                  <a:schemeClr val="accent2">
                    <a:lumMod val="75000"/>
                  </a:schemeClr>
                </a:solidFill>
              </a:rPr>
              <a:t>user interacts with the virtual </a:t>
            </a:r>
            <a:r>
              <a:rPr lang="en-US" sz="2800" b="1" dirty="0" smtClean="0">
                <a:solidFill>
                  <a:schemeClr val="accent2">
                    <a:lumMod val="75000"/>
                  </a:schemeClr>
                </a:solidFill>
              </a:rPr>
              <a:t>environment</a:t>
            </a:r>
          </a:p>
          <a:p>
            <a:pPr marL="0" lvl="0" indent="0" algn="just">
              <a:buNone/>
            </a:pPr>
            <a:r>
              <a:rPr lang="en-US" b="1" dirty="0" smtClean="0"/>
              <a:t>Egocentric </a:t>
            </a:r>
            <a:r>
              <a:rPr lang="en-US" b="1" dirty="0"/>
              <a:t>Interaction</a:t>
            </a:r>
            <a:r>
              <a:rPr lang="en-US" dirty="0"/>
              <a:t> </a:t>
            </a:r>
            <a:r>
              <a:rPr lang="en-US" b="1" dirty="0" smtClean="0"/>
              <a:t>:</a:t>
            </a:r>
            <a:endParaRPr lang="en-US" sz="2400" dirty="0"/>
          </a:p>
          <a:p>
            <a:pPr marL="0" indent="0" algn="just">
              <a:buNone/>
            </a:pPr>
            <a:r>
              <a:rPr lang="en-US" dirty="0"/>
              <a:t>The user's perspective is directly tied to their virtual viewpoint, meaning they interact with objects as if they are seeing them from their own eyes in the virtual </a:t>
            </a:r>
            <a:r>
              <a:rPr lang="en-US" dirty="0" smtClean="0"/>
              <a:t>environment.</a:t>
            </a:r>
            <a:endParaRPr lang="en-US" sz="2400" dirty="0"/>
          </a:p>
          <a:p>
            <a:pPr marL="0" indent="0" algn="just">
              <a:buNone/>
            </a:pPr>
            <a:r>
              <a:rPr lang="en-US" b="1" dirty="0" smtClean="0"/>
              <a:t>Example</a:t>
            </a:r>
            <a:r>
              <a:rPr lang="en-US" b="1" dirty="0"/>
              <a:t>:</a:t>
            </a:r>
            <a:r>
              <a:rPr lang="en-US" dirty="0"/>
              <a:t> Pointing at a virtual object with a hand controller directly in front of you in the VR space.</a:t>
            </a:r>
            <a:endParaRPr lang="en-US" sz="2000" dirty="0"/>
          </a:p>
          <a:p>
            <a:pPr marL="0" indent="0" algn="just">
              <a:buNone/>
            </a:pPr>
            <a:endParaRPr lang="en-US" sz="24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29</a:t>
            </a:fld>
            <a:endParaRPr lang="en-US">
              <a:ln w="12700">
                <a:solidFill>
                  <a:schemeClr val="tx1"/>
                </a:solidFill>
              </a:ln>
            </a:endParaRPr>
          </a:p>
        </p:txBody>
      </p:sp>
    </p:spTree>
    <p:extLst>
      <p:ext uri="{BB962C8B-B14F-4D97-AF65-F5344CB8AC3E}">
        <p14:creationId xmlns:p14="http://schemas.microsoft.com/office/powerpoint/2010/main" val="236882870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Egocentric Interaction</a:t>
            </a:r>
            <a:endParaRPr lang="en-US" dirty="0"/>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57200" y="1143001"/>
            <a:ext cx="8229600" cy="4236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92293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pPr lvl="0"/>
            <a:r>
              <a:rPr lang="en-US" b="1" dirty="0" smtClean="0"/>
              <a:t/>
            </a:r>
            <a:br>
              <a:rPr lang="en-US" b="1" dirty="0" smtClean="0"/>
            </a:br>
            <a:r>
              <a:rPr lang="en-US" b="1" dirty="0" smtClean="0"/>
              <a:t>Exocentric </a:t>
            </a:r>
            <a:r>
              <a:rPr lang="en-US" b="1" dirty="0"/>
              <a:t>Interaction</a:t>
            </a:r>
            <a:br>
              <a:rPr lang="en-US" b="1" dirty="0"/>
            </a:br>
            <a:endParaRPr lang="en-US" b="1" dirty="0"/>
          </a:p>
        </p:txBody>
      </p:sp>
      <p:sp>
        <p:nvSpPr>
          <p:cNvPr id="3" name="Content Placeholder 2"/>
          <p:cNvSpPr>
            <a:spLocks noGrp="1"/>
          </p:cNvSpPr>
          <p:nvPr>
            <p:ph idx="1"/>
          </p:nvPr>
        </p:nvSpPr>
        <p:spPr>
          <a:xfrm>
            <a:off x="457200" y="1295400"/>
            <a:ext cx="8229600" cy="4830763"/>
          </a:xfrm>
        </p:spPr>
        <p:txBody>
          <a:bodyPr>
            <a:noAutofit/>
          </a:bodyPr>
          <a:lstStyle/>
          <a:p>
            <a:pPr marL="0" indent="0" algn="just">
              <a:buNone/>
            </a:pPr>
            <a:r>
              <a:rPr lang="en-US" dirty="0" smtClean="0"/>
              <a:t>The </a:t>
            </a:r>
            <a:r>
              <a:rPr lang="en-US" dirty="0"/>
              <a:t>user has a more </a:t>
            </a:r>
            <a:r>
              <a:rPr lang="en-US" b="1" dirty="0"/>
              <a:t>detached perspective</a:t>
            </a:r>
            <a:r>
              <a:rPr lang="en-US" dirty="0"/>
              <a:t>, often using a </a:t>
            </a:r>
            <a:r>
              <a:rPr lang="en-US" b="1" dirty="0"/>
              <a:t>virtual cursor or manipulator </a:t>
            </a:r>
            <a:r>
              <a:rPr lang="en-US" dirty="0"/>
              <a:t>to select and interact with objects in the virtual world, similar to a traditional computer </a:t>
            </a:r>
            <a:r>
              <a:rPr lang="en-US" dirty="0" smtClean="0"/>
              <a:t>mouse.</a:t>
            </a:r>
            <a:endParaRPr lang="en-US" sz="2400" dirty="0" smtClean="0"/>
          </a:p>
          <a:p>
            <a:pPr marL="0" indent="0" algn="just">
              <a:buNone/>
            </a:pPr>
            <a:r>
              <a:rPr lang="en-US" b="1" dirty="0" smtClean="0"/>
              <a:t>Example</a:t>
            </a:r>
            <a:r>
              <a:rPr lang="en-US" b="1" dirty="0"/>
              <a:t>:</a:t>
            </a:r>
            <a:r>
              <a:rPr lang="en-US" dirty="0"/>
              <a:t> Using a virtual hand cursor to select an object that is far away from the user, allowing for precise targeting.</a:t>
            </a:r>
            <a:endParaRPr lang="en-US" sz="2000" dirty="0"/>
          </a:p>
          <a:p>
            <a:pPr marL="457200" indent="-457200" algn="just">
              <a:buAutoNum type="arabicPeriod"/>
            </a:pPr>
            <a:endParaRPr lang="en-US" sz="24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31</a:t>
            </a:fld>
            <a:endParaRPr lang="en-US">
              <a:ln w="12700">
                <a:solidFill>
                  <a:schemeClr val="tx1"/>
                </a:solidFill>
              </a:ln>
            </a:endParaRPr>
          </a:p>
        </p:txBody>
      </p:sp>
    </p:spTree>
    <p:extLst>
      <p:ext uri="{BB962C8B-B14F-4D97-AF65-F5344CB8AC3E}">
        <p14:creationId xmlns:p14="http://schemas.microsoft.com/office/powerpoint/2010/main" val="269995349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2" name="Title 1"/>
          <p:cNvSpPr>
            <a:spLocks noGrp="1"/>
          </p:cNvSpPr>
          <p:nvPr>
            <p:ph type="title"/>
          </p:nvPr>
        </p:nvSpPr>
        <p:spPr/>
        <p:txBody>
          <a:bodyPr/>
          <a:lstStyle/>
          <a:p>
            <a:r>
              <a:rPr lang="en-US" b="1" dirty="0"/>
              <a:t>Exocentric </a:t>
            </a:r>
            <a:r>
              <a:rPr lang="en-US" b="1" dirty="0" smtClean="0"/>
              <a:t>Interaction</a:t>
            </a:r>
            <a:endParaRPr lang="en-US" dirty="0"/>
          </a:p>
        </p:txBody>
      </p:sp>
      <p:pic>
        <p:nvPicPr>
          <p:cNvPr id="8194"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533401" y="1676400"/>
            <a:ext cx="79248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32</a:t>
            </a:fld>
            <a:endParaRPr lang="en-US">
              <a:ln w="12700">
                <a:solidFill>
                  <a:schemeClr val="tx1"/>
                </a:solidFill>
              </a:ln>
            </a:endParaRPr>
          </a:p>
        </p:txBody>
      </p:sp>
    </p:spTree>
    <p:extLst>
      <p:ext uri="{BB962C8B-B14F-4D97-AF65-F5344CB8AC3E}">
        <p14:creationId xmlns:p14="http://schemas.microsoft.com/office/powerpoint/2010/main" val="340005176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with HMDs</a:t>
            </a:r>
          </a:p>
        </p:txBody>
      </p:sp>
      <p:sp>
        <p:nvSpPr>
          <p:cNvPr id="3" name="Content Placeholder 2"/>
          <p:cNvSpPr>
            <a:spLocks noGrp="1"/>
          </p:cNvSpPr>
          <p:nvPr>
            <p:ph idx="1"/>
          </p:nvPr>
        </p:nvSpPr>
        <p:spPr>
          <a:xfrm>
            <a:off x="457200" y="1295400"/>
            <a:ext cx="8229600" cy="4830763"/>
          </a:xfrm>
        </p:spPr>
        <p:txBody>
          <a:bodyPr>
            <a:noAutofit/>
          </a:bodyPr>
          <a:lstStyle/>
          <a:p>
            <a:pPr marL="0" indent="0" algn="just">
              <a:buNone/>
            </a:pPr>
            <a:r>
              <a:rPr lang="en-US" sz="2400" b="1" dirty="0"/>
              <a:t>Head-mounted displays (HMDs)</a:t>
            </a:r>
            <a:r>
              <a:rPr lang="en-US" sz="2400" dirty="0"/>
              <a:t> are small displays or projection technology integrated into eyeglasses or mounted on a helmet or hat</a:t>
            </a:r>
            <a:r>
              <a:rPr lang="en-US" sz="2400" dirty="0" smtClean="0"/>
              <a:t>.</a:t>
            </a:r>
          </a:p>
          <a:p>
            <a:pPr marL="0" indent="0" algn="just">
              <a:buNone/>
            </a:pPr>
            <a:r>
              <a:rPr lang="en-US" sz="2400" b="1" dirty="0" err="1"/>
              <a:t>Raycasting</a:t>
            </a:r>
            <a:endParaRPr lang="en-US" sz="2400" dirty="0" smtClean="0"/>
          </a:p>
          <a:p>
            <a:pPr marL="0" indent="0" algn="just">
              <a:buNone/>
            </a:pPr>
            <a:r>
              <a:rPr lang="en-US" sz="2400" b="1" dirty="0"/>
              <a:t>Gaze-Based Selection</a:t>
            </a:r>
            <a:endParaRPr lang="en-US" sz="2400" dirty="0" smtClean="0"/>
          </a:p>
          <a:p>
            <a:pPr marL="0" indent="0" algn="just">
              <a:buNone/>
            </a:pPr>
            <a:r>
              <a:rPr lang="en-US" sz="2400" b="1" dirty="0"/>
              <a:t>Direct </a:t>
            </a:r>
            <a:r>
              <a:rPr lang="en-US" sz="2400" b="1" dirty="0" smtClean="0"/>
              <a:t>Manipulation</a:t>
            </a:r>
            <a:endParaRPr lang="en-US" sz="2400" dirty="0" smtClean="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33</a:t>
            </a:fld>
            <a:endParaRPr lang="en-US">
              <a:ln w="12700">
                <a:solidFill>
                  <a:schemeClr val="tx1"/>
                </a:solidFill>
              </a:ln>
            </a:endParaRPr>
          </a:p>
        </p:txBody>
      </p:sp>
    </p:spTree>
    <p:extLst>
      <p:ext uri="{BB962C8B-B14F-4D97-AF65-F5344CB8AC3E}">
        <p14:creationId xmlns:p14="http://schemas.microsoft.com/office/powerpoint/2010/main" val="372767697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pPr lvl="0"/>
            <a:r>
              <a:rPr lang="en-US" b="1" dirty="0" smtClean="0"/>
              <a:t/>
            </a:r>
            <a:br>
              <a:rPr lang="en-US" b="1" dirty="0" smtClean="0"/>
            </a:br>
            <a:r>
              <a:rPr lang="en-US" b="1" dirty="0" err="1" smtClean="0"/>
              <a:t>Raycasting</a:t>
            </a:r>
            <a:r>
              <a:rPr lang="en-US" dirty="0"/>
              <a:t/>
            </a:r>
            <a:br>
              <a:rPr lang="en-US" dirty="0"/>
            </a:br>
            <a:endParaRPr lang="en-US" dirty="0"/>
          </a:p>
        </p:txBody>
      </p:sp>
      <p:sp>
        <p:nvSpPr>
          <p:cNvPr id="3" name="Content Placeholder 2"/>
          <p:cNvSpPr>
            <a:spLocks noGrp="1"/>
          </p:cNvSpPr>
          <p:nvPr>
            <p:ph idx="1"/>
          </p:nvPr>
        </p:nvSpPr>
        <p:spPr>
          <a:xfrm>
            <a:off x="457200" y="1295400"/>
            <a:ext cx="8229600" cy="5181600"/>
          </a:xfrm>
        </p:spPr>
        <p:txBody>
          <a:bodyPr>
            <a:noAutofit/>
          </a:bodyPr>
          <a:lstStyle/>
          <a:p>
            <a:pPr marL="0" indent="0" algn="just">
              <a:buNone/>
            </a:pPr>
            <a:r>
              <a:rPr lang="en-US" sz="2400" dirty="0" smtClean="0"/>
              <a:t>A </a:t>
            </a:r>
            <a:r>
              <a:rPr lang="en-US" sz="2400" dirty="0"/>
              <a:t>common selection technique where a virtual "ray" is projected from the HMD's center point to the virtual environment, allowing the user to select objects by looking at them and pressing a button on the controller</a:t>
            </a:r>
            <a:r>
              <a:rPr lang="en-US" sz="2400" dirty="0" smtClean="0"/>
              <a:t>.</a:t>
            </a:r>
          </a:p>
          <a:p>
            <a:pPr marL="0" indent="0" algn="just" fontAlgn="ctr">
              <a:buNone/>
            </a:pPr>
            <a:r>
              <a:rPr lang="en-US" sz="2400" dirty="0"/>
              <a:t>How it works </a:t>
            </a:r>
          </a:p>
          <a:p>
            <a:pPr algn="just"/>
            <a:r>
              <a:rPr lang="en-US" sz="2400" dirty="0"/>
              <a:t>The user points a ray of light at a target</a:t>
            </a:r>
          </a:p>
          <a:p>
            <a:pPr algn="just"/>
            <a:r>
              <a:rPr lang="en-US" sz="2400" dirty="0"/>
              <a:t>The user confirms the selection with a voice command, button click, or motion </a:t>
            </a:r>
            <a:r>
              <a:rPr lang="en-US" sz="2400" dirty="0" smtClean="0"/>
              <a:t>gesture</a:t>
            </a:r>
          </a:p>
          <a:p>
            <a:pPr marL="0" indent="0" algn="just">
              <a:buNone/>
            </a:pPr>
            <a:r>
              <a:rPr lang="en-US" sz="2400" dirty="0"/>
              <a:t>Challenges</a:t>
            </a:r>
          </a:p>
          <a:p>
            <a:pPr algn="just" fontAlgn="ctr"/>
            <a:r>
              <a:rPr lang="en-US" sz="2400" dirty="0" err="1"/>
              <a:t>Raycasting</a:t>
            </a:r>
            <a:r>
              <a:rPr lang="en-US" sz="2400" dirty="0"/>
              <a:t> can result in selection ambiguity when a ray intersects multiple targets at different depths </a:t>
            </a:r>
          </a:p>
          <a:p>
            <a:pPr algn="just"/>
            <a:r>
              <a:rPr lang="en-US" sz="2400" dirty="0"/>
              <a:t>Previous adaptations of </a:t>
            </a:r>
            <a:r>
              <a:rPr lang="en-US" sz="2400" dirty="0" err="1"/>
              <a:t>raycasting</a:t>
            </a:r>
            <a:r>
              <a:rPr lang="en-US" sz="2400" dirty="0"/>
              <a:t> can take time for users to learn </a:t>
            </a:r>
          </a:p>
          <a:p>
            <a:pPr marL="0" indent="0" algn="just">
              <a:buNone/>
            </a:pPr>
            <a:endParaRPr lang="en-US" sz="2400" dirty="0"/>
          </a:p>
          <a:p>
            <a:pPr marL="0" indent="0" algn="just">
              <a:buNone/>
            </a:pPr>
            <a:endParaRPr lang="en-US" sz="240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34</a:t>
            </a:fld>
            <a:endParaRPr lang="en-US">
              <a:ln w="12700">
                <a:solidFill>
                  <a:schemeClr val="tx1"/>
                </a:solidFill>
              </a:ln>
            </a:endParaRPr>
          </a:p>
        </p:txBody>
      </p:sp>
    </p:spTree>
    <p:extLst>
      <p:ext uri="{BB962C8B-B14F-4D97-AF65-F5344CB8AC3E}">
        <p14:creationId xmlns:p14="http://schemas.microsoft.com/office/powerpoint/2010/main" val="321068274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pPr lvl="0"/>
            <a:r>
              <a:rPr lang="en-US" b="1" dirty="0" smtClean="0"/>
              <a:t/>
            </a:r>
            <a:br>
              <a:rPr lang="en-US" b="1" dirty="0" smtClean="0"/>
            </a:br>
            <a:r>
              <a:rPr lang="en-US" b="1" dirty="0" err="1" smtClean="0"/>
              <a:t>Raycasting</a:t>
            </a:r>
            <a:r>
              <a:rPr lang="en-US" dirty="0"/>
              <a:t/>
            </a:r>
            <a:br>
              <a:rPr lang="en-US" dirty="0"/>
            </a:b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35</a:t>
            </a:fld>
            <a:endParaRPr lang="en-US">
              <a:ln w="12700">
                <a:solidFill>
                  <a:schemeClr val="tx1"/>
                </a:solidFill>
              </a:ln>
            </a:endParaRPr>
          </a:p>
        </p:txBody>
      </p:sp>
      <p:pic>
        <p:nvPicPr>
          <p:cNvPr id="2050"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 y="1524000"/>
            <a:ext cx="82296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688243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lvl="0"/>
            <a:r>
              <a:rPr lang="en-US" b="1" dirty="0" smtClean="0"/>
              <a:t/>
            </a:r>
            <a:br>
              <a:rPr lang="en-US" b="1" dirty="0" smtClean="0"/>
            </a:br>
            <a:r>
              <a:rPr lang="en-US" b="1" dirty="0" smtClean="0"/>
              <a:t>Direct Manipulation</a:t>
            </a:r>
            <a:r>
              <a:rPr lang="en-US" dirty="0"/>
              <a:t/>
            </a:r>
            <a:br>
              <a:rPr lang="en-US" dirty="0"/>
            </a:b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3" name="Content Placeholder 2"/>
          <p:cNvSpPr>
            <a:spLocks noGrp="1"/>
          </p:cNvSpPr>
          <p:nvPr>
            <p:ph idx="1"/>
          </p:nvPr>
        </p:nvSpPr>
        <p:spPr>
          <a:xfrm>
            <a:off x="152400" y="838200"/>
            <a:ext cx="8915400" cy="5287963"/>
          </a:xfrm>
        </p:spPr>
        <p:txBody>
          <a:bodyPr>
            <a:noAutofit/>
          </a:bodyPr>
          <a:lstStyle/>
          <a:p>
            <a:pPr marL="0" indent="0" algn="just">
              <a:buNone/>
            </a:pPr>
            <a:r>
              <a:rPr lang="en-US" sz="2400" dirty="0" smtClean="0"/>
              <a:t>Selecting </a:t>
            </a:r>
            <a:r>
              <a:rPr lang="en-US" sz="2400" dirty="0"/>
              <a:t>objects by physically reaching out to them with a virtual hand, often used in conjunction with hand tracking technology</a:t>
            </a:r>
            <a:r>
              <a:rPr lang="en-US" sz="2400" dirty="0" smtClean="0"/>
              <a:t>.</a:t>
            </a:r>
          </a:p>
          <a:p>
            <a:pPr marL="0" indent="0" algn="just">
              <a:buNone/>
            </a:pPr>
            <a:r>
              <a:rPr lang="en-US" sz="2400" dirty="0"/>
              <a:t>The avatar implements inverse kinematics provided by Unity (</a:t>
            </a:r>
            <a:r>
              <a:rPr lang="en-US" sz="2400" b="1" dirty="0">
                <a:hlinkClick r:id="rId3"/>
              </a:rPr>
              <a:t>https://docs.unity3d.com/2021.3/Documentation/Manual/InverseKinematics.html</a:t>
            </a:r>
            <a:r>
              <a:rPr lang="en-US" sz="2400" dirty="0"/>
              <a:t>, accessed on 11 November 2023).</a:t>
            </a:r>
            <a:endParaRPr lang="en-US" sz="2400" dirty="0" smtClean="0"/>
          </a:p>
          <a:p>
            <a:pPr marL="0" indent="0" algn="just">
              <a:buNone/>
            </a:pPr>
            <a:endParaRPr lang="en-US" sz="2400" dirty="0"/>
          </a:p>
        </p:txBody>
      </p:sp>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36</a:t>
            </a:fld>
            <a:endParaRPr lang="en-US">
              <a:ln w="12700">
                <a:solidFill>
                  <a:schemeClr val="tx1"/>
                </a:solidFill>
              </a:ln>
            </a:endParaRP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52" y="2743200"/>
            <a:ext cx="8145463"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273341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7319"/>
            <a:ext cx="8229600" cy="700881"/>
          </a:xfrm>
        </p:spPr>
        <p:txBody>
          <a:bodyPr>
            <a:normAutofit fontScale="90000"/>
          </a:bodyPr>
          <a:lstStyle/>
          <a:p>
            <a:r>
              <a:rPr lang="en-US" sz="4000" b="1" dirty="0"/>
              <a:t>Gaze-Based </a:t>
            </a:r>
            <a:r>
              <a:rPr lang="en-US" sz="3600" b="1" dirty="0"/>
              <a:t>Selection</a:t>
            </a:r>
            <a:endParaRPr lang="en-US" sz="4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3" name="Content Placeholder 2"/>
          <p:cNvSpPr>
            <a:spLocks noGrp="1"/>
          </p:cNvSpPr>
          <p:nvPr>
            <p:ph idx="1"/>
          </p:nvPr>
        </p:nvSpPr>
        <p:spPr>
          <a:xfrm>
            <a:off x="228600" y="685800"/>
            <a:ext cx="8763000" cy="6019800"/>
          </a:xfrm>
        </p:spPr>
        <p:txBody>
          <a:bodyPr>
            <a:noAutofit/>
          </a:bodyPr>
          <a:lstStyle/>
          <a:p>
            <a:pPr marL="0" indent="0" algn="just">
              <a:buNone/>
            </a:pPr>
            <a:r>
              <a:rPr lang="en-US" sz="2400" dirty="0" smtClean="0"/>
              <a:t>Selecting </a:t>
            </a:r>
            <a:r>
              <a:rPr lang="en-US" sz="2400" dirty="0"/>
              <a:t>objects by simply looking at them for a predetermined duration, sometimes combined with additional input to confirm selection</a:t>
            </a:r>
            <a:endParaRPr lang="en-US" sz="2400" dirty="0">
              <a:latin typeface="Times New Roman" pitchFamily="18" charset="0"/>
              <a:cs typeface="Times New Roman" pitchFamily="18" charset="0"/>
            </a:endParaRPr>
          </a:p>
          <a:p>
            <a:pPr marL="0" indent="0" algn="just">
              <a:buNone/>
            </a:pPr>
            <a:r>
              <a:rPr lang="en-US" sz="2400" dirty="0"/>
              <a:t>Gaze-based selection is a method of selecting something using eye movements. A gaze tracker records eye movements and a computer program translates them into screen coordinates. </a:t>
            </a:r>
            <a:endParaRPr lang="en-US" sz="2400" dirty="0" smtClean="0"/>
          </a:p>
          <a:p>
            <a:pPr algn="just"/>
            <a:r>
              <a:rPr lang="en-US" sz="2400" dirty="0"/>
              <a:t>How it works</a:t>
            </a:r>
          </a:p>
          <a:p>
            <a:pPr algn="just" fontAlgn="ctr"/>
            <a:r>
              <a:rPr lang="en-US" sz="2400" dirty="0"/>
              <a:t>A gaze tracker uses an inbuilt light sensor to monitor pupil reflections </a:t>
            </a:r>
          </a:p>
          <a:p>
            <a:pPr algn="just" fontAlgn="ctr"/>
            <a:r>
              <a:rPr lang="en-US" sz="2400" dirty="0"/>
              <a:t>The tracker estimates the position of the eye using the pupil or iris center </a:t>
            </a:r>
          </a:p>
          <a:p>
            <a:pPr algn="just" fontAlgn="ctr"/>
            <a:r>
              <a:rPr lang="en-US" sz="2400" dirty="0"/>
              <a:t>The tracker converts eye movements into mouse movements or commands </a:t>
            </a:r>
          </a:p>
          <a:p>
            <a:pPr algn="just" fontAlgn="ctr"/>
            <a:r>
              <a:rPr lang="en-US" sz="2400" dirty="0"/>
              <a:t>The user controls the cursor by looking around on the screen </a:t>
            </a:r>
          </a:p>
          <a:p>
            <a:pPr algn="just"/>
            <a:r>
              <a:rPr lang="en-US" sz="2400" dirty="0"/>
              <a:t>Blinking performs a </a:t>
            </a:r>
            <a:r>
              <a:rPr lang="en-US" sz="2400" dirty="0" smtClean="0"/>
              <a:t>click</a:t>
            </a:r>
            <a:endParaRPr lang="en-US" sz="2400" dirty="0"/>
          </a:p>
          <a:p>
            <a:pPr marL="0" indent="0" algn="just">
              <a:buNone/>
            </a:pPr>
            <a:endParaRPr lang="en-US" sz="2400" dirty="0">
              <a:latin typeface="Times New Roman" pitchFamily="18" charset="0"/>
              <a:cs typeface="Times New Roman" pitchFamily="18" charset="0"/>
            </a:endParaRPr>
          </a:p>
        </p:txBody>
      </p:sp>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37</a:t>
            </a:fld>
            <a:endParaRPr lang="en-US">
              <a:ln w="12700">
                <a:solidFill>
                  <a:schemeClr val="tx1"/>
                </a:solidFill>
              </a:ln>
            </a:endParaRPr>
          </a:p>
        </p:txBody>
      </p:sp>
    </p:spTree>
    <p:extLst>
      <p:ext uri="{BB962C8B-B14F-4D97-AF65-F5344CB8AC3E}">
        <p14:creationId xmlns:p14="http://schemas.microsoft.com/office/powerpoint/2010/main" val="369222533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14706" y="0"/>
            <a:ext cx="1219769" cy="1143000"/>
          </a:xfrm>
          <a:prstGeom prst="rect">
            <a:avLst/>
          </a:prstGeom>
        </p:spPr>
      </p:pic>
      <p:sp>
        <p:nvSpPr>
          <p:cNvPr id="5" name="Title 4"/>
          <p:cNvSpPr>
            <a:spLocks noGrp="1"/>
          </p:cNvSpPr>
          <p:nvPr>
            <p:ph type="title"/>
          </p:nvPr>
        </p:nvSpPr>
        <p:spPr>
          <a:xfrm>
            <a:off x="457200" y="274638"/>
            <a:ext cx="8229600" cy="2011362"/>
          </a:xfrm>
        </p:spPr>
        <p:txBody>
          <a:bodyPr>
            <a:noAutofit/>
          </a:bodyPr>
          <a:lstStyle/>
          <a:p>
            <a:pPr algn="just"/>
            <a:r>
              <a:rPr lang="en-US" sz="2800" dirty="0" smtClean="0"/>
              <a:t>Gaze </a:t>
            </a:r>
            <a:r>
              <a:rPr lang="en-US" sz="2800" dirty="0"/>
              <a:t>Select-and-Snap for document selection, Gaze </a:t>
            </a:r>
            <a:r>
              <a:rPr lang="en-US" sz="2800" dirty="0" err="1"/>
              <a:t>MagGlass</a:t>
            </a:r>
            <a:r>
              <a:rPr lang="en-US" sz="2800" dirty="0"/>
              <a:t> for enhanced text legibility, and Gaze Scroll for ease of document traversal.</a:t>
            </a:r>
          </a:p>
        </p:txBody>
      </p:sp>
      <p:pic>
        <p:nvPicPr>
          <p:cNvPr id="409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1371600" y="2362784"/>
            <a:ext cx="7162515" cy="3657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Date Placeholder 7"/>
          <p:cNvSpPr>
            <a:spLocks noGrp="1"/>
          </p:cNvSpPr>
          <p:nvPr>
            <p:ph type="dt" sz="half" idx="10"/>
          </p:nvPr>
        </p:nvSpPr>
        <p:spPr/>
        <p:txBody>
          <a:bodyPr/>
          <a:lstStyle/>
          <a:p>
            <a:fld id="{5F97ACC3-E5D9-49F8-914F-F4C5FC591610}" type="datetime1">
              <a:rPr lang="en-US" smtClean="0">
                <a:ln w="12700">
                  <a:solidFill>
                    <a:schemeClr val="tx1"/>
                  </a:solidFill>
                </a:ln>
              </a:rPr>
              <a:t>2/21/2025</a:t>
            </a:fld>
            <a:endParaRPr lang="en-US">
              <a:ln w="12700">
                <a:solidFill>
                  <a:schemeClr val="tx1"/>
                </a:solidFill>
              </a:ln>
            </a:endParaRPr>
          </a:p>
        </p:txBody>
      </p:sp>
      <p:sp>
        <p:nvSpPr>
          <p:cNvPr id="9" name="Slide Number Placeholder 8"/>
          <p:cNvSpPr>
            <a:spLocks noGrp="1"/>
          </p:cNvSpPr>
          <p:nvPr>
            <p:ph type="sldNum" sz="quarter" idx="12"/>
          </p:nvPr>
        </p:nvSpPr>
        <p:spPr/>
        <p:txBody>
          <a:bodyPr/>
          <a:lstStyle/>
          <a:p>
            <a:fld id="{155D393B-D3FB-4FCB-A735-BD15267A1CE5}" type="slidenum">
              <a:rPr lang="en-US" smtClean="0">
                <a:ln w="12700">
                  <a:solidFill>
                    <a:schemeClr val="tx1"/>
                  </a:solidFill>
                </a:ln>
              </a:rPr>
              <a:t>38</a:t>
            </a:fld>
            <a:endParaRPr lang="en-US">
              <a:ln w="12700">
                <a:solidFill>
                  <a:schemeClr val="tx1"/>
                </a:solidFill>
              </a:ln>
            </a:endParaRPr>
          </a:p>
        </p:txBody>
      </p:sp>
    </p:spTree>
    <p:extLst>
      <p:ext uri="{BB962C8B-B14F-4D97-AF65-F5344CB8AC3E}">
        <p14:creationId xmlns:p14="http://schemas.microsoft.com/office/powerpoint/2010/main" val="4479400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3" name="Content Placeholder 2"/>
          <p:cNvSpPr>
            <a:spLocks noGrp="1"/>
          </p:cNvSpPr>
          <p:nvPr>
            <p:ph idx="1"/>
          </p:nvPr>
        </p:nvSpPr>
        <p:spPr>
          <a:xfrm>
            <a:off x="457200" y="228600"/>
            <a:ext cx="8229600" cy="5897563"/>
          </a:xfrm>
        </p:spPr>
        <p:txBody>
          <a:bodyPr/>
          <a:lstStyle/>
          <a:p>
            <a:pPr marL="0" indent="0">
              <a:buNone/>
            </a:pPr>
            <a:r>
              <a:rPr lang="en-US" dirty="0"/>
              <a:t>A "virtual reality selection and manipulation method" refers to the technique used in a VR environment to choose (select) and interact with virtual objects, typically done through hand controllers, gaze interaction, or gestures, with the most common method being "ray-casting" where a virtual laser pointer is projected from the controller to select an object within the virtual space. </a:t>
            </a:r>
          </a:p>
        </p:txBody>
      </p:sp>
      <p:sp>
        <p:nvSpPr>
          <p:cNvPr id="4" name="Date Placeholder 3"/>
          <p:cNvSpPr>
            <a:spLocks noGrp="1"/>
          </p:cNvSpPr>
          <p:nvPr>
            <p:ph type="dt" sz="half" idx="10"/>
          </p:nvPr>
        </p:nvSpPr>
        <p:spPr/>
        <p:txBody>
          <a:bodyPr/>
          <a:lstStyle/>
          <a:p>
            <a:fld id="{CA0144AF-9C2F-45F8-AE66-7AB34781CF3B}" type="datetime1">
              <a:rPr lang="en-US" smtClean="0"/>
              <a:t>2/21/2025</a:t>
            </a:fld>
            <a:endParaRPr lang="en-US"/>
          </a:p>
        </p:txBody>
      </p:sp>
      <p:sp>
        <p:nvSpPr>
          <p:cNvPr id="5" name="Slide Number Placeholder 4"/>
          <p:cNvSpPr>
            <a:spLocks noGrp="1"/>
          </p:cNvSpPr>
          <p:nvPr>
            <p:ph type="sldNum" sz="quarter" idx="12"/>
          </p:nvPr>
        </p:nvSpPr>
        <p:spPr/>
        <p:txBody>
          <a:bodyPr/>
          <a:lstStyle/>
          <a:p>
            <a:fld id="{155D393B-D3FB-4FCB-A735-BD15267A1CE5}" type="slidenum">
              <a:rPr lang="en-US" smtClean="0"/>
              <a:t>39</a:t>
            </a:fld>
            <a:endParaRPr lang="en-US"/>
          </a:p>
        </p:txBody>
      </p:sp>
    </p:spTree>
    <p:extLst>
      <p:ext uri="{BB962C8B-B14F-4D97-AF65-F5344CB8AC3E}">
        <p14:creationId xmlns:p14="http://schemas.microsoft.com/office/powerpoint/2010/main" val="180541622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3" name="Content Placeholder 2"/>
          <p:cNvSpPr>
            <a:spLocks noGrp="1"/>
          </p:cNvSpPr>
          <p:nvPr>
            <p:ph idx="1"/>
          </p:nvPr>
        </p:nvSpPr>
        <p:spPr>
          <a:xfrm>
            <a:off x="457200" y="228600"/>
            <a:ext cx="8229600" cy="5897563"/>
          </a:xfrm>
        </p:spPr>
        <p:txBody>
          <a:bodyPr/>
          <a:lstStyle/>
          <a:p>
            <a:pPr marL="0" indent="0" algn="just">
              <a:buNone/>
            </a:pPr>
            <a:r>
              <a:rPr lang="en-US" b="1" dirty="0"/>
              <a:t>Panoramic productivity </a:t>
            </a:r>
            <a:r>
              <a:rPr lang="en-US" b="1" dirty="0" smtClean="0"/>
              <a:t>with</a:t>
            </a:r>
          </a:p>
          <a:p>
            <a:pPr marL="0" indent="0" algn="just">
              <a:buNone/>
            </a:pPr>
            <a:r>
              <a:rPr lang="en-US" b="1" dirty="0" smtClean="0"/>
              <a:t> Mac Virtual Display</a:t>
            </a:r>
          </a:p>
          <a:p>
            <a:r>
              <a:rPr lang="en-US" b="1" dirty="0" smtClean="0"/>
              <a:t>Using </a:t>
            </a:r>
            <a:r>
              <a:rPr lang="en-US" b="1" dirty="0"/>
              <a:t>Mac Virtual Display is like having an expandable, </a:t>
            </a:r>
            <a:r>
              <a:rPr lang="en-US" b="1" dirty="0" err="1"/>
              <a:t>ultrawide</a:t>
            </a:r>
            <a:r>
              <a:rPr lang="en-US" b="1" dirty="0"/>
              <a:t> screen that wraps around </a:t>
            </a:r>
            <a:r>
              <a:rPr lang="en-US" b="1"/>
              <a:t>you</a:t>
            </a:r>
            <a:r>
              <a:rPr lang="en-US" b="1" smtClean="0"/>
              <a:t>.</a:t>
            </a:r>
            <a:r>
              <a:rPr lang="en-US" b="1" dirty="0"/>
              <a:t> It’s the equivalent of having two 5K monitors side by side, creating one massive, curved display. Now you can choose Standard, Wide, or </a:t>
            </a:r>
            <a:r>
              <a:rPr lang="en-US" b="1" dirty="0" err="1"/>
              <a:t>Ultrawide</a:t>
            </a:r>
            <a:r>
              <a:rPr lang="en-US" b="1" dirty="0"/>
              <a:t> and enjoy rich stereo sound from your Mac apps.</a:t>
            </a:r>
          </a:p>
        </p:txBody>
      </p:sp>
      <p:sp>
        <p:nvSpPr>
          <p:cNvPr id="4" name="Date Placeholder 3"/>
          <p:cNvSpPr>
            <a:spLocks noGrp="1"/>
          </p:cNvSpPr>
          <p:nvPr>
            <p:ph type="dt" sz="half" idx="10"/>
          </p:nvPr>
        </p:nvSpPr>
        <p:spPr/>
        <p:txBody>
          <a:bodyPr/>
          <a:lstStyle/>
          <a:p>
            <a:fld id="{CA0144AF-9C2F-45F8-AE66-7AB34781CF3B}" type="datetime1">
              <a:rPr lang="en-US" smtClean="0"/>
              <a:t>2/21/2025</a:t>
            </a:fld>
            <a:endParaRPr lang="en-US"/>
          </a:p>
        </p:txBody>
      </p:sp>
      <p:sp>
        <p:nvSpPr>
          <p:cNvPr id="5" name="Slide Number Placeholder 4"/>
          <p:cNvSpPr>
            <a:spLocks noGrp="1"/>
          </p:cNvSpPr>
          <p:nvPr>
            <p:ph type="sldNum" sz="quarter" idx="12"/>
          </p:nvPr>
        </p:nvSpPr>
        <p:spPr/>
        <p:txBody>
          <a:bodyPr/>
          <a:lstStyle/>
          <a:p>
            <a:fld id="{155D393B-D3FB-4FCB-A735-BD15267A1CE5}" type="slidenum">
              <a:rPr lang="en-US" smtClean="0"/>
              <a:t>40</a:t>
            </a:fld>
            <a:endParaRPr lang="en-US"/>
          </a:p>
        </p:txBody>
      </p:sp>
    </p:spTree>
    <p:extLst>
      <p:ext uri="{BB962C8B-B14F-4D97-AF65-F5344CB8AC3E}">
        <p14:creationId xmlns:p14="http://schemas.microsoft.com/office/powerpoint/2010/main" val="370853665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4" name="Date Placeholder 3"/>
          <p:cNvSpPr>
            <a:spLocks noGrp="1"/>
          </p:cNvSpPr>
          <p:nvPr>
            <p:ph type="dt" sz="half" idx="10"/>
          </p:nvPr>
        </p:nvSpPr>
        <p:spPr/>
        <p:txBody>
          <a:bodyPr/>
          <a:lstStyle/>
          <a:p>
            <a:fld id="{CA0144AF-9C2F-45F8-AE66-7AB34781CF3B}" type="datetime1">
              <a:rPr lang="en-US" smtClean="0"/>
              <a:t>2/21/2025</a:t>
            </a:fld>
            <a:endParaRPr lang="en-US"/>
          </a:p>
        </p:txBody>
      </p:sp>
      <p:sp>
        <p:nvSpPr>
          <p:cNvPr id="5" name="Slide Number Placeholder 4"/>
          <p:cNvSpPr>
            <a:spLocks noGrp="1"/>
          </p:cNvSpPr>
          <p:nvPr>
            <p:ph type="sldNum" sz="quarter" idx="12"/>
          </p:nvPr>
        </p:nvSpPr>
        <p:spPr/>
        <p:txBody>
          <a:bodyPr/>
          <a:lstStyle/>
          <a:p>
            <a:fld id="{155D393B-D3FB-4FCB-A735-BD15267A1CE5}" type="slidenum">
              <a:rPr lang="en-US" smtClean="0"/>
              <a:t>41</a:t>
            </a:fld>
            <a:endParaRPr lang="en-US"/>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 y="565930"/>
            <a:ext cx="8229600" cy="5222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686856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3" name="Title 2"/>
          <p:cNvSpPr>
            <a:spLocks noGrp="1"/>
          </p:cNvSpPr>
          <p:nvPr>
            <p:ph type="title"/>
          </p:nvPr>
        </p:nvSpPr>
        <p:spPr>
          <a:xfrm>
            <a:off x="457200" y="274638"/>
            <a:ext cx="8229600" cy="715962"/>
          </a:xfrm>
        </p:spPr>
        <p:txBody>
          <a:bodyPr>
            <a:noAutofit/>
          </a:bodyPr>
          <a:lstStyle/>
          <a:p>
            <a:r>
              <a:rPr lang="en-US" sz="2800" dirty="0" smtClean="0"/>
              <a:t>What </a:t>
            </a:r>
            <a:r>
              <a:rPr lang="en-US" sz="2800" dirty="0"/>
              <a:t>are Head-mounted Displays?</a:t>
            </a:r>
            <a:endParaRPr lang="en-US" sz="2800" dirty="0"/>
          </a:p>
        </p:txBody>
      </p:sp>
      <p:sp>
        <p:nvSpPr>
          <p:cNvPr id="7" name="Content Placeholder 6"/>
          <p:cNvSpPr>
            <a:spLocks noGrp="1"/>
          </p:cNvSpPr>
          <p:nvPr>
            <p:ph idx="1"/>
          </p:nvPr>
        </p:nvSpPr>
        <p:spPr>
          <a:xfrm>
            <a:off x="457200" y="990600"/>
            <a:ext cx="8229600" cy="5135563"/>
          </a:xfrm>
        </p:spPr>
        <p:txBody>
          <a:bodyPr>
            <a:normAutofit fontScale="92500"/>
          </a:bodyPr>
          <a:lstStyle/>
          <a:p>
            <a:pPr marL="0" indent="0" algn="just">
              <a:buNone/>
            </a:pPr>
            <a:r>
              <a:rPr lang="en-US" sz="2800" dirty="0"/>
              <a:t>head-mounted displays, or </a:t>
            </a:r>
            <a:r>
              <a:rPr lang="en-US" sz="2800" dirty="0" smtClean="0"/>
              <a:t>HMDs </a:t>
            </a:r>
            <a:r>
              <a:rPr lang="en-US" sz="2800" dirty="0"/>
              <a:t>are probably the most instantly recognizable objects associated with virtual reality. As such, they are also referred to sometimes as ‘Virtual Reality headsets’, or ‘VR glasses’. HMDs attach straight to your head and present visuals directly to your eyes, and perhaps most excitingly, to your peripheral vision as </a:t>
            </a:r>
            <a:r>
              <a:rPr lang="en-US" sz="2800" dirty="0" smtClean="0"/>
              <a:t>well.</a:t>
            </a:r>
          </a:p>
          <a:p>
            <a:pPr marL="0" indent="0" algn="just">
              <a:buNone/>
            </a:pPr>
            <a:r>
              <a:rPr lang="en-US" sz="2800" dirty="0"/>
              <a:t>HMDs are not only used in virtual reality gaming, they’ve also been utilized in military, medical and engineering contexts to name a few. As seen in educational films such as </a:t>
            </a:r>
            <a:r>
              <a:rPr lang="en-US" sz="2800" i="1" dirty="0">
                <a:hlinkClick r:id="rId3"/>
              </a:rPr>
              <a:t>The Terminator</a:t>
            </a:r>
            <a:r>
              <a:rPr lang="en-US" sz="2800" dirty="0"/>
              <a:t>, these devices can be used to create something called </a:t>
            </a:r>
            <a:r>
              <a:rPr lang="en-US" sz="2800" i="1" dirty="0"/>
              <a:t>augmented reality,</a:t>
            </a:r>
            <a:r>
              <a:rPr lang="en-US" sz="2800" dirty="0"/>
              <a:t> which overlays digital information through an HMD filter onto the real world.</a:t>
            </a:r>
            <a:endParaRPr lang="en-US" sz="2800" dirty="0"/>
          </a:p>
        </p:txBody>
      </p:sp>
      <p:sp>
        <p:nvSpPr>
          <p:cNvPr id="4" name="Date Placeholder 3"/>
          <p:cNvSpPr>
            <a:spLocks noGrp="1"/>
          </p:cNvSpPr>
          <p:nvPr>
            <p:ph type="dt" sz="half" idx="10"/>
          </p:nvPr>
        </p:nvSpPr>
        <p:spPr/>
        <p:txBody>
          <a:bodyPr/>
          <a:lstStyle/>
          <a:p>
            <a:fld id="{CA0144AF-9C2F-45F8-AE66-7AB34781CF3B}" type="datetime1">
              <a:rPr lang="en-US" smtClean="0"/>
              <a:t>2/21/2025</a:t>
            </a:fld>
            <a:endParaRPr lang="en-US"/>
          </a:p>
        </p:txBody>
      </p:sp>
      <p:sp>
        <p:nvSpPr>
          <p:cNvPr id="5" name="Slide Number Placeholder 4"/>
          <p:cNvSpPr>
            <a:spLocks noGrp="1"/>
          </p:cNvSpPr>
          <p:nvPr>
            <p:ph type="sldNum" sz="quarter" idx="12"/>
          </p:nvPr>
        </p:nvSpPr>
        <p:spPr/>
        <p:txBody>
          <a:bodyPr/>
          <a:lstStyle/>
          <a:p>
            <a:fld id="{155D393B-D3FB-4FCB-A735-BD15267A1CE5}" type="slidenum">
              <a:rPr lang="en-US" smtClean="0"/>
              <a:t>42</a:t>
            </a:fld>
            <a:endParaRPr lang="en-US"/>
          </a:p>
        </p:txBody>
      </p:sp>
    </p:spTree>
    <p:extLst>
      <p:ext uri="{BB962C8B-B14F-4D97-AF65-F5344CB8AC3E}">
        <p14:creationId xmlns:p14="http://schemas.microsoft.com/office/powerpoint/2010/main" val="203410660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4" name="Date Placeholder 3"/>
          <p:cNvSpPr>
            <a:spLocks noGrp="1"/>
          </p:cNvSpPr>
          <p:nvPr>
            <p:ph type="dt" sz="half" idx="10"/>
          </p:nvPr>
        </p:nvSpPr>
        <p:spPr/>
        <p:txBody>
          <a:bodyPr/>
          <a:lstStyle/>
          <a:p>
            <a:fld id="{CA0144AF-9C2F-45F8-AE66-7AB34781CF3B}" type="datetime1">
              <a:rPr lang="en-US" smtClean="0"/>
              <a:t>2/21/2025</a:t>
            </a:fld>
            <a:endParaRPr lang="en-US"/>
          </a:p>
        </p:txBody>
      </p:sp>
      <p:sp>
        <p:nvSpPr>
          <p:cNvPr id="5" name="Slide Number Placeholder 4"/>
          <p:cNvSpPr>
            <a:spLocks noGrp="1"/>
          </p:cNvSpPr>
          <p:nvPr>
            <p:ph type="sldNum" sz="quarter" idx="12"/>
          </p:nvPr>
        </p:nvSpPr>
        <p:spPr/>
        <p:txBody>
          <a:bodyPr/>
          <a:lstStyle/>
          <a:p>
            <a:fld id="{155D393B-D3FB-4FCB-A735-BD15267A1CE5}" type="slidenum">
              <a:rPr lang="en-US" smtClean="0"/>
              <a:t>43</a:t>
            </a:fld>
            <a:endParaRPr lang="en-US"/>
          </a:p>
        </p:txBody>
      </p:sp>
      <p:sp>
        <p:nvSpPr>
          <p:cNvPr id="2" name="Content Placeholder 1"/>
          <p:cNvSpPr>
            <a:spLocks noGrp="1"/>
          </p:cNvSpPr>
          <p:nvPr>
            <p:ph idx="1"/>
          </p:nvPr>
        </p:nvSpPr>
        <p:spPr>
          <a:xfrm>
            <a:off x="381000" y="304800"/>
            <a:ext cx="8305800" cy="5821363"/>
          </a:xfrm>
        </p:spPr>
        <p:txBody>
          <a:bodyPr>
            <a:normAutofit/>
          </a:bodyPr>
          <a:lstStyle/>
          <a:p>
            <a:pPr marL="0" indent="0" algn="just">
              <a:buNone/>
            </a:pPr>
            <a:r>
              <a:rPr lang="en-US" sz="2400" dirty="0"/>
              <a:t>for the best possible experience with an HMD, a </a:t>
            </a:r>
            <a:r>
              <a:rPr lang="en-US" sz="2400" dirty="0" smtClean="0"/>
              <a:t>number </a:t>
            </a:r>
            <a:r>
              <a:rPr lang="en-US" sz="2400" dirty="0"/>
              <a:t>of technologies need to be incorporated. </a:t>
            </a:r>
            <a:endParaRPr lang="en-US" sz="2400" dirty="0" smtClean="0"/>
          </a:p>
          <a:p>
            <a:pPr marL="0" indent="0" algn="just">
              <a:buNone/>
            </a:pPr>
            <a:r>
              <a:rPr lang="en-US" sz="2400" b="1" dirty="0"/>
              <a:t>Display </a:t>
            </a:r>
            <a:r>
              <a:rPr lang="en-US" sz="2400" b="1" dirty="0" smtClean="0"/>
              <a:t>Technology</a:t>
            </a:r>
            <a:r>
              <a:rPr lang="en-US" sz="2400" dirty="0" smtClean="0"/>
              <a:t>: </a:t>
            </a:r>
            <a:r>
              <a:rPr lang="en-US" sz="2400" dirty="0"/>
              <a:t>Today, an HMD might use one of several techniques to transfer images to brain, but the most common is the use of </a:t>
            </a:r>
            <a:r>
              <a:rPr lang="en-US" sz="2400" i="1" dirty="0"/>
              <a:t>liquid crystals</a:t>
            </a:r>
            <a:r>
              <a:rPr lang="en-US" sz="2400" dirty="0" smtClean="0"/>
              <a:t>.</a:t>
            </a:r>
            <a:r>
              <a:rPr lang="en-US" sz="2400" dirty="0"/>
              <a:t> This is more commonly known as an LCD panel, the same type of panel used in smartphones, modern televisions and computer monitors</a:t>
            </a:r>
            <a:r>
              <a:rPr lang="en-US" sz="2400" dirty="0" smtClean="0"/>
              <a:t>.</a:t>
            </a:r>
          </a:p>
          <a:p>
            <a:pPr marL="0" indent="0" algn="just">
              <a:buNone/>
            </a:pPr>
            <a:r>
              <a:rPr lang="en-US" sz="2400" b="1" dirty="0"/>
              <a:t>Pixels and </a:t>
            </a:r>
            <a:r>
              <a:rPr lang="en-US" sz="2400" b="1" dirty="0" smtClean="0"/>
              <a:t>displays: </a:t>
            </a:r>
            <a:r>
              <a:rPr lang="en-US" sz="2400" dirty="0"/>
              <a:t>Pixels (short for </a:t>
            </a:r>
            <a:r>
              <a:rPr lang="en-US" sz="2400" i="1" dirty="0"/>
              <a:t>pixel elements</a:t>
            </a:r>
            <a:r>
              <a:rPr lang="en-US" sz="2400" dirty="0"/>
              <a:t>) are the dots that make up a picture. The more pixels you have in every square inch of display, the crisper the image</a:t>
            </a:r>
            <a:r>
              <a:rPr lang="en-US" sz="2400" dirty="0" smtClean="0"/>
              <a:t>.</a:t>
            </a:r>
          </a:p>
          <a:p>
            <a:pPr marL="0" indent="0">
              <a:buNone/>
            </a:pPr>
            <a:r>
              <a:rPr lang="en-US" sz="2400" b="1" dirty="0"/>
              <a:t>Retinal </a:t>
            </a:r>
            <a:r>
              <a:rPr lang="en-US" sz="2400" b="1" dirty="0" smtClean="0"/>
              <a:t>projection: </a:t>
            </a:r>
            <a:r>
              <a:rPr lang="en-US" sz="2400" dirty="0" smtClean="0"/>
              <a:t>Retinal </a:t>
            </a:r>
            <a:r>
              <a:rPr lang="en-US" sz="2400" dirty="0"/>
              <a:t>Projection is a technology that hasn’t seen much widespread use yet, but does exist in some </a:t>
            </a:r>
            <a:r>
              <a:rPr lang="en-US" sz="2400" dirty="0" smtClean="0"/>
              <a:t>headsets</a:t>
            </a:r>
          </a:p>
          <a:p>
            <a:pPr marL="0" indent="0">
              <a:buNone/>
            </a:pPr>
            <a:r>
              <a:rPr lang="en-US" sz="2400" dirty="0"/>
              <a:t>This technology uses a combination of tiny digital projectors and microscopic mirrors to project images onto your retina</a:t>
            </a:r>
          </a:p>
          <a:p>
            <a:pPr marL="0" indent="0" algn="just">
              <a:buNone/>
            </a:pPr>
            <a:endParaRPr lang="en-US" sz="2400" b="1" dirty="0"/>
          </a:p>
          <a:p>
            <a:pPr marL="0" indent="0" algn="just">
              <a:buNone/>
            </a:pPr>
            <a:endParaRPr lang="en-US" sz="2400" dirty="0"/>
          </a:p>
          <a:p>
            <a:pPr marL="0" indent="0" algn="just">
              <a:buNone/>
            </a:pPr>
            <a:endParaRPr lang="en-US" sz="2400" dirty="0"/>
          </a:p>
        </p:txBody>
      </p:sp>
    </p:spTree>
    <p:extLst>
      <p:ext uri="{BB962C8B-B14F-4D97-AF65-F5344CB8AC3E}">
        <p14:creationId xmlns:p14="http://schemas.microsoft.com/office/powerpoint/2010/main" val="411127951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4" name="Date Placeholder 3"/>
          <p:cNvSpPr>
            <a:spLocks noGrp="1"/>
          </p:cNvSpPr>
          <p:nvPr>
            <p:ph type="dt" sz="half" idx="10"/>
          </p:nvPr>
        </p:nvSpPr>
        <p:spPr/>
        <p:txBody>
          <a:bodyPr/>
          <a:lstStyle/>
          <a:p>
            <a:fld id="{CA0144AF-9C2F-45F8-AE66-7AB34781CF3B}" type="datetime1">
              <a:rPr lang="en-US" smtClean="0"/>
              <a:t>2/21/2025</a:t>
            </a:fld>
            <a:endParaRPr lang="en-US"/>
          </a:p>
        </p:txBody>
      </p:sp>
      <p:sp>
        <p:nvSpPr>
          <p:cNvPr id="5" name="Slide Number Placeholder 4"/>
          <p:cNvSpPr>
            <a:spLocks noGrp="1"/>
          </p:cNvSpPr>
          <p:nvPr>
            <p:ph type="sldNum" sz="quarter" idx="12"/>
          </p:nvPr>
        </p:nvSpPr>
        <p:spPr/>
        <p:txBody>
          <a:bodyPr/>
          <a:lstStyle/>
          <a:p>
            <a:fld id="{155D393B-D3FB-4FCB-A735-BD15267A1CE5}" type="slidenum">
              <a:rPr lang="en-US" smtClean="0"/>
              <a:t>44</a:t>
            </a:fld>
            <a:endParaRPr lang="en-US"/>
          </a:p>
        </p:txBody>
      </p:sp>
      <p:sp>
        <p:nvSpPr>
          <p:cNvPr id="2" name="Content Placeholder 1"/>
          <p:cNvSpPr>
            <a:spLocks noGrp="1"/>
          </p:cNvSpPr>
          <p:nvPr>
            <p:ph idx="1"/>
          </p:nvPr>
        </p:nvSpPr>
        <p:spPr>
          <a:xfrm>
            <a:off x="457200" y="381000"/>
            <a:ext cx="8229600" cy="5745163"/>
          </a:xfrm>
        </p:spPr>
        <p:txBody>
          <a:bodyPr>
            <a:normAutofit fontScale="92500"/>
          </a:bodyPr>
          <a:lstStyle/>
          <a:p>
            <a:pPr marL="0" indent="0" algn="just">
              <a:buNone/>
            </a:pPr>
            <a:r>
              <a:rPr lang="en-US" sz="2800" b="1" dirty="0"/>
              <a:t>Refresh </a:t>
            </a:r>
            <a:r>
              <a:rPr lang="en-US" sz="2800" b="1" dirty="0" smtClean="0"/>
              <a:t>rate: </a:t>
            </a:r>
            <a:r>
              <a:rPr lang="en-US" sz="2800" dirty="0"/>
              <a:t> The refresh rate refers to how quickly a display can change its content over a particular length of time. Typically, modern LCD computer monitors can do this 60 times per second, or at 60Hz. This also corresponds to a maximum </a:t>
            </a:r>
            <a:r>
              <a:rPr lang="en-US" sz="2800" i="1" dirty="0"/>
              <a:t>frame rate</a:t>
            </a:r>
            <a:r>
              <a:rPr lang="en-US" sz="2800" dirty="0"/>
              <a:t> of 60 frames per second – or 60fps – where one frame equals a complete image on your screen.</a:t>
            </a:r>
            <a:endParaRPr lang="en-US" sz="2800" b="1" dirty="0"/>
          </a:p>
          <a:p>
            <a:pPr marL="0" indent="0" algn="just">
              <a:buNone/>
            </a:pPr>
            <a:r>
              <a:rPr lang="en-US" sz="2800" b="1" dirty="0" smtClean="0"/>
              <a:t>Latency </a:t>
            </a:r>
            <a:r>
              <a:rPr lang="en-US" sz="2800" dirty="0"/>
              <a:t>is the term used for the time between input and output. For the layman, that means the time it takes for the picture in your VR world to catch up to your new head position each time. In order for VR technology to fool your brain into thinking that you are in an immersive world, the technology requires very low latencies. An absolutely top-notch experience usually equals latency of 20ms or less; any more and we start to notice an unnatural lag.</a:t>
            </a:r>
          </a:p>
          <a:p>
            <a:pPr marL="0" indent="0" algn="just">
              <a:buNone/>
            </a:pPr>
            <a:endParaRPr lang="en-US" sz="2800" dirty="0"/>
          </a:p>
        </p:txBody>
      </p:sp>
    </p:spTree>
    <p:extLst>
      <p:ext uri="{BB962C8B-B14F-4D97-AF65-F5344CB8AC3E}">
        <p14:creationId xmlns:p14="http://schemas.microsoft.com/office/powerpoint/2010/main" val="304549223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4" name="Date Placeholder 3"/>
          <p:cNvSpPr>
            <a:spLocks noGrp="1"/>
          </p:cNvSpPr>
          <p:nvPr>
            <p:ph type="dt" sz="half" idx="10"/>
          </p:nvPr>
        </p:nvSpPr>
        <p:spPr/>
        <p:txBody>
          <a:bodyPr/>
          <a:lstStyle/>
          <a:p>
            <a:fld id="{CA0144AF-9C2F-45F8-AE66-7AB34781CF3B}" type="datetime1">
              <a:rPr lang="en-US" smtClean="0"/>
              <a:t>2/21/2025</a:t>
            </a:fld>
            <a:endParaRPr lang="en-US"/>
          </a:p>
        </p:txBody>
      </p:sp>
      <p:sp>
        <p:nvSpPr>
          <p:cNvPr id="5" name="Slide Number Placeholder 4"/>
          <p:cNvSpPr>
            <a:spLocks noGrp="1"/>
          </p:cNvSpPr>
          <p:nvPr>
            <p:ph type="sldNum" sz="quarter" idx="12"/>
          </p:nvPr>
        </p:nvSpPr>
        <p:spPr/>
        <p:txBody>
          <a:bodyPr/>
          <a:lstStyle/>
          <a:p>
            <a:fld id="{155D393B-D3FB-4FCB-A735-BD15267A1CE5}" type="slidenum">
              <a:rPr lang="en-US" smtClean="0"/>
              <a:t>45</a:t>
            </a:fld>
            <a:endParaRPr lang="en-US"/>
          </a:p>
        </p:txBody>
      </p:sp>
      <p:sp>
        <p:nvSpPr>
          <p:cNvPr id="2" name="Content Placeholder 1"/>
          <p:cNvSpPr>
            <a:spLocks noGrp="1"/>
          </p:cNvSpPr>
          <p:nvPr>
            <p:ph idx="1"/>
          </p:nvPr>
        </p:nvSpPr>
        <p:spPr>
          <a:xfrm>
            <a:off x="457200" y="304800"/>
            <a:ext cx="8229600" cy="5821363"/>
          </a:xfrm>
        </p:spPr>
        <p:txBody>
          <a:bodyPr>
            <a:normAutofit fontScale="92500"/>
          </a:bodyPr>
          <a:lstStyle/>
          <a:p>
            <a:pPr marL="0" indent="0" algn="just">
              <a:buNone/>
            </a:pPr>
            <a:r>
              <a:rPr lang="en-US" sz="2400" b="1" dirty="0" smtClean="0"/>
              <a:t>Optics</a:t>
            </a:r>
            <a:r>
              <a:rPr lang="en-US" sz="2400" dirty="0" smtClean="0"/>
              <a:t>: If </a:t>
            </a:r>
            <a:r>
              <a:rPr lang="en-US" sz="2400" dirty="0"/>
              <a:t>you were to take your smartphone’s LCD screen and hold it right up to your face, it still wouldn’t fill your entire field of vision in the way a VR headset aims to. In order to create that immersive feeling of inhabiting a virtual world, you have to stretch that flat image to fill your visual field entirely. This is commonly referred to as </a:t>
            </a:r>
            <a:r>
              <a:rPr lang="en-US" sz="2400" i="1" dirty="0"/>
              <a:t>optics</a:t>
            </a:r>
            <a:r>
              <a:rPr lang="en-US" sz="2400" dirty="0"/>
              <a:t>. </a:t>
            </a:r>
            <a:endParaRPr lang="en-US" sz="2400" dirty="0" smtClean="0"/>
          </a:p>
          <a:p>
            <a:pPr marL="0" indent="0" algn="just">
              <a:buNone/>
            </a:pPr>
            <a:r>
              <a:rPr lang="en-US" sz="2400" b="1" dirty="0"/>
              <a:t>Head </a:t>
            </a:r>
            <a:r>
              <a:rPr lang="en-US" sz="2400" b="1" dirty="0" smtClean="0"/>
              <a:t>Tracking: </a:t>
            </a:r>
            <a:r>
              <a:rPr lang="en-US" sz="2400" dirty="0"/>
              <a:t>To acknowledge your head’s position and transform that into other data, your HMD needs some accurate head tracking technology</a:t>
            </a:r>
            <a:r>
              <a:rPr lang="en-US" sz="2400" dirty="0" smtClean="0"/>
              <a:t>. </a:t>
            </a:r>
            <a:r>
              <a:rPr lang="en-US" sz="2400" dirty="0"/>
              <a:t>we can now put a multi-axis accelerometer (which sounds entirely made up, but it is not) on a chip, allowing infrared tracking cameras to accurately watch markers on the HMD and relay positional data to the computer</a:t>
            </a:r>
          </a:p>
          <a:p>
            <a:pPr marL="0" indent="0" algn="just">
              <a:buNone/>
            </a:pPr>
            <a:r>
              <a:rPr lang="en-US" sz="2400" b="1" dirty="0"/>
              <a:t>Eye </a:t>
            </a:r>
            <a:r>
              <a:rPr lang="en-US" sz="2400" b="1" dirty="0" smtClean="0"/>
              <a:t>Tracking</a:t>
            </a:r>
            <a:r>
              <a:rPr lang="en-US" sz="2400" dirty="0" smtClean="0"/>
              <a:t>: </a:t>
            </a:r>
            <a:r>
              <a:rPr lang="en-US" sz="2400" dirty="0"/>
              <a:t>It tracks where your eyes are currently looking and can extrapolate that information to change it into visual data. With this technology, your HMD could potentially change the depth of field of the visuals on-screen to simulate natural vision much more closely.</a:t>
            </a:r>
          </a:p>
        </p:txBody>
      </p:sp>
    </p:spTree>
    <p:extLst>
      <p:ext uri="{BB962C8B-B14F-4D97-AF65-F5344CB8AC3E}">
        <p14:creationId xmlns:p14="http://schemas.microsoft.com/office/powerpoint/2010/main" val="406745832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4" name="Date Placeholder 3"/>
          <p:cNvSpPr>
            <a:spLocks noGrp="1"/>
          </p:cNvSpPr>
          <p:nvPr>
            <p:ph type="dt" sz="half" idx="10"/>
          </p:nvPr>
        </p:nvSpPr>
        <p:spPr/>
        <p:txBody>
          <a:bodyPr/>
          <a:lstStyle/>
          <a:p>
            <a:fld id="{CA0144AF-9C2F-45F8-AE66-7AB34781CF3B}" type="datetime1">
              <a:rPr lang="en-US" smtClean="0"/>
              <a:t>2/21/2025</a:t>
            </a:fld>
            <a:endParaRPr lang="en-US"/>
          </a:p>
        </p:txBody>
      </p:sp>
      <p:sp>
        <p:nvSpPr>
          <p:cNvPr id="5" name="Slide Number Placeholder 4"/>
          <p:cNvSpPr>
            <a:spLocks noGrp="1"/>
          </p:cNvSpPr>
          <p:nvPr>
            <p:ph type="sldNum" sz="quarter" idx="12"/>
          </p:nvPr>
        </p:nvSpPr>
        <p:spPr/>
        <p:txBody>
          <a:bodyPr/>
          <a:lstStyle/>
          <a:p>
            <a:fld id="{155D393B-D3FB-4FCB-A735-BD15267A1CE5}" type="slidenum">
              <a:rPr lang="en-US" smtClean="0"/>
              <a:t>46</a:t>
            </a:fld>
            <a:endParaRPr lang="en-US"/>
          </a:p>
        </p:txBody>
      </p:sp>
      <p:sp>
        <p:nvSpPr>
          <p:cNvPr id="2" name="Content Placeholder 1"/>
          <p:cNvSpPr>
            <a:spLocks noGrp="1"/>
          </p:cNvSpPr>
          <p:nvPr>
            <p:ph idx="1"/>
          </p:nvPr>
        </p:nvSpPr>
        <p:spPr>
          <a:xfrm>
            <a:off x="457200" y="228600"/>
            <a:ext cx="8229600" cy="5897563"/>
          </a:xfrm>
        </p:spPr>
        <p:txBody>
          <a:bodyPr>
            <a:normAutofit fontScale="92500" lnSpcReduction="10000"/>
          </a:bodyPr>
          <a:lstStyle/>
          <a:p>
            <a:pPr marL="0" indent="0" algn="just">
              <a:buNone/>
            </a:pPr>
            <a:r>
              <a:rPr lang="en-US" sz="2400" b="1" dirty="0"/>
              <a:t>Audio </a:t>
            </a:r>
            <a:r>
              <a:rPr lang="en-US" sz="2400" b="1" dirty="0" smtClean="0"/>
              <a:t>Hardware</a:t>
            </a:r>
            <a:r>
              <a:rPr lang="en-US" sz="2400" dirty="0" smtClean="0"/>
              <a:t>: </a:t>
            </a:r>
            <a:r>
              <a:rPr lang="en-US" sz="2400" dirty="0"/>
              <a:t>Some HMDs currently include their own optional headphones, while others do not. Positional, multi-speaker audio that gives you the illusion of a 3-dimensional world is a technology that already very much exists (for example you may already use surround sound somewhere in your home), and it can slot in seamlessly with existing HMDs.</a:t>
            </a:r>
          </a:p>
          <a:p>
            <a:pPr marL="0" indent="0" algn="just">
              <a:buNone/>
            </a:pPr>
            <a:r>
              <a:rPr lang="en-US" sz="2400" b="1" dirty="0"/>
              <a:t>Computer </a:t>
            </a:r>
            <a:r>
              <a:rPr lang="en-US" sz="2400" b="1" dirty="0" smtClean="0"/>
              <a:t>Hardware</a:t>
            </a:r>
            <a:r>
              <a:rPr lang="en-US" sz="2400" dirty="0" smtClean="0"/>
              <a:t>: </a:t>
            </a:r>
            <a:r>
              <a:rPr lang="en-US" sz="2400" dirty="0"/>
              <a:t>The first operates on a totally self-contained basis. It possesses all the necessary computer hardware required to function as a VR headset, allowing it to collect and display the input it receives from you</a:t>
            </a:r>
            <a:r>
              <a:rPr lang="en-US" sz="2400" dirty="0" smtClean="0"/>
              <a:t>.</a:t>
            </a:r>
          </a:p>
          <a:p>
            <a:pPr marL="0" indent="0" algn="just">
              <a:buNone/>
            </a:pPr>
            <a:r>
              <a:rPr lang="en-US" sz="2400" dirty="0"/>
              <a:t>The second type of HMD does not have any computing power. This means it must interface with an external computer. Usually these HMDs accept High-Definition Multimedia Interface (HDMI) input and use a Universal Serial Bus (USB) connector to send head tracking data through</a:t>
            </a:r>
            <a:r>
              <a:rPr lang="en-US" sz="2400" dirty="0" smtClean="0"/>
              <a:t>.</a:t>
            </a:r>
          </a:p>
          <a:p>
            <a:pPr marL="0" indent="0" algn="just">
              <a:buNone/>
            </a:pPr>
            <a:r>
              <a:rPr lang="en-US" sz="2400" dirty="0"/>
              <a:t>The third class of device is one that does a bit of both, having its own onboard hardware, but also allowing input from external devices.</a:t>
            </a:r>
          </a:p>
          <a:p>
            <a:pPr marL="0" indent="0" algn="just">
              <a:buNone/>
            </a:pPr>
            <a:endParaRPr lang="en-US" sz="2400" dirty="0"/>
          </a:p>
        </p:txBody>
      </p:sp>
    </p:spTree>
    <p:extLst>
      <p:ext uri="{BB962C8B-B14F-4D97-AF65-F5344CB8AC3E}">
        <p14:creationId xmlns:p14="http://schemas.microsoft.com/office/powerpoint/2010/main" val="429112128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4231" y="0"/>
            <a:ext cx="1219769" cy="1143000"/>
          </a:xfrm>
          <a:prstGeom prst="rect">
            <a:avLst/>
          </a:prstGeom>
        </p:spPr>
      </p:pic>
      <p:sp>
        <p:nvSpPr>
          <p:cNvPr id="4" name="Date Placeholder 3"/>
          <p:cNvSpPr>
            <a:spLocks noGrp="1"/>
          </p:cNvSpPr>
          <p:nvPr>
            <p:ph type="dt" sz="half" idx="10"/>
          </p:nvPr>
        </p:nvSpPr>
        <p:spPr/>
        <p:txBody>
          <a:bodyPr/>
          <a:lstStyle/>
          <a:p>
            <a:fld id="{CA0144AF-9C2F-45F8-AE66-7AB34781CF3B}" type="datetime1">
              <a:rPr lang="en-US" smtClean="0"/>
              <a:t>2/21/2025</a:t>
            </a:fld>
            <a:endParaRPr lang="en-US"/>
          </a:p>
        </p:txBody>
      </p:sp>
      <p:sp>
        <p:nvSpPr>
          <p:cNvPr id="5" name="Slide Number Placeholder 4"/>
          <p:cNvSpPr>
            <a:spLocks noGrp="1"/>
          </p:cNvSpPr>
          <p:nvPr>
            <p:ph type="sldNum" sz="quarter" idx="12"/>
          </p:nvPr>
        </p:nvSpPr>
        <p:spPr/>
        <p:txBody>
          <a:bodyPr/>
          <a:lstStyle/>
          <a:p>
            <a:fld id="{155D393B-D3FB-4FCB-A735-BD15267A1CE5}" type="slidenum">
              <a:rPr lang="en-US" smtClean="0"/>
              <a:t>47</a:t>
            </a:fld>
            <a:endParaRPr lang="en-US"/>
          </a:p>
        </p:txBody>
      </p:sp>
      <p:sp>
        <p:nvSpPr>
          <p:cNvPr id="2" name="Content Placeholder 1"/>
          <p:cNvSpPr>
            <a:spLocks noGrp="1"/>
          </p:cNvSpPr>
          <p:nvPr>
            <p:ph idx="1"/>
          </p:nvPr>
        </p:nvSpPr>
        <p:spPr>
          <a:xfrm>
            <a:off x="457200" y="228600"/>
            <a:ext cx="8229600" cy="5897563"/>
          </a:xfrm>
        </p:spPr>
        <p:txBody>
          <a:bodyPr>
            <a:normAutofit/>
          </a:bodyPr>
          <a:lstStyle/>
          <a:p>
            <a:pPr marL="0" indent="0" algn="just">
              <a:buNone/>
            </a:pPr>
            <a:r>
              <a:rPr lang="en-US" sz="2400" b="1" dirty="0"/>
              <a:t>Why doesn’t all VR use 6DoF?</a:t>
            </a:r>
          </a:p>
          <a:p>
            <a:pPr marL="0" indent="0" algn="just">
              <a:buNone/>
            </a:pPr>
            <a:r>
              <a:rPr lang="en-US" sz="2400" dirty="0"/>
              <a:t>this is because of cost. The hardware and software to have 6 </a:t>
            </a:r>
            <a:r>
              <a:rPr lang="en-US" sz="2400" dirty="0" err="1"/>
              <a:t>DoF</a:t>
            </a:r>
            <a:r>
              <a:rPr lang="en-US" sz="2400" dirty="0"/>
              <a:t> tracking is far more complex than 3 </a:t>
            </a:r>
            <a:r>
              <a:rPr lang="en-US" sz="2400" dirty="0" err="1"/>
              <a:t>DoF</a:t>
            </a:r>
            <a:r>
              <a:rPr lang="en-US" sz="2400" dirty="0"/>
              <a:t> tracking. Most mobile VR headsets use the built it inertial measurement unit (IMU) sensor to read is orientation. This is the same sensor that turns your screen landscape when watching a video on your mobile. Whereas, 6 </a:t>
            </a:r>
            <a:r>
              <a:rPr lang="en-US" sz="2400" dirty="0" err="1"/>
              <a:t>DoF</a:t>
            </a:r>
            <a:r>
              <a:rPr lang="en-US" sz="2400" dirty="0"/>
              <a:t> systems need infrared or optical tracking systems to track specific points on their headset or controllers in 3D space. The extra hardware increases price but with greater functionality</a:t>
            </a:r>
            <a:r>
              <a:rPr lang="en-US" sz="2400" dirty="0" smtClean="0"/>
              <a:t>.</a:t>
            </a:r>
          </a:p>
          <a:p>
            <a:pPr marL="0" indent="0">
              <a:buNone/>
            </a:pPr>
            <a:r>
              <a:rPr lang="en-US" sz="2400" b="1" dirty="0"/>
              <a:t>So, which is better?</a:t>
            </a:r>
          </a:p>
          <a:p>
            <a:r>
              <a:rPr lang="en-US" sz="2400" dirty="0"/>
              <a:t>For an immersive experience which you can move in a room and pick ups up off the floor, 6 </a:t>
            </a:r>
            <a:r>
              <a:rPr lang="en-US" sz="2400" dirty="0" err="1"/>
              <a:t>DoF</a:t>
            </a:r>
            <a:r>
              <a:rPr lang="en-US" sz="2400" dirty="0"/>
              <a:t> is the way forward. However, if you want to watch films or ride a vehicle for example, 3 </a:t>
            </a:r>
            <a:r>
              <a:rPr lang="en-US" sz="2400" dirty="0" err="1"/>
              <a:t>DoF</a:t>
            </a:r>
            <a:r>
              <a:rPr lang="en-US" sz="2400" dirty="0"/>
              <a:t> can be just as immersive.</a:t>
            </a:r>
          </a:p>
          <a:p>
            <a:pPr marL="0" indent="0" algn="just">
              <a:buNone/>
            </a:pPr>
            <a:endParaRPr lang="en-US" sz="2400" dirty="0"/>
          </a:p>
        </p:txBody>
      </p:sp>
    </p:spTree>
    <p:extLst>
      <p:ext uri="{BB962C8B-B14F-4D97-AF65-F5344CB8AC3E}">
        <p14:creationId xmlns:p14="http://schemas.microsoft.com/office/powerpoint/2010/main" val="296101444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1088</TotalTime>
  <Words>1933</Words>
  <Application>Microsoft Office PowerPoint</Application>
  <PresentationFormat>On-screen Show (4:3)</PresentationFormat>
  <Paragraphs>274</Paragraphs>
  <Slides>47</Slides>
  <Notes>1</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Office Theme</vt:lpstr>
      <vt:lpstr>Virtual Reality TCS 675</vt:lpstr>
      <vt:lpstr>Course Outcomes</vt:lpstr>
      <vt:lpstr>Syllabus UNIT 2</vt:lpstr>
      <vt:lpstr>Degrees of Freedom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Selection and Manipulation in VR</vt:lpstr>
      <vt:lpstr>Selection and Manipulation in VR</vt:lpstr>
      <vt:lpstr>Selection and Manipulation in VR</vt:lpstr>
      <vt:lpstr>From avatars to visual capture How should others see you in VR?</vt:lpstr>
      <vt:lpstr>From avatars to visual capture How should others see you in VR?</vt:lpstr>
      <vt:lpstr>PowerPoint Presentation</vt:lpstr>
      <vt:lpstr>PowerPoint Presentation</vt:lpstr>
      <vt:lpstr>“Isomorphic" and “Non-Isomorphic” Selection</vt:lpstr>
      <vt:lpstr>Isomorphic Selection</vt:lpstr>
      <vt:lpstr>PowerPoint Presentation</vt:lpstr>
      <vt:lpstr>Non-isomorphic Selection</vt:lpstr>
      <vt:lpstr>Interaction techniques </vt:lpstr>
      <vt:lpstr>Interaction techniques </vt:lpstr>
      <vt:lpstr>“Egocentric" and “Exocentric“ Interaction techniques </vt:lpstr>
      <vt:lpstr>Egocentric Interaction</vt:lpstr>
      <vt:lpstr> Exocentric Interaction </vt:lpstr>
      <vt:lpstr>Exocentric Interaction</vt:lpstr>
      <vt:lpstr>Selection with HMDs</vt:lpstr>
      <vt:lpstr> Raycasting </vt:lpstr>
      <vt:lpstr> Raycasting </vt:lpstr>
      <vt:lpstr> Direct Manipulation </vt:lpstr>
      <vt:lpstr>Gaze-Based Selection</vt:lpstr>
      <vt:lpstr>Gaze Select-and-Snap for document selection, Gaze MagGlass for enhanced text legibility, and Gaze Scroll for ease of document traversal.</vt:lpstr>
      <vt:lpstr>PowerPoint Presentation</vt:lpstr>
      <vt:lpstr>PowerPoint Presentation</vt:lpstr>
      <vt:lpstr>PowerPoint Presentation</vt:lpstr>
      <vt:lpstr>What are Head-mounted Displays?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Reality TCS 641</dc:title>
  <dc:creator>lenovo</dc:creator>
  <cp:lastModifiedBy>lenovo</cp:lastModifiedBy>
  <cp:revision>136</cp:revision>
  <dcterms:created xsi:type="dcterms:W3CDTF">2025-01-22T06:33:50Z</dcterms:created>
  <dcterms:modified xsi:type="dcterms:W3CDTF">2025-02-21T04:09:35Z</dcterms:modified>
</cp:coreProperties>
</file>